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57200" y="304800"/>
            <a:ext cx="1117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4000" b="1">
                <a:solidFill>
                  <a:srgbClr val="0F4C81"/>
                </a:solidFill>
                <a:latin typeface="Poppins" charset="0"/>
                <a:cs typeface="Poppins" charset="0"/>
              </a:rPr>
              <a:t>Performance Marketing</a:t>
            </a:r>
            <a:endParaRPr lang="en-US" sz="40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990600"/>
            <a:ext cx="1117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200">
                <a:solidFill>
                  <a:srgbClr val="6482B4"/>
                </a:solidFill>
                <a:latin typeface="Aptos" charset="0"/>
                <a:cs typeface="Aptos" charset="0"/>
              </a:rPr>
              <a:t>Paid Media Strategy  |  Platform Analysis  |  Budget Scenarios  |  3-Month Projections</a:t>
            </a:r>
            <a:endParaRPr lang="en-US" sz="12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57200" y="13462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457200" y="1498600"/>
            <a:ext cx="2692400" cy="1270000"/>
          </a:xfrm>
          <a:prstGeom prst="rect">
            <a:avLst/>
          </a:prstGeom>
          <a:solidFill>
            <a:srgbClr val="DBEAFE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84200" y="1625600"/>
            <a:ext cx="24384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800" b="1">
                <a:solidFill>
                  <a:srgbClr val="0F4C81"/>
                </a:solidFill>
                <a:latin typeface="Poppins" charset="0"/>
                <a:cs typeface="Poppins" charset="0"/>
              </a:rPr>
              <a:t>9,500+</a:t>
            </a:r>
            <a:endParaRPr lang="en-US" sz="28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84200" y="21590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Financial institutions in ICP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3302000" y="1498600"/>
            <a:ext cx="2692400" cy="12700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3429000" y="1625600"/>
            <a:ext cx="24384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800" b="1">
                <a:solidFill>
                  <a:srgbClr val="4F46E5"/>
                </a:solidFill>
                <a:latin typeface="Poppins" charset="0"/>
                <a:cs typeface="Poppins" charset="0"/>
              </a:rPr>
              <a:t>1,900/mo</a:t>
            </a:r>
            <a:endParaRPr lang="en-US" sz="2800" b="1">
              <a:solidFill>
                <a:srgbClr val="4F46E5"/>
              </a:solidFill>
              <a:latin typeface="Poppins" charset="0"/>
              <a:cs typeface="Poppins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29000" y="2159000"/>
            <a:ext cx="2438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Eltropy branded searches - zero paid ads running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6146800" y="1498600"/>
            <a:ext cx="2692400" cy="1270000"/>
          </a:xfrm>
          <a:prstGeom prst="rect">
            <a:avLst/>
          </a:prstGeom>
          <a:solidFill>
            <a:srgbClr val="DBEAFE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6273800" y="1625600"/>
            <a:ext cx="24384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800" b="1">
                <a:solidFill>
                  <a:srgbClr val="1E40AF"/>
                </a:solidFill>
                <a:latin typeface="Poppins" charset="0"/>
                <a:cs typeface="Poppins" charset="0"/>
              </a:rPr>
              <a:t>+400%</a:t>
            </a:r>
            <a:endParaRPr lang="en-US" sz="2800" b="1">
              <a:solidFill>
                <a:srgbClr val="1E40AF"/>
              </a:solidFill>
              <a:latin typeface="Poppins" charset="0"/>
              <a:cs typeface="Poppin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273800" y="2159000"/>
            <a:ext cx="2438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Growth in conversational AI banking search volume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8991600" y="1498600"/>
            <a:ext cx="2692400" cy="12700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9118600" y="1625600"/>
            <a:ext cx="24384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800" b="1">
                <a:solidFill>
                  <a:srgbClr val="2563EB"/>
                </a:solidFill>
                <a:latin typeface="Poppins" charset="0"/>
                <a:cs typeface="Poppins" charset="0"/>
              </a:rPr>
              <a:t>$36-67</a:t>
            </a:r>
            <a:endParaRPr lang="en-US" sz="2800" b="1">
              <a:solidFill>
                <a:srgbClr val="2563EB"/>
              </a:solidFill>
              <a:latin typeface="Poppins" charset="0"/>
              <a:cs typeface="Poppin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9118600" y="2159000"/>
            <a:ext cx="2438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Est. CPL on LinkedIn InMail in Month 1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457200" y="2921000"/>
            <a:ext cx="11277600" cy="101600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35000" y="3048000"/>
            <a:ext cx="10922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Focus: Two platforms evaluated for CSXAI's target market (financial institutions + real estate). LinkedIn InMail recommended as primary channel at all budget levels - named decision-maker targeting, direct inbox delivery, no Quality Score dependency. Google Ads added at $2,000/month once InMail conversions are confirmed. Total addressable search volume ~5,000-6,000/mo: a high-intent, low-volume category where Google complements but does not replace LinkedIn outbound.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57200" y="4089400"/>
            <a:ext cx="3556000" cy="22860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Rectangles 20"/>
          <p:cNvSpPr/>
          <p:nvPr/>
        </p:nvSpPr>
        <p:spPr>
          <a:xfrm>
            <a:off x="457200" y="4089400"/>
            <a:ext cx="35560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84200" y="4191000"/>
            <a:ext cx="330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000" b="1">
                <a:solidFill>
                  <a:srgbClr val="2563EB"/>
                </a:solidFill>
                <a:latin typeface="Poppins" charset="0"/>
                <a:cs typeface="Poppins" charset="0"/>
              </a:rPr>
              <a:t>$200/mo</a:t>
            </a:r>
            <a:endParaRPr lang="en-US" sz="2000" b="1">
              <a:solidFill>
                <a:srgbClr val="2563EB"/>
              </a:solidFill>
              <a:latin typeface="Poppins" charset="0"/>
              <a:cs typeface="Poppins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84200" y="4597400"/>
            <a:ext cx="330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Minimum Viable Test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584200" y="4851400"/>
            <a:ext cx="330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LinkedIn InMail only / 1 segment / Credit Union C-Suite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68800" y="4089400"/>
            <a:ext cx="3556000" cy="2286000"/>
          </a:xfrm>
          <a:prstGeom prst="rect">
            <a:avLst/>
          </a:prstGeom>
          <a:solidFill>
            <a:srgbClr val="DBEAFE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Rectangles 25"/>
          <p:cNvSpPr/>
          <p:nvPr/>
        </p:nvSpPr>
        <p:spPr>
          <a:xfrm>
            <a:off x="4368800" y="4089400"/>
            <a:ext cx="3556000" cy="381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4495800" y="4191000"/>
            <a:ext cx="330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000" b="1">
                <a:solidFill>
                  <a:srgbClr val="0F4C81"/>
                </a:solidFill>
                <a:latin typeface="Poppins" charset="0"/>
                <a:cs typeface="Poppins" charset="0"/>
              </a:rPr>
              <a:t>$800/mo</a:t>
            </a:r>
            <a:endParaRPr lang="en-US" sz="20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4495800" y="4597400"/>
            <a:ext cx="330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Primary Growth Plan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4495800" y="4851400"/>
            <a:ext cx="330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LinkedIn InMail / 2 segments / Banking Ops + Credit Union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8280400" y="4089400"/>
            <a:ext cx="3556000" cy="22860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Rectangles 30"/>
          <p:cNvSpPr/>
          <p:nvPr/>
        </p:nvSpPr>
        <p:spPr>
          <a:xfrm>
            <a:off x="8280400" y="4089400"/>
            <a:ext cx="3556000" cy="381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Text Box 31"/>
          <p:cNvSpPr txBox="1"/>
          <p:nvPr/>
        </p:nvSpPr>
        <p:spPr>
          <a:xfrm>
            <a:off x="8407400" y="4191000"/>
            <a:ext cx="330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000" b="1">
                <a:solidFill>
                  <a:srgbClr val="4F46E5"/>
                </a:solidFill>
                <a:latin typeface="Poppins" charset="0"/>
                <a:cs typeface="Poppins" charset="0"/>
              </a:rPr>
              <a:t>$2,000/mo</a:t>
            </a:r>
            <a:endParaRPr lang="en-US" sz="2000" b="1">
              <a:solidFill>
                <a:srgbClr val="4F46E5"/>
              </a:solidFill>
              <a:latin typeface="Poppins" charset="0"/>
              <a:cs typeface="Poppins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8407400" y="4597400"/>
            <a:ext cx="330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Full-Funnel Launch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8407400" y="4851400"/>
            <a:ext cx="330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InMail + Google Ads / 4 campaigns / Both segments + conquesting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457200" y="6451600"/>
            <a:ext cx="112776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Recommendation: Start with $800/month. Both InMail segments. Review at Day 15 on open-to-reply rate. Scale to $2,000 when first demo conversion confirmed.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57200" y="203200"/>
            <a:ext cx="889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200" b="1">
                <a:solidFill>
                  <a:srgbClr val="0F4C81"/>
                </a:solidFill>
                <a:latin typeface="Poppins" charset="0"/>
                <a:cs typeface="Poppins" charset="0"/>
              </a:rPr>
              <a:t>Competitor Paid Media Analysis</a:t>
            </a:r>
            <a:endParaRPr lang="en-US" sz="22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635000"/>
            <a:ext cx="8890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6482B4"/>
                </a:solidFill>
                <a:latin typeface="Aptos" charset="0"/>
                <a:cs typeface="Aptos" charset="0"/>
              </a:rPr>
              <a:t>What the competition is doing - and not doing</a:t>
            </a:r>
            <a:endParaRPr lang="en-US" sz="10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57200" y="8890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6" name="Rectangles 5"/>
          <p:cNvSpPr/>
          <p:nvPr/>
        </p:nvSpPr>
        <p:spPr>
          <a:xfrm>
            <a:off x="457200" y="1016000"/>
            <a:ext cx="11277600" cy="3302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508000" y="1041400"/>
            <a:ext cx="1320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FFFFFF"/>
                </a:solidFill>
                <a:latin typeface="Aptos" charset="0"/>
                <a:cs typeface="Aptos" charset="0"/>
              </a:rPr>
              <a:t>Competitor</a:t>
            </a:r>
            <a:endParaRPr lang="en-US" sz="10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905000" y="1041400"/>
            <a:ext cx="1574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FFFFFF"/>
                </a:solidFill>
                <a:latin typeface="Aptos" charset="0"/>
                <a:cs typeface="Aptos" charset="0"/>
              </a:rPr>
              <a:t>Search Volume</a:t>
            </a:r>
            <a:endParaRPr lang="en-US" sz="10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556000" y="1041400"/>
            <a:ext cx="1320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FFFFFF"/>
                </a:solidFill>
                <a:latin typeface="Aptos" charset="0"/>
                <a:cs typeface="Aptos" charset="0"/>
              </a:rPr>
              <a:t>Google Ads</a:t>
            </a:r>
            <a:endParaRPr lang="en-US" sz="10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953000" y="1041400"/>
            <a:ext cx="2336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FFFFFF"/>
                </a:solidFill>
                <a:latin typeface="Aptos" charset="0"/>
                <a:cs typeface="Aptos" charset="0"/>
              </a:rPr>
              <a:t>Channels Used</a:t>
            </a:r>
            <a:endParaRPr lang="en-US" sz="10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366000" y="1041400"/>
            <a:ext cx="43434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FFFFFF"/>
                </a:solidFill>
                <a:latin typeface="Aptos" charset="0"/>
                <a:cs typeface="Aptos" charset="0"/>
              </a:rPr>
              <a:t>CSXAI Opportunity</a:t>
            </a:r>
            <a:endParaRPr lang="en-US" sz="10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57200" y="1346200"/>
            <a:ext cx="11207750" cy="875030"/>
          </a:xfrm>
          <a:prstGeom prst="rect">
            <a:avLst/>
          </a:prstGeom>
          <a:solidFill>
            <a:srgbClr val="FFFF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13" name="Rectangles 12"/>
          <p:cNvSpPr/>
          <p:nvPr/>
        </p:nvSpPr>
        <p:spPr>
          <a:xfrm>
            <a:off x="457200" y="2241550"/>
            <a:ext cx="11207750" cy="762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14" name="Text Box 13"/>
          <p:cNvSpPr txBox="1"/>
          <p:nvPr/>
        </p:nvSpPr>
        <p:spPr>
          <a:xfrm>
            <a:off x="508000" y="1397000"/>
            <a:ext cx="13131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1E3264"/>
                </a:solidFill>
                <a:latin typeface="Aptos" charset="0"/>
                <a:cs typeface="Aptos" charset="0"/>
              </a:rPr>
              <a:t>Eltropy</a:t>
            </a:r>
            <a:endParaRPr lang="en-US" sz="1000" b="1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905000" y="1397000"/>
            <a:ext cx="1565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1,900/mo (+26% YoY)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556000" y="1397000"/>
            <a:ext cx="1313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ZERO paid search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953000" y="1397000"/>
            <a:ext cx="23228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SDR outbound + ABM + LinkedIn organic + 50+ partner integrations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7366000" y="1397000"/>
            <a:ext cx="431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0F4C81"/>
                </a:solidFill>
                <a:latin typeface="Aptos" charset="0"/>
                <a:cs typeface="Aptos" charset="0"/>
              </a:rPr>
              <a:t>1,900 buyers researching them with no paid interception. Highest ROI conquesting opportunity in category.</a:t>
            </a:r>
            <a:endParaRPr lang="en-US" sz="10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57200" y="2254250"/>
            <a:ext cx="11207750" cy="87503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20" name="Rectangles 19"/>
          <p:cNvSpPr/>
          <p:nvPr/>
        </p:nvSpPr>
        <p:spPr>
          <a:xfrm>
            <a:off x="457200" y="3149600"/>
            <a:ext cx="11207750" cy="762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21" name="Text Box 20"/>
          <p:cNvSpPr txBox="1"/>
          <p:nvPr/>
        </p:nvSpPr>
        <p:spPr>
          <a:xfrm>
            <a:off x="508000" y="2305050"/>
            <a:ext cx="13131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1E3264"/>
                </a:solidFill>
                <a:latin typeface="Aptos" charset="0"/>
                <a:cs typeface="Aptos" charset="0"/>
              </a:rPr>
              <a:t>Glia</a:t>
            </a:r>
            <a:endParaRPr lang="en-US" sz="1000" b="1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1905000" y="2305050"/>
            <a:ext cx="1565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Growing - FI market leader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3556000" y="2305050"/>
            <a:ext cx="1313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LinkedIn Ads active ~9% paid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4953000" y="2305050"/>
            <a:ext cx="23228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LinkedIn Ads + events (Glia Interact) + FIS partnership + gated ROI calculator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7366000" y="2305050"/>
            <a:ext cx="431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0F4C81"/>
                </a:solidFill>
                <a:latin typeface="Aptos" charset="0"/>
                <a:cs typeface="Aptos" charset="0"/>
              </a:rPr>
              <a:t>Some paid presence, weak Google play. 'Request Impact Study' is their highest-converting CTA.</a:t>
            </a:r>
            <a:endParaRPr lang="en-US" sz="10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457200" y="3162300"/>
            <a:ext cx="11207750" cy="875030"/>
          </a:xfrm>
          <a:prstGeom prst="rect">
            <a:avLst/>
          </a:prstGeom>
          <a:solidFill>
            <a:srgbClr val="FFFF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27" name="Rectangles 26"/>
          <p:cNvSpPr/>
          <p:nvPr/>
        </p:nvSpPr>
        <p:spPr>
          <a:xfrm>
            <a:off x="457200" y="4057650"/>
            <a:ext cx="11207750" cy="762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28" name="Text Box 27"/>
          <p:cNvSpPr txBox="1"/>
          <p:nvPr/>
        </p:nvSpPr>
        <p:spPr>
          <a:xfrm>
            <a:off x="508000" y="3213100"/>
            <a:ext cx="13131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1E3264"/>
                </a:solidFill>
                <a:latin typeface="Aptos" charset="0"/>
                <a:cs typeface="Aptos" charset="0"/>
              </a:rPr>
              <a:t>Kasisto</a:t>
            </a:r>
            <a:endParaRPr lang="en-US" sz="1000" b="1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905000" y="3213100"/>
            <a:ext cx="156527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390/mo (-46% YoY)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3556000" y="3213100"/>
            <a:ext cx="1313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Paid media unclear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4953000" y="3213100"/>
            <a:ext cx="23228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LinkedIn organic + blog + executive panels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7366000" y="3213100"/>
            <a:ext cx="431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0F4C81"/>
                </a:solidFill>
                <a:latin typeface="Aptos" charset="0"/>
                <a:cs typeface="Aptos" charset="0"/>
              </a:rPr>
              <a:t>Losing mindshare fast. Searchers looking for 'kasisto competitors' = direct CSXAI prospects.</a:t>
            </a:r>
            <a:endParaRPr lang="en-US" sz="10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457200" y="4070350"/>
            <a:ext cx="11207750" cy="87503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34" name="Rectangles 33"/>
          <p:cNvSpPr/>
          <p:nvPr/>
        </p:nvSpPr>
        <p:spPr>
          <a:xfrm>
            <a:off x="457200" y="4956175"/>
            <a:ext cx="11207750" cy="762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35" name="Text Box 34"/>
          <p:cNvSpPr txBox="1"/>
          <p:nvPr/>
        </p:nvSpPr>
        <p:spPr>
          <a:xfrm>
            <a:off x="508000" y="4121150"/>
            <a:ext cx="131318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1E3264"/>
                </a:solidFill>
                <a:latin typeface="Aptos" charset="0"/>
                <a:cs typeface="Aptos" charset="0"/>
              </a:rPr>
              <a:t>Interface.ai</a:t>
            </a:r>
            <a:endParaRPr lang="en-US" sz="1000" b="1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905000" y="4121150"/>
            <a:ext cx="156527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Growing - voice AI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3556000" y="4121150"/>
            <a:ext cx="13131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Likely LinkedIn Ads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4953000" y="4121150"/>
            <a:ext cx="232283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Founder personal brand (Srinivas Njay) + event presence + bold % claims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7366000" y="4121150"/>
            <a:ext cx="43167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0F4C81"/>
                </a:solidFill>
                <a:latin typeface="Aptos" charset="0"/>
                <a:cs typeface="Aptos" charset="0"/>
              </a:rPr>
              <a:t>Strongest founder-led voice in category. Most direct CSXAI competitor on empathy positioning.</a:t>
            </a:r>
            <a:endParaRPr lang="en-US" sz="10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457200" y="5302250"/>
            <a:ext cx="11277600" cy="944245"/>
          </a:xfrm>
          <a:prstGeom prst="rect">
            <a:avLst/>
          </a:prstGeom>
          <a:solidFill>
            <a:srgbClr val="DBEAFE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41" name="Rectangles 40"/>
          <p:cNvSpPr/>
          <p:nvPr/>
        </p:nvSpPr>
        <p:spPr>
          <a:xfrm>
            <a:off x="457200" y="5283200"/>
            <a:ext cx="76200" cy="963295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 sz="2400"/>
          </a:p>
        </p:txBody>
      </p:sp>
      <p:sp>
        <p:nvSpPr>
          <p:cNvPr id="42" name="Text Box 41"/>
          <p:cNvSpPr txBox="1"/>
          <p:nvPr/>
        </p:nvSpPr>
        <p:spPr>
          <a:xfrm>
            <a:off x="558800" y="5264150"/>
            <a:ext cx="109562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200" b="1">
                <a:solidFill>
                  <a:srgbClr val="0F4C81"/>
                </a:solidFill>
                <a:latin typeface="Aptos" charset="0"/>
                <a:cs typeface="Aptos" charset="0"/>
              </a:rPr>
              <a:t>Key finding: </a:t>
            </a:r>
            <a:endParaRPr lang="en-US" sz="1200" b="1">
              <a:solidFill>
                <a:srgbClr val="0F4C81"/>
              </a:solidFill>
              <a:latin typeface="Aptos" charset="0"/>
              <a:cs typeface="Aptos" charset="0"/>
            </a:endParaRPr>
          </a:p>
          <a:p>
            <a:pPr algn="l"/>
            <a:r>
              <a:rPr lang="en-IN" altLang="en-US" sz="1200">
                <a:solidFill>
                  <a:srgbClr val="0F4C81"/>
                </a:solidFill>
                <a:latin typeface="Aptos" charset="0"/>
                <a:cs typeface="Aptos" charset="0"/>
              </a:rPr>
              <a:t>- </a:t>
            </a:r>
            <a:r>
              <a:rPr lang="en-US" sz="1200">
                <a:solidFill>
                  <a:srgbClr val="0F4C81"/>
                </a:solidFill>
                <a:latin typeface="Aptos" charset="0"/>
                <a:cs typeface="Aptos" charset="0"/>
              </a:rPr>
              <a:t>Eltropy runs ZERO Google paid search despite 1,900 branded searches/month. CSXAI can intercept every one of those research sessions from Day 1 of Google campaign launch at $5-$35 CPC with low competition</a:t>
            </a:r>
            <a:r>
              <a:rPr lang="en-IN" altLang="en-US" sz="1200">
                <a:solidFill>
                  <a:srgbClr val="0F4C81"/>
                </a:solidFill>
                <a:latin typeface="Aptos" charset="0"/>
                <a:cs typeface="Aptos" charset="0"/>
              </a:rPr>
              <a:t>. </a:t>
            </a:r>
            <a:endParaRPr lang="en-IN" altLang="en-US" sz="1200">
              <a:solidFill>
                <a:srgbClr val="0F4C81"/>
              </a:solidFill>
              <a:latin typeface="Aptos" charset="0"/>
              <a:cs typeface="Aptos" charset="0"/>
            </a:endParaRPr>
          </a:p>
          <a:p>
            <a:pPr algn="l"/>
            <a:r>
              <a:rPr lang="en-IN" altLang="en-US" sz="1200">
                <a:solidFill>
                  <a:srgbClr val="0F4C81"/>
                </a:solidFill>
                <a:latin typeface="Aptos" charset="0"/>
                <a:cs typeface="Aptos" charset="0"/>
              </a:rPr>
              <a:t>- Most of the people are using either Linkedin ads or the offline events to scale their businesses.</a:t>
            </a:r>
            <a:endParaRPr lang="en-IN" altLang="en-US" sz="1200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57200" y="203200"/>
            <a:ext cx="889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200" b="1">
                <a:solidFill>
                  <a:srgbClr val="0F4C81"/>
                </a:solidFill>
                <a:latin typeface="Poppins" charset="0"/>
                <a:cs typeface="Poppins" charset="0"/>
              </a:rPr>
              <a:t>LinkedIn InMail Strategy</a:t>
            </a:r>
            <a:endParaRPr lang="en-US" sz="22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635000"/>
            <a:ext cx="8890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6482B4"/>
                </a:solidFill>
                <a:latin typeface="Aptos" charset="0"/>
                <a:cs typeface="Aptos" charset="0"/>
              </a:rPr>
              <a:t>Message Ads - direct inbox delivery to named decision-makers</a:t>
            </a:r>
            <a:endParaRPr lang="en-US" sz="10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57200" y="8890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457200" y="1016000"/>
            <a:ext cx="11277600" cy="711200"/>
          </a:xfrm>
          <a:prstGeom prst="rect">
            <a:avLst/>
          </a:prstGeom>
          <a:solidFill>
            <a:srgbClr val="DBEAFE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457200" y="1016000"/>
            <a:ext cx="38100" cy="7112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84200" y="1092200"/>
            <a:ext cx="11074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0F4C81"/>
                </a:solidFill>
                <a:latin typeface="Aptos" charset="0"/>
                <a:cs typeface="Aptos" charset="0"/>
              </a:rPr>
              <a:t>Why InMail first: New brand = no Quality Score on Google (CPL 3-4x higher in Month 1). InMail reaches named VP/CTO/COO directly in inbox. Credit unions: smaller governance = faster yes/no. 52% average open rate. Cost per send: $0.26-0.50.</a:t>
            </a:r>
            <a:endParaRPr lang="en-US" sz="1000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57200" y="1828800"/>
            <a:ext cx="5638800" cy="3556000"/>
          </a:xfrm>
          <a:prstGeom prst="rect">
            <a:avLst/>
          </a:prstGeom>
          <a:solidFill>
            <a:srgbClr val="DBEAFE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10" name="Rectangles 9"/>
          <p:cNvSpPr/>
          <p:nvPr/>
        </p:nvSpPr>
        <p:spPr>
          <a:xfrm>
            <a:off x="457200" y="1828800"/>
            <a:ext cx="5638800" cy="381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11" name="Text Box 10"/>
          <p:cNvSpPr txBox="1"/>
          <p:nvPr/>
        </p:nvSpPr>
        <p:spPr>
          <a:xfrm>
            <a:off x="584200" y="1930400"/>
            <a:ext cx="3937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SEGMENT 1 - COMMUNITY BANKING OPS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495800" y="1892300"/>
            <a:ext cx="1473200" cy="2794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13" name="Text Box 12"/>
          <p:cNvSpPr txBox="1"/>
          <p:nvPr/>
        </p:nvSpPr>
        <p:spPr>
          <a:xfrm>
            <a:off x="4495800" y="1892300"/>
            <a:ext cx="14732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200" b="1">
                <a:solidFill>
                  <a:srgbClr val="FFFFFF"/>
                </a:solidFill>
                <a:latin typeface="Poppins" charset="0"/>
                <a:cs typeface="Poppins" charset="0"/>
              </a:rPr>
              <a:t>$500/mo</a:t>
            </a:r>
            <a:endParaRPr lang="en-US" sz="1200" b="1">
              <a:solidFill>
                <a:srgbClr val="FFFFFF"/>
              </a:solidFill>
              <a:latin typeface="Poppins" charset="0"/>
              <a:cs typeface="Poppins" charset="0"/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584200" y="21844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15" name="Text Box 14"/>
          <p:cNvSpPr txBox="1"/>
          <p:nvPr/>
        </p:nvSpPr>
        <p:spPr>
          <a:xfrm>
            <a:off x="584200" y="22860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Job titles: VP Operations / Director Operations / Head of Customer Service / COO / VP Customer Experience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584200" y="30226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Industry: Banking + Financial Services  |  Company size: 200-2,000 employees  |  Geography: United States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584200" y="37592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Message angle: Operational pain - call volume, repeat queries, after-hours coverage, staff capacity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84200" y="44958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Monthly sends: ~1,500  |  Est. opens: ~780  |  Target replies: 30-60  |  Est. leads: 10-15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6223000" y="1828800"/>
            <a:ext cx="5638800" cy="35560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20" name="Rectangles 19"/>
          <p:cNvSpPr/>
          <p:nvPr/>
        </p:nvSpPr>
        <p:spPr>
          <a:xfrm>
            <a:off x="6223000" y="1828800"/>
            <a:ext cx="5638800" cy="381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21" name="Text Box 20"/>
          <p:cNvSpPr txBox="1"/>
          <p:nvPr/>
        </p:nvSpPr>
        <p:spPr>
          <a:xfrm>
            <a:off x="6350000" y="1930400"/>
            <a:ext cx="3937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SEGMENT 2 - CREDIT UNION C-SUITE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0261600" y="1892300"/>
            <a:ext cx="1473200" cy="2794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23" name="Text Box 22"/>
          <p:cNvSpPr txBox="1"/>
          <p:nvPr/>
        </p:nvSpPr>
        <p:spPr>
          <a:xfrm>
            <a:off x="10261600" y="1892300"/>
            <a:ext cx="14732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200" b="1">
                <a:solidFill>
                  <a:srgbClr val="FFFFFF"/>
                </a:solidFill>
                <a:latin typeface="Poppins" charset="0"/>
                <a:cs typeface="Poppins" charset="0"/>
              </a:rPr>
              <a:t>$300/mo</a:t>
            </a:r>
            <a:endParaRPr lang="en-US" sz="1200" b="1">
              <a:solidFill>
                <a:srgbClr val="FFFFFF"/>
              </a:solidFill>
              <a:latin typeface="Poppins" charset="0"/>
              <a:cs typeface="Poppins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350000" y="21844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25" name="Text Box 24"/>
          <p:cNvSpPr txBox="1"/>
          <p:nvPr/>
        </p:nvSpPr>
        <p:spPr>
          <a:xfrm>
            <a:off x="6350000" y="22860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Job titles: CEO / COO / CTO / Chief Digital Officer / VP Technology / VP Member Experience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350000" y="30226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Industry: Financial Services (credit union companies)  |  Company size: 50-500 employees  |  Geography: US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350000" y="37592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Message angle: Member experience + empathy - mission-first language, compliance, 24/7 coverage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350000" y="4495800"/>
            <a:ext cx="5384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1E3264"/>
                </a:solidFill>
                <a:latin typeface="Aptos" charset="0"/>
                <a:cs typeface="Aptos" charset="0"/>
              </a:rPr>
              <a:t>* Monthly sends: ~900  |  Est. opens: ~468  |  Target replies: 18-37  |  Est. leads: 5-10</a:t>
            </a:r>
            <a:endParaRPr lang="en-US" sz="10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57200" y="5461000"/>
            <a:ext cx="11277600" cy="96520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000"/>
          </a:p>
        </p:txBody>
      </p:sp>
      <p:sp>
        <p:nvSpPr>
          <p:cNvPr id="30" name="Text Box 29"/>
          <p:cNvSpPr txBox="1"/>
          <p:nvPr/>
        </p:nvSpPr>
        <p:spPr>
          <a:xfrm>
            <a:off x="584200" y="5537200"/>
            <a:ext cx="110236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 b="1">
                <a:solidFill>
                  <a:srgbClr val="0F4C81"/>
                </a:solidFill>
                <a:latin typeface="Aptos" charset="0"/>
                <a:cs typeface="Aptos" charset="0"/>
              </a:rPr>
              <a:t>INMAIL COPY GUIDANCE</a:t>
            </a:r>
            <a:endParaRPr lang="en-US" sz="10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584200" y="5765800"/>
            <a:ext cx="110236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6482B4"/>
                </a:solidFill>
                <a:latin typeface="Aptos" charset="0"/>
                <a:cs typeface="Aptos" charset="0"/>
              </a:rPr>
              <a:t>Subject line formula: [Problem they recognise] + [Unexpected angle]. Example: 'Your members are calling after hours. Here is what is happening.' Open with a specific operational truth, not a product pitch. Keep under 150 words. CTA: one link to demo booking. Review open-to-reply rate at Day 15 - if below 4%, test a new subject line before Day 30.</a:t>
            </a:r>
            <a:endParaRPr lang="en-US" sz="10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57200" y="203200"/>
            <a:ext cx="889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200" b="1">
                <a:solidFill>
                  <a:srgbClr val="0F4C81"/>
                </a:solidFill>
                <a:latin typeface="Poppins" charset="0"/>
                <a:cs typeface="Poppins" charset="0"/>
              </a:rPr>
              <a:t>Google Ads - Keyword Strategy</a:t>
            </a:r>
            <a:endParaRPr lang="en-US" sz="22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635000"/>
            <a:ext cx="8890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6482B4"/>
                </a:solidFill>
                <a:latin typeface="Aptos" charset="0"/>
                <a:cs typeface="Aptos" charset="0"/>
              </a:rPr>
              <a:t>Phrase + exact match only. No broad match. 4 campaigns.</a:t>
            </a:r>
            <a:endParaRPr lang="en-US" sz="10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57200" y="8890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457200" y="1016000"/>
            <a:ext cx="5638800" cy="1727200"/>
          </a:xfrm>
          <a:prstGeom prst="rect">
            <a:avLst/>
          </a:prstGeom>
          <a:solidFill>
            <a:srgbClr val="DBEAFE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457200" y="1016000"/>
            <a:ext cx="5638800" cy="381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84200" y="1117600"/>
            <a:ext cx="3937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 b="1">
                <a:solidFill>
                  <a:srgbClr val="0F4C81"/>
                </a:solidFill>
                <a:latin typeface="Aptos" charset="0"/>
                <a:cs typeface="Aptos" charset="0"/>
              </a:rPr>
              <a:t>CAMPAIGN 1: COMPETITOR CONQUESTING</a:t>
            </a:r>
            <a:endParaRPr lang="en-US" sz="8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648200" y="1079500"/>
            <a:ext cx="1320800" cy="2540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648200" y="1079500"/>
            <a:ext cx="13208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800" b="1">
                <a:solidFill>
                  <a:srgbClr val="FFFFFF"/>
                </a:solidFill>
                <a:latin typeface="Aptos" charset="0"/>
                <a:cs typeface="Aptos" charset="0"/>
              </a:rPr>
              <a:t>Highest ROI</a:t>
            </a:r>
            <a:endParaRPr lang="en-US" sz="8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84200" y="13716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584200" y="1473200"/>
            <a:ext cx="53848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"eltropy" / "kasisto" / "kasisto competitors" / "glia banking"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584200" y="20828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584200" y="2159000"/>
            <a:ext cx="53848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>
                <a:solidFill>
                  <a:srgbClr val="6482B4"/>
                </a:solidFill>
                <a:latin typeface="Aptos" charset="0"/>
                <a:cs typeface="Aptos" charset="0"/>
              </a:rPr>
              <a:t>Budget: $800/mo at $2,000 tier  |  CPC: $5-35  |  Competition: LOW  |  Priority: FIRST</a:t>
            </a:r>
            <a:endParaRPr lang="en-US" sz="8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6223000" y="1016000"/>
            <a:ext cx="5638800" cy="17272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6223000" y="1016000"/>
            <a:ext cx="5638800" cy="381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6350000" y="1117600"/>
            <a:ext cx="3937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 b="1">
                <a:solidFill>
                  <a:srgbClr val="0F4C81"/>
                </a:solidFill>
                <a:latin typeface="Aptos" charset="0"/>
                <a:cs typeface="Aptos" charset="0"/>
              </a:rPr>
              <a:t>CAMPAIGN 2: BANKING AI CATEGORY</a:t>
            </a:r>
            <a:endParaRPr lang="en-US" sz="8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0414000" y="1079500"/>
            <a:ext cx="1320800" cy="2540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10414000" y="1079500"/>
            <a:ext cx="13208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800" b="1">
                <a:solidFill>
                  <a:srgbClr val="FFFFFF"/>
                </a:solidFill>
                <a:latin typeface="Aptos" charset="0"/>
                <a:cs typeface="Aptos" charset="0"/>
              </a:rPr>
              <a:t>High Intent</a:t>
            </a:r>
            <a:endParaRPr lang="en-US" sz="8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6350000" y="13716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6350000" y="1473200"/>
            <a:ext cx="5384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"conversational ai for banking" / "conversational ai in banking" / "banking virtual assistant" (+400% growth)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6350000" y="20828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6350000" y="2159000"/>
            <a:ext cx="5384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>
                <a:solidFill>
                  <a:srgbClr val="6482B4"/>
                </a:solidFill>
                <a:latin typeface="Aptos" charset="0"/>
                <a:cs typeface="Aptos" charset="0"/>
              </a:rPr>
              <a:t>Budget: $400/mo at $2,000 tier  |  CPC: $11-42  |  Competition: LOW/growing  |  Priority: SECOND</a:t>
            </a:r>
            <a:endParaRPr lang="en-US" sz="8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457200" y="2895600"/>
            <a:ext cx="5638800" cy="1727200"/>
          </a:xfrm>
          <a:prstGeom prst="rect">
            <a:avLst/>
          </a:prstGeom>
          <a:solidFill>
            <a:srgbClr val="F4F8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ectangles 24"/>
          <p:cNvSpPr/>
          <p:nvPr/>
        </p:nvSpPr>
        <p:spPr>
          <a:xfrm>
            <a:off x="457200" y="2895600"/>
            <a:ext cx="5638800" cy="381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584200" y="2997200"/>
            <a:ext cx="3937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 b="1">
                <a:solidFill>
                  <a:srgbClr val="0F4C81"/>
                </a:solidFill>
                <a:latin typeface="Aptos" charset="0"/>
                <a:cs typeface="Aptos" charset="0"/>
              </a:rPr>
              <a:t>CAMPAIGN 3: AI VOICE GENERAL</a:t>
            </a:r>
            <a:endParaRPr lang="en-US" sz="8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4648200" y="2959100"/>
            <a:ext cx="1320800" cy="254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4648200" y="2959100"/>
            <a:ext cx="13208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800" b="1">
                <a:solidFill>
                  <a:srgbClr val="FFFFFF"/>
                </a:solidFill>
                <a:latin typeface="Aptos" charset="0"/>
                <a:cs typeface="Aptos" charset="0"/>
              </a:rPr>
              <a:t>Phase 2</a:t>
            </a:r>
            <a:endParaRPr lang="en-US" sz="8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584200" y="32512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584200" y="3352800"/>
            <a:ext cx="53848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"ai voice agent" / "voice ai company" / "conversational ai voice assistant"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584200" y="39624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Text Box 31"/>
          <p:cNvSpPr txBox="1"/>
          <p:nvPr/>
        </p:nvSpPr>
        <p:spPr>
          <a:xfrm>
            <a:off x="584200" y="4038600"/>
            <a:ext cx="53848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>
                <a:solidFill>
                  <a:srgbClr val="6482B4"/>
                </a:solidFill>
                <a:latin typeface="Aptos" charset="0"/>
                <a:cs typeface="Aptos" charset="0"/>
              </a:rPr>
              <a:t>Activate when Campaigns 1 &amp; 2 are profitable  |  CPC: $7-52  |  Competition: MED</a:t>
            </a:r>
            <a:endParaRPr lang="en-US" sz="8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6223000" y="2895600"/>
            <a:ext cx="5638800" cy="1727200"/>
          </a:xfrm>
          <a:prstGeom prst="rect">
            <a:avLst/>
          </a:prstGeom>
          <a:solidFill>
            <a:srgbClr val="F4F8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4" name="Rectangles 33"/>
          <p:cNvSpPr/>
          <p:nvPr/>
        </p:nvSpPr>
        <p:spPr>
          <a:xfrm>
            <a:off x="6223000" y="2895600"/>
            <a:ext cx="5638800" cy="381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Text Box 34"/>
          <p:cNvSpPr txBox="1"/>
          <p:nvPr/>
        </p:nvSpPr>
        <p:spPr>
          <a:xfrm>
            <a:off x="6350000" y="2997200"/>
            <a:ext cx="39370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 b="1">
                <a:solidFill>
                  <a:srgbClr val="0F4C81"/>
                </a:solidFill>
                <a:latin typeface="Aptos" charset="0"/>
                <a:cs typeface="Aptos" charset="0"/>
              </a:rPr>
              <a:t>CAMPAIGN 4: REAL ESTATE (AI-SPECIFIC ONLY)</a:t>
            </a:r>
            <a:endParaRPr lang="en-US" sz="8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414000" y="2959100"/>
            <a:ext cx="1320800" cy="2540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Text Box 36"/>
          <p:cNvSpPr txBox="1"/>
          <p:nvPr/>
        </p:nvSpPr>
        <p:spPr>
          <a:xfrm>
            <a:off x="10414000" y="2959100"/>
            <a:ext cx="13208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800" b="1">
                <a:solidFill>
                  <a:srgbClr val="FFFFFF"/>
                </a:solidFill>
                <a:latin typeface="Aptos" charset="0"/>
                <a:cs typeface="Aptos" charset="0"/>
              </a:rPr>
              <a:t>Phase 2</a:t>
            </a:r>
            <a:endParaRPr lang="en-US" sz="8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6350000" y="32512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" name="Text Box 38"/>
          <p:cNvSpPr txBox="1"/>
          <p:nvPr/>
        </p:nvSpPr>
        <p:spPr>
          <a:xfrm>
            <a:off x="6350000" y="3352800"/>
            <a:ext cx="53848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"real estate ai assistant" / "realtor virtual receptionist" / "ai voice agent real estate"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6350000" y="3962400"/>
            <a:ext cx="53848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Text Box 40"/>
          <p:cNvSpPr txBox="1"/>
          <p:nvPr/>
        </p:nvSpPr>
        <p:spPr>
          <a:xfrm>
            <a:off x="6350000" y="4038600"/>
            <a:ext cx="53848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>
                <a:solidFill>
                  <a:srgbClr val="6482B4"/>
                </a:solidFill>
                <a:latin typeface="Aptos" charset="0"/>
                <a:cs typeface="Aptos" charset="0"/>
              </a:rPr>
              <a:t>Negative keywords: hire / hiring / salary / offshore / upwork / freelance. Exclude all VA hiring traffic.</a:t>
            </a:r>
            <a:endParaRPr lang="en-US" sz="8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7200" y="4749800"/>
            <a:ext cx="11277600" cy="457200"/>
          </a:xfrm>
          <a:prstGeom prst="rect">
            <a:avLst/>
          </a:prstGeom>
          <a:solidFill>
            <a:srgbClr val="DBEAFE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Rectangles 42"/>
          <p:cNvSpPr/>
          <p:nvPr/>
        </p:nvSpPr>
        <p:spPr>
          <a:xfrm>
            <a:off x="457200" y="4749800"/>
            <a:ext cx="38100" cy="4572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Text Box 43"/>
          <p:cNvSpPr txBox="1"/>
          <p:nvPr/>
        </p:nvSpPr>
        <p:spPr>
          <a:xfrm>
            <a:off x="584200" y="4826000"/>
            <a:ext cx="11074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Real estate keyword trap: 'Real estate virtual assistant' (1,900/mo) is dominated by VA staffing companies (MyOutDesk, Zirtual). These are realtors hiring offshore human assistants - NOT institutions evaluating AI. Use only AI-specific RE terms.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457200" y="5308600"/>
            <a:ext cx="11277600" cy="121920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6" name="Text Box 45"/>
          <p:cNvSpPr txBox="1"/>
          <p:nvPr/>
        </p:nvSpPr>
        <p:spPr>
          <a:xfrm>
            <a:off x="584200" y="5384800"/>
            <a:ext cx="1102360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800" b="1">
                <a:solidFill>
                  <a:srgbClr val="0F4C81"/>
                </a:solidFill>
                <a:latin typeface="Aptos" charset="0"/>
                <a:cs typeface="Aptos" charset="0"/>
              </a:rPr>
              <a:t>MONITORED - NO VOLUME YET (check quarterly, add to campaigns when volume develops)</a:t>
            </a:r>
            <a:endParaRPr lang="en-US" sz="8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584200" y="5638800"/>
            <a:ext cx="11023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"voice ai for banks"  /  "ai voice agent for financial services"  /  "ai ivr replacement banking"  /  "automate customer service calls"  /  "banking ai contact center"  /  "ai phone agent banking"  /  "credit union chatbot"  /  "eltropy alternative"  /  "ai voice agent for credit unions"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57200" y="203200"/>
            <a:ext cx="889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200" b="1">
                <a:solidFill>
                  <a:srgbClr val="0F4C81"/>
                </a:solidFill>
                <a:latin typeface="Poppins" charset="0"/>
                <a:cs typeface="Poppins" charset="0"/>
              </a:rPr>
              <a:t>3-Month Performance Projections</a:t>
            </a:r>
            <a:endParaRPr lang="en-US" sz="22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635000"/>
            <a:ext cx="8890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6482B4"/>
                </a:solidFill>
                <a:latin typeface="Aptos" charset="0"/>
                <a:cs typeface="Aptos" charset="0"/>
              </a:rPr>
              <a:t>All estimates based on LinkedIn InMail 52% open rate benchmark + B2B SaaS reply rate norms</a:t>
            </a:r>
            <a:endParaRPr lang="en-US" sz="10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57200" y="8890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457200" y="1016000"/>
            <a:ext cx="11277600" cy="3556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533400" y="10414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FFFFFF"/>
                </a:solidFill>
                <a:latin typeface="Aptos" charset="0"/>
                <a:cs typeface="Aptos" charset="0"/>
              </a:rPr>
              <a:t>Metric</a:t>
            </a:r>
            <a:endParaRPr lang="en-US" sz="9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708400" y="10414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FFFFFF"/>
                </a:solidFill>
                <a:latin typeface="Aptos" charset="0"/>
                <a:cs typeface="Aptos" charset="0"/>
              </a:rPr>
              <a:t>$200/Month</a:t>
            </a:r>
            <a:endParaRPr lang="en-US" sz="9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248400" y="10414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FFFFFF"/>
                </a:solidFill>
                <a:latin typeface="Aptos" charset="0"/>
                <a:cs typeface="Aptos" charset="0"/>
              </a:rPr>
              <a:t>$800/Month</a:t>
            </a:r>
            <a:endParaRPr lang="en-US" sz="9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788400" y="10414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FFFFFF"/>
                </a:solidFill>
                <a:latin typeface="Aptos" charset="0"/>
                <a:cs typeface="Aptos" charset="0"/>
              </a:rPr>
              <a:t>$2,000/Month</a:t>
            </a:r>
            <a:endParaRPr lang="en-US" sz="9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57200" y="1371600"/>
            <a:ext cx="1127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457200" y="18923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33400" y="14224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Platform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708400" y="14224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LinkedIn InMail only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6248400" y="14224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LinkedIn InMail only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788400" y="14224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InMail + Google Ads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457200" y="1905000"/>
            <a:ext cx="11277600" cy="53340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457200" y="24257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533400" y="19558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Active Segments / Campaigns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708400" y="19558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1 - Credit Union C-Suite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248400" y="19558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2 - Banking Ops + Credit Union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8788400" y="19558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2 InMail + 2 Google campaigns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57200" y="2438400"/>
            <a:ext cx="1127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Rectangles 23"/>
          <p:cNvSpPr/>
          <p:nvPr/>
        </p:nvSpPr>
        <p:spPr>
          <a:xfrm>
            <a:off x="457200" y="29591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533400" y="24892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Monthly Sends / Impressions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708400" y="24892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~500 sends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248400" y="24892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~2,400 sends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8788400" y="24892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~2,400 sends + 8,000+ impressions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57200" y="2971800"/>
            <a:ext cx="11277600" cy="53340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Rectangles 29"/>
          <p:cNvSpPr/>
          <p:nvPr/>
        </p:nvSpPr>
        <p:spPr>
          <a:xfrm>
            <a:off x="457200" y="34925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533400" y="30226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Estimated Leads - Month 1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3708400" y="30226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4F46E5"/>
                </a:solidFill>
                <a:latin typeface="Aptos" charset="0"/>
                <a:cs typeface="Aptos" charset="0"/>
              </a:rPr>
              <a:t>3-5</a:t>
            </a:r>
            <a:endParaRPr lang="en-US" sz="900" b="1">
              <a:solidFill>
                <a:srgbClr val="4F46E5"/>
              </a:solidFill>
              <a:latin typeface="Aptos" charset="0"/>
              <a:cs typeface="Aptos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248400" y="30226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4F46E5"/>
                </a:solidFill>
                <a:latin typeface="Aptos" charset="0"/>
                <a:cs typeface="Aptos" charset="0"/>
              </a:rPr>
              <a:t>15-22</a:t>
            </a:r>
            <a:endParaRPr lang="en-US" sz="900" b="1">
              <a:solidFill>
                <a:srgbClr val="4F46E5"/>
              </a:solidFill>
              <a:latin typeface="Aptos" charset="0"/>
              <a:cs typeface="Aptos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8788400" y="30226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4F46E5"/>
                </a:solidFill>
                <a:latin typeface="Aptos" charset="0"/>
                <a:cs typeface="Aptos" charset="0"/>
              </a:rPr>
              <a:t>22-34</a:t>
            </a:r>
            <a:endParaRPr lang="en-US" sz="900" b="1">
              <a:solidFill>
                <a:srgbClr val="4F46E5"/>
              </a:solidFill>
              <a:latin typeface="Aptos" charset="0"/>
              <a:cs typeface="Aptos" charset="0"/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457200" y="3505200"/>
            <a:ext cx="1127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Rectangles 35"/>
          <p:cNvSpPr/>
          <p:nvPr/>
        </p:nvSpPr>
        <p:spPr>
          <a:xfrm>
            <a:off x="457200" y="40259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Text Box 36"/>
          <p:cNvSpPr txBox="1"/>
          <p:nvPr/>
        </p:nvSpPr>
        <p:spPr>
          <a:xfrm>
            <a:off x="533400" y="35560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Estimated Leads - Month 3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3708400" y="35560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4F46E5"/>
                </a:solidFill>
                <a:latin typeface="Aptos" charset="0"/>
                <a:cs typeface="Aptos" charset="0"/>
              </a:rPr>
              <a:t>5-8</a:t>
            </a:r>
            <a:endParaRPr lang="en-US" sz="900" b="1">
              <a:solidFill>
                <a:srgbClr val="4F46E5"/>
              </a:solidFill>
              <a:latin typeface="Aptos" charset="0"/>
              <a:cs typeface="Aptos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6248400" y="35560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4F46E5"/>
                </a:solidFill>
                <a:latin typeface="Aptos" charset="0"/>
                <a:cs typeface="Aptos" charset="0"/>
              </a:rPr>
              <a:t>20-30</a:t>
            </a:r>
            <a:endParaRPr lang="en-US" sz="900" b="1">
              <a:solidFill>
                <a:srgbClr val="4F46E5"/>
              </a:solidFill>
              <a:latin typeface="Aptos" charset="0"/>
              <a:cs typeface="Aptos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8788400" y="35560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4F46E5"/>
                </a:solidFill>
                <a:latin typeface="Aptos" charset="0"/>
                <a:cs typeface="Aptos" charset="0"/>
              </a:rPr>
              <a:t>30-40</a:t>
            </a:r>
            <a:endParaRPr lang="en-US" sz="900" b="1">
              <a:solidFill>
                <a:srgbClr val="4F46E5"/>
              </a:solidFill>
              <a:latin typeface="Aptos" charset="0"/>
              <a:cs typeface="Aptos" charset="0"/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457200" y="4038600"/>
            <a:ext cx="11277600" cy="53340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Rectangles 41"/>
          <p:cNvSpPr/>
          <p:nvPr/>
        </p:nvSpPr>
        <p:spPr>
          <a:xfrm>
            <a:off x="457200" y="45593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Text Box 42"/>
          <p:cNvSpPr txBox="1"/>
          <p:nvPr/>
        </p:nvSpPr>
        <p:spPr>
          <a:xfrm>
            <a:off x="533400" y="40894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CPL - Month 1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3708400" y="40894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2563EB"/>
                </a:solidFill>
                <a:latin typeface="Aptos" charset="0"/>
                <a:cs typeface="Aptos" charset="0"/>
              </a:rPr>
              <a:t>$40-67</a:t>
            </a:r>
            <a:endParaRPr lang="en-US" sz="900">
              <a:solidFill>
                <a:srgbClr val="2563EB"/>
              </a:solidFill>
              <a:latin typeface="Aptos" charset="0"/>
              <a:cs typeface="Aptos" charset="0"/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6248400" y="40894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2563EB"/>
                </a:solidFill>
                <a:latin typeface="Aptos" charset="0"/>
                <a:cs typeface="Aptos" charset="0"/>
              </a:rPr>
              <a:t>$36-53</a:t>
            </a:r>
            <a:endParaRPr lang="en-US" sz="900">
              <a:solidFill>
                <a:srgbClr val="2563EB"/>
              </a:solidFill>
              <a:latin typeface="Aptos" charset="0"/>
              <a:cs typeface="Aptos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8788400" y="40894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2563EB"/>
                </a:solidFill>
                <a:latin typeface="Aptos" charset="0"/>
                <a:cs typeface="Aptos" charset="0"/>
              </a:rPr>
              <a:t>$59-91</a:t>
            </a:r>
            <a:endParaRPr lang="en-US" sz="900">
              <a:solidFill>
                <a:srgbClr val="2563EB"/>
              </a:solidFill>
              <a:latin typeface="Aptos" charset="0"/>
              <a:cs typeface="Aptos" charset="0"/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457200" y="4572000"/>
            <a:ext cx="11277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Rectangles 47"/>
          <p:cNvSpPr/>
          <p:nvPr/>
        </p:nvSpPr>
        <p:spPr>
          <a:xfrm>
            <a:off x="457200" y="50927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9" name="Text Box 48"/>
          <p:cNvSpPr txBox="1"/>
          <p:nvPr/>
        </p:nvSpPr>
        <p:spPr>
          <a:xfrm>
            <a:off x="533400" y="4622800"/>
            <a:ext cx="3073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CPL - Month 3 (optimised)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50" name="Text Box 49"/>
          <p:cNvSpPr txBox="1"/>
          <p:nvPr/>
        </p:nvSpPr>
        <p:spPr>
          <a:xfrm>
            <a:off x="3708400" y="46228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2563EB"/>
                </a:solidFill>
                <a:latin typeface="Aptos" charset="0"/>
                <a:cs typeface="Aptos" charset="0"/>
              </a:rPr>
              <a:t>$25-40</a:t>
            </a:r>
            <a:endParaRPr lang="en-US" sz="900">
              <a:solidFill>
                <a:srgbClr val="2563EB"/>
              </a:solidFill>
              <a:latin typeface="Aptos" charset="0"/>
              <a:cs typeface="Aptos" charset="0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6248400" y="4622800"/>
            <a:ext cx="24384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2563EB"/>
                </a:solidFill>
                <a:latin typeface="Aptos" charset="0"/>
                <a:cs typeface="Aptos" charset="0"/>
              </a:rPr>
              <a:t>$27-40</a:t>
            </a:r>
            <a:endParaRPr lang="en-US" sz="900">
              <a:solidFill>
                <a:srgbClr val="2563EB"/>
              </a:solidFill>
              <a:latin typeface="Aptos" charset="0"/>
              <a:cs typeface="Aptos" charset="0"/>
            </a:endParaRPr>
          </a:p>
        </p:txBody>
      </p:sp>
      <p:sp>
        <p:nvSpPr>
          <p:cNvPr id="52" name="Text Box 51"/>
          <p:cNvSpPr txBox="1"/>
          <p:nvPr/>
        </p:nvSpPr>
        <p:spPr>
          <a:xfrm>
            <a:off x="8788400" y="4622800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2563EB"/>
                </a:solidFill>
                <a:latin typeface="Aptos" charset="0"/>
                <a:cs typeface="Aptos" charset="0"/>
              </a:rPr>
              <a:t>$50-67</a:t>
            </a:r>
            <a:endParaRPr lang="en-US" sz="900">
              <a:solidFill>
                <a:srgbClr val="2563EB"/>
              </a:solidFill>
              <a:latin typeface="Aptos" charset="0"/>
              <a:cs typeface="Aptos" charset="0"/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457200" y="5156200"/>
            <a:ext cx="11277600" cy="482600"/>
          </a:xfrm>
          <a:prstGeom prst="rect">
            <a:avLst/>
          </a:prstGeom>
          <a:solidFill>
            <a:srgbClr val="DBEAFE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Rectangles 53"/>
          <p:cNvSpPr/>
          <p:nvPr/>
        </p:nvSpPr>
        <p:spPr>
          <a:xfrm>
            <a:off x="457200" y="5156200"/>
            <a:ext cx="11277600" cy="254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Text Box 54"/>
          <p:cNvSpPr txBox="1"/>
          <p:nvPr/>
        </p:nvSpPr>
        <p:spPr>
          <a:xfrm>
            <a:off x="584200" y="5257800"/>
            <a:ext cx="11074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0F4C81"/>
                </a:solidFill>
                <a:latin typeface="Aptos" charset="0"/>
                <a:cs typeface="Aptos" charset="0"/>
              </a:rPr>
              <a:t>START WITH: $800/month (both InMail segments). Validate in 30 days. Move to $2,000 when first demo conversion confirmed. Do NOT start at $200 if growth is the goal - too few data points for optimisation.</a:t>
            </a:r>
            <a:endParaRPr lang="en-US" sz="900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457200" y="5740400"/>
            <a:ext cx="11277600" cy="889000"/>
          </a:xfrm>
          <a:prstGeom prst="rect">
            <a:avLst/>
          </a:prstGeom>
          <a:solidFill>
            <a:srgbClr val="F4F8FF"/>
          </a:solidFill>
          <a:ln w="9525">
            <a:solidFill>
              <a:srgbClr val="C4D7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Text Box 56"/>
          <p:cNvSpPr txBox="1"/>
          <p:nvPr/>
        </p:nvSpPr>
        <p:spPr>
          <a:xfrm>
            <a:off x="584200" y="5816600"/>
            <a:ext cx="5461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CPL improves month-on-month:
* Month 1: Learning phase - message being tested
* Month 2: Subject line refined from open data, audience filtered
* Month 3: Warm replies converting, negative audiences excluded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58" name="Text Box 57"/>
          <p:cNvSpPr txBox="1"/>
          <p:nvPr/>
        </p:nvSpPr>
        <p:spPr>
          <a:xfrm>
            <a:off x="6223000" y="5816600"/>
            <a:ext cx="53848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6482B4"/>
                </a:solidFill>
                <a:latin typeface="Aptos" charset="0"/>
                <a:cs typeface="Aptos" charset="0"/>
              </a:rPr>
              <a:t>Google Ads CPL improvement driver:
* Month 1: No Quality Score - CPL highest at $100-200
* Month 2: QS builds, negatives mature - CPL drops 20-30%
* Month 3: Optimised bids + landing page relevance - CPL $50-67</a:t>
            </a:r>
            <a:endParaRPr lang="en-US" sz="9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57200" y="203200"/>
            <a:ext cx="8890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2200" b="1">
                <a:solidFill>
                  <a:srgbClr val="0F4C81"/>
                </a:solidFill>
                <a:latin typeface="Poppins" charset="0"/>
                <a:cs typeface="Poppins" charset="0"/>
              </a:rPr>
              <a:t>Key Recommendations</a:t>
            </a:r>
            <a:endParaRPr lang="en-US" sz="22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7200" y="635000"/>
            <a:ext cx="8890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000">
                <a:solidFill>
                  <a:srgbClr val="6482B4"/>
                </a:solidFill>
                <a:latin typeface="Aptos" charset="0"/>
                <a:cs typeface="Aptos" charset="0"/>
              </a:rPr>
              <a:t>Performance marketing priority actions - timing is flexible</a:t>
            </a:r>
            <a:endParaRPr lang="en-US" sz="1000">
              <a:solidFill>
                <a:srgbClr val="6482B4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57200" y="889000"/>
            <a:ext cx="112776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457200" y="1016000"/>
            <a:ext cx="5638800" cy="1879600"/>
          </a:xfrm>
          <a:prstGeom prst="rect">
            <a:avLst/>
          </a:prstGeom>
          <a:solidFill>
            <a:srgbClr val="DBEAFE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457200" y="1016000"/>
            <a:ext cx="38100" cy="18796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35000" y="1117600"/>
            <a:ext cx="431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solidFill>
                  <a:srgbClr val="0F4C81"/>
                </a:solidFill>
                <a:latin typeface="Poppins" charset="0"/>
                <a:cs typeface="Poppins" charset="0"/>
              </a:rPr>
              <a:t>01</a:t>
            </a:r>
            <a:endParaRPr lang="en-US" sz="10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43000" y="1117600"/>
            <a:ext cx="482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START WITH CREDIT UNION INMAIL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35000" y="1422400"/>
            <a:ext cx="53340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635000" y="1524000"/>
            <a:ext cx="533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Fastest decision cycles, strongest mission alignment with CSXAI empathy angle. Lowest CPL in the full channel mix. Highest probability path to first qualified demo.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57200" y="2971800"/>
            <a:ext cx="5638800" cy="18796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457200" y="2971800"/>
            <a:ext cx="38100" cy="18796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35000" y="3073400"/>
            <a:ext cx="431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solidFill>
                  <a:srgbClr val="4F46E5"/>
                </a:solidFill>
                <a:latin typeface="Poppins" charset="0"/>
                <a:cs typeface="Poppins" charset="0"/>
              </a:rPr>
              <a:t>02</a:t>
            </a:r>
            <a:endParaRPr lang="en-US" sz="1000" b="1">
              <a:solidFill>
                <a:srgbClr val="4F46E5"/>
              </a:solidFill>
              <a:latin typeface="Poppins" charset="0"/>
              <a:cs typeface="Poppins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143000" y="3073400"/>
            <a:ext cx="482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INTERCEPT ELTROPY ON GOOGLE (AT $2,000 TIER)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635000" y="3378200"/>
            <a:ext cx="53340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635000" y="3479800"/>
            <a:ext cx="5334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1,900 branded searches/month with zero paid competition. At $2,000/month this delivers the highest expected ROI per dollar in the keyword universe. CPC: $5-35, competition index: LOW.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457200" y="4927600"/>
            <a:ext cx="5638800" cy="1879600"/>
          </a:xfrm>
          <a:prstGeom prst="rect">
            <a:avLst/>
          </a:prstGeom>
          <a:solidFill>
            <a:srgbClr val="DBEAFE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s 18"/>
          <p:cNvSpPr/>
          <p:nvPr/>
        </p:nvSpPr>
        <p:spPr>
          <a:xfrm>
            <a:off x="457200" y="4927600"/>
            <a:ext cx="38100" cy="1879600"/>
          </a:xfrm>
          <a:prstGeom prst="rect">
            <a:avLst/>
          </a:prstGeom>
          <a:solidFill>
            <a:srgbClr val="1E40A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35000" y="5029200"/>
            <a:ext cx="431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solidFill>
                  <a:srgbClr val="1E40AF"/>
                </a:solidFill>
                <a:latin typeface="Poppins" charset="0"/>
                <a:cs typeface="Poppins" charset="0"/>
              </a:rPr>
              <a:t>03</a:t>
            </a:r>
            <a:endParaRPr lang="en-US" sz="1000" b="1">
              <a:solidFill>
                <a:srgbClr val="1E40AF"/>
              </a:solidFill>
              <a:latin typeface="Poppins" charset="0"/>
              <a:cs typeface="Poppins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143000" y="5029200"/>
            <a:ext cx="482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LEAD WITH EMPATHY - NOT EFFICIENCY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635000" y="5334000"/>
            <a:ext cx="53340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635000" y="5435600"/>
            <a:ext cx="5334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Every competitor leads with deflection rates and automation volume. CSXAI's empathy + compliance positioning is genuinely unoccupied territory. Every InMail and ad must lead here.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6273800" y="1016000"/>
            <a:ext cx="5638800" cy="18796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ectangles 24"/>
          <p:cNvSpPr/>
          <p:nvPr/>
        </p:nvSpPr>
        <p:spPr>
          <a:xfrm>
            <a:off x="6273800" y="1016000"/>
            <a:ext cx="38100" cy="1879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6451600" y="1117600"/>
            <a:ext cx="431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solidFill>
                  <a:srgbClr val="2563EB"/>
                </a:solidFill>
                <a:latin typeface="Poppins" charset="0"/>
                <a:cs typeface="Poppins" charset="0"/>
              </a:rPr>
              <a:t>04</a:t>
            </a:r>
            <a:endParaRPr lang="en-US" sz="1000" b="1">
              <a:solidFill>
                <a:srgbClr val="2563EB"/>
              </a:solidFill>
              <a:latin typeface="Poppins" charset="0"/>
              <a:cs typeface="Poppins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959600" y="1117600"/>
            <a:ext cx="482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BUILD LEAD MAGNETS BEFORE SCALING GOOGLE ADS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451600" y="1422400"/>
            <a:ext cx="53340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6451600" y="1524000"/>
            <a:ext cx="533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A downloadable white paper (finance or real estate) improves Google Ads conversion rates significantly. Prepare both lead magnets before Google campaigns go live.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6273800" y="2971800"/>
            <a:ext cx="5638800" cy="1879600"/>
          </a:xfrm>
          <a:prstGeom prst="rect">
            <a:avLst/>
          </a:prstGeom>
          <a:solidFill>
            <a:srgbClr val="F4F8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Rectangles 30"/>
          <p:cNvSpPr/>
          <p:nvPr/>
        </p:nvSpPr>
        <p:spPr>
          <a:xfrm>
            <a:off x="6273800" y="2971800"/>
            <a:ext cx="38100" cy="18796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Text Box 31"/>
          <p:cNvSpPr txBox="1"/>
          <p:nvPr/>
        </p:nvSpPr>
        <p:spPr>
          <a:xfrm>
            <a:off x="6451600" y="3073400"/>
            <a:ext cx="431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solidFill>
                  <a:srgbClr val="0F4C81"/>
                </a:solidFill>
                <a:latin typeface="Poppins" charset="0"/>
                <a:cs typeface="Poppins" charset="0"/>
              </a:rPr>
              <a:t>05</a:t>
            </a:r>
            <a:endParaRPr lang="en-US" sz="1000" b="1">
              <a:solidFill>
                <a:srgbClr val="0F4C81"/>
              </a:solidFill>
              <a:latin typeface="Poppins" charset="0"/>
              <a:cs typeface="Poppins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959600" y="3073400"/>
            <a:ext cx="482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REVIEW INMAIL AT DAY 15 - NOT DAY 30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6451600" y="3378200"/>
            <a:ext cx="53340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5" name="Text Box 34"/>
          <p:cNvSpPr txBox="1"/>
          <p:nvPr/>
        </p:nvSpPr>
        <p:spPr>
          <a:xfrm>
            <a:off x="6451600" y="3479800"/>
            <a:ext cx="5334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Check open-to-reply rate. Below 4% = test a new subject line. InMail performance is driven entirely by the first 2 lines. 30 days without iteration wastes half the learning window.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6273800" y="4927600"/>
            <a:ext cx="5638800" cy="1879600"/>
          </a:xfrm>
          <a:prstGeom prst="rect">
            <a:avLst/>
          </a:prstGeom>
          <a:solidFill>
            <a:srgbClr val="EFF6FF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Rectangles 36"/>
          <p:cNvSpPr/>
          <p:nvPr/>
        </p:nvSpPr>
        <p:spPr>
          <a:xfrm>
            <a:off x="6273800" y="4927600"/>
            <a:ext cx="38100" cy="1879600"/>
          </a:xfrm>
          <a:prstGeom prst="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8" name="Text Box 37"/>
          <p:cNvSpPr txBox="1"/>
          <p:nvPr/>
        </p:nvSpPr>
        <p:spPr>
          <a:xfrm>
            <a:off x="6451600" y="5029200"/>
            <a:ext cx="4318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000" b="1">
                <a:solidFill>
                  <a:srgbClr val="4F46E5"/>
                </a:solidFill>
                <a:latin typeface="Poppins" charset="0"/>
                <a:cs typeface="Poppins" charset="0"/>
              </a:rPr>
              <a:t>06</a:t>
            </a:r>
            <a:endParaRPr lang="en-US" sz="1000" b="1">
              <a:solidFill>
                <a:srgbClr val="4F46E5"/>
              </a:solidFill>
              <a:latin typeface="Poppins" charset="0"/>
              <a:cs typeface="Poppins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6959600" y="5029200"/>
            <a:ext cx="4826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 b="1">
                <a:solidFill>
                  <a:srgbClr val="0F4C81"/>
                </a:solidFill>
                <a:latin typeface="Aptos" charset="0"/>
                <a:cs typeface="Aptos" charset="0"/>
              </a:rPr>
              <a:t>AVOID "REAL ESTATE VIRTUAL ASSISTANT" KEYWORDS</a:t>
            </a:r>
            <a:endParaRPr lang="en-US" sz="900" b="1">
              <a:solidFill>
                <a:srgbClr val="0F4C81"/>
              </a:solidFill>
              <a:latin typeface="Aptos" charset="0"/>
              <a:cs typeface="Aptos" charset="0"/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6451600" y="5334000"/>
            <a:ext cx="5334000" cy="12700"/>
          </a:xfrm>
          <a:prstGeom prst="rect">
            <a:avLst/>
          </a:prstGeom>
          <a:solidFill>
            <a:srgbClr val="C4D7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Text Box 40"/>
          <p:cNvSpPr txBox="1"/>
          <p:nvPr/>
        </p:nvSpPr>
        <p:spPr>
          <a:xfrm>
            <a:off x="6451600" y="5435600"/>
            <a:ext cx="5334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900">
                <a:solidFill>
                  <a:srgbClr val="1E3264"/>
                </a:solidFill>
                <a:latin typeface="Aptos" charset="0"/>
                <a:cs typeface="Aptos" charset="0"/>
              </a:rPr>
              <a:t>1,900/mo of misleading volume dominated by VA staffing companies. Wrong audience entirely. Use only AI-specific RE terms: "real estate ai assistant", "realtor virtual receptionist".</a:t>
            </a:r>
            <a:endParaRPr lang="en-US" sz="900">
              <a:solidFill>
                <a:srgbClr val="1E326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8156</Words>
  <Application>WPS Presentation</Application>
  <PresentationFormat>Widescreen</PresentationFormat>
  <Paragraphs>290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Poppins</vt:lpstr>
      <vt:lpstr>Segoe Print</vt:lpstr>
      <vt:lpstr>Aptos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Rishabhb</dc:creator>
  <cp:lastModifiedBy>Rishabhb</cp:lastModifiedBy>
  <cp:revision>3</cp:revision>
  <dcterms:created xsi:type="dcterms:W3CDTF">2026-05-28T07:12:00Z</dcterms:created>
  <dcterms:modified xsi:type="dcterms:W3CDTF">2026-05-28T08:45:15Z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1033-11.2.0.10017</vt:lpwstr>
  </property>
</Properties>
</file>