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635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1905000"/>
            <a:ext cx="12192000" cy="3048000"/>
          </a:xfrm>
          <a:prstGeom prst="rect">
            <a:avLst/>
          </a:prstGeom>
          <a:solidFill>
            <a:srgbClr val="12213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1016000" y="2095500"/>
            <a:ext cx="10160000" cy="891540"/>
          </a:xfrm>
          <a:prstGeom prst="rect">
            <a:avLst/>
          </a:prstGeom>
          <a:noFill/>
        </p:spPr>
        <p:txBody>
          <a:bodyPr wrap="square" rtlCol="0" anchor="ctr">
            <a:spAutoFit/>
          </a:bodyPr>
          <a:p>
            <a:pPr algn="ctr"/>
            <a:r>
              <a:rPr lang="en-US" sz="5200" b="1">
                <a:solidFill>
                  <a:srgbClr val="FFFFFF"/>
                </a:solidFill>
              </a:rPr>
              <a:t>CSX Intelligence</a:t>
            </a:r>
            <a:endParaRPr lang="en-US" sz="5200" b="1">
              <a:solidFill>
                <a:srgbClr val="FFFFFF"/>
              </a:solidFill>
            </a:endParaRPr>
          </a:p>
        </p:txBody>
      </p:sp>
      <p:sp>
        <p:nvSpPr>
          <p:cNvPr id="5" name="Text Box 4"/>
          <p:cNvSpPr txBox="1"/>
          <p:nvPr/>
        </p:nvSpPr>
        <p:spPr>
          <a:xfrm>
            <a:off x="1016000" y="3149600"/>
            <a:ext cx="10160000" cy="291465"/>
          </a:xfrm>
          <a:prstGeom prst="rect">
            <a:avLst/>
          </a:prstGeom>
          <a:noFill/>
        </p:spPr>
        <p:txBody>
          <a:bodyPr wrap="square" rtlCol="0" anchor="ctr">
            <a:spAutoFit/>
          </a:bodyPr>
          <a:p>
            <a:pPr algn="ctr"/>
            <a:r>
              <a:rPr lang="en-US" sz="1300">
                <a:solidFill>
                  <a:srgbClr val="C9A840"/>
                </a:solidFill>
              </a:rPr>
              <a:t>AI Voice Agent / Financial Services &amp; Real Estate</a:t>
            </a:r>
            <a:endParaRPr lang="en-US" sz="1300">
              <a:solidFill>
                <a:srgbClr val="C9A840"/>
              </a:solidFill>
            </a:endParaRPr>
          </a:p>
        </p:txBody>
      </p:sp>
      <p:sp>
        <p:nvSpPr>
          <p:cNvPr id="6" name="Rectangles 5"/>
          <p:cNvSpPr/>
          <p:nvPr/>
        </p:nvSpPr>
        <p:spPr>
          <a:xfrm>
            <a:off x="4318000" y="3581400"/>
            <a:ext cx="3556000" cy="25400"/>
          </a:xfrm>
          <a:prstGeom prst="rect">
            <a:avLst/>
          </a:prstGeom>
          <a:solidFill>
            <a:srgbClr val="506482"/>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Text Box 6"/>
          <p:cNvSpPr txBox="1"/>
          <p:nvPr/>
        </p:nvSpPr>
        <p:spPr>
          <a:xfrm>
            <a:off x="1016000" y="3708400"/>
            <a:ext cx="10160000" cy="398780"/>
          </a:xfrm>
          <a:prstGeom prst="rect">
            <a:avLst/>
          </a:prstGeom>
          <a:noFill/>
        </p:spPr>
        <p:txBody>
          <a:bodyPr wrap="square" rtlCol="0" anchor="ctr">
            <a:spAutoFit/>
          </a:bodyPr>
          <a:p>
            <a:pPr algn="ctr"/>
            <a:r>
              <a:rPr lang="en-US" sz="2000">
                <a:solidFill>
                  <a:srgbClr val="D2DCEB"/>
                </a:solidFill>
              </a:rPr>
              <a:t>Market Intelligence &amp; Paid Media Strategy</a:t>
            </a:r>
            <a:endParaRPr lang="en-US" sz="2000">
              <a:solidFill>
                <a:srgbClr val="D2DCEB"/>
              </a:solidFill>
            </a:endParaRPr>
          </a:p>
        </p:txBody>
      </p:sp>
      <p:sp>
        <p:nvSpPr>
          <p:cNvPr id="8" name="Text Box 7"/>
          <p:cNvSpPr txBox="1"/>
          <p:nvPr/>
        </p:nvSpPr>
        <p:spPr>
          <a:xfrm>
            <a:off x="1016000" y="4292600"/>
            <a:ext cx="10160000" cy="275590"/>
          </a:xfrm>
          <a:prstGeom prst="rect">
            <a:avLst/>
          </a:prstGeom>
          <a:noFill/>
        </p:spPr>
        <p:txBody>
          <a:bodyPr wrap="square" rtlCol="0" anchor="ctr">
            <a:spAutoFit/>
          </a:bodyPr>
          <a:p>
            <a:pPr algn="ctr"/>
            <a:r>
              <a:rPr lang="en-US" sz="1200">
                <a:solidFill>
                  <a:srgbClr val="96A5B9"/>
                </a:solidFill>
              </a:rPr>
              <a:t>Go-To-Market Executive Briefing</a:t>
            </a:r>
            <a:endParaRPr lang="en-US" sz="1200">
              <a:solidFill>
                <a:srgbClr val="96A5B9"/>
              </a:solidFill>
            </a:endParaRPr>
          </a:p>
        </p:txBody>
      </p:sp>
      <p:sp>
        <p:nvSpPr>
          <p:cNvPr id="9" name="Text Box 8"/>
          <p:cNvSpPr txBox="1"/>
          <p:nvPr/>
        </p:nvSpPr>
        <p:spPr>
          <a:xfrm>
            <a:off x="1016000" y="5842000"/>
            <a:ext cx="6350000" cy="245110"/>
          </a:xfrm>
          <a:prstGeom prst="rect">
            <a:avLst/>
          </a:prstGeom>
          <a:noFill/>
        </p:spPr>
        <p:txBody>
          <a:bodyPr wrap="square" rtlCol="0" anchor="ctr">
            <a:spAutoFit/>
          </a:bodyPr>
          <a:p>
            <a:pPr algn="l"/>
            <a:r>
              <a:rPr lang="en-US" sz="1000">
                <a:solidFill>
                  <a:srgbClr val="788CA5"/>
                </a:solidFill>
              </a:rPr>
              <a:t>27 May 2026  |  Prepared by Rishabh B  |  Damco Digital</a:t>
            </a:r>
            <a:endParaRPr lang="en-US" sz="1000">
              <a:solidFill>
                <a:srgbClr val="788CA5"/>
              </a:solidFill>
            </a:endParaRPr>
          </a:p>
        </p:txBody>
      </p:sp>
      <p:sp>
        <p:nvSpPr>
          <p:cNvPr id="10" name="Text Box 9"/>
          <p:cNvSpPr txBox="1"/>
          <p:nvPr/>
        </p:nvSpPr>
        <p:spPr>
          <a:xfrm>
            <a:off x="8890000" y="5842000"/>
            <a:ext cx="3048000" cy="229870"/>
          </a:xfrm>
          <a:prstGeom prst="rect">
            <a:avLst/>
          </a:prstGeom>
          <a:noFill/>
        </p:spPr>
        <p:txBody>
          <a:bodyPr wrap="square" rtlCol="0" anchor="ctr">
            <a:spAutoFit/>
          </a:bodyPr>
          <a:p>
            <a:pPr algn="r"/>
            <a:r>
              <a:rPr lang="en-US" sz="900">
                <a:solidFill>
                  <a:srgbClr val="647896"/>
                </a:solidFill>
              </a:rPr>
              <a:t>For: Shaivi Tyagi -&gt; Nitya &amp; Proneeta</a:t>
            </a:r>
            <a:endParaRPr lang="en-US" sz="900">
              <a:solidFill>
                <a:srgbClr val="647896"/>
              </a:solidFill>
            </a:endParaRPr>
          </a:p>
        </p:txBody>
      </p:sp>
      <p:sp>
        <p:nvSpPr>
          <p:cNvPr id="11" name="Rectangles 10"/>
          <p:cNvSpPr/>
          <p:nvPr/>
        </p:nvSpPr>
        <p:spPr>
          <a:xfrm>
            <a:off x="5080000" y="6350000"/>
            <a:ext cx="2032000" cy="330200"/>
          </a:xfrm>
          <a:prstGeom prst="rect">
            <a:avLst/>
          </a:prstGeom>
          <a:solidFill>
            <a:srgbClr val="1E3250"/>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5080000" y="6400800"/>
            <a:ext cx="2032000" cy="213995"/>
          </a:xfrm>
          <a:prstGeom prst="rect">
            <a:avLst/>
          </a:prstGeom>
          <a:noFill/>
        </p:spPr>
        <p:txBody>
          <a:bodyPr wrap="square" rtlCol="0" anchor="ctr">
            <a:spAutoFit/>
          </a:bodyPr>
          <a:p>
            <a:pPr algn="ctr"/>
            <a:r>
              <a:rPr lang="en-US" sz="800" b="1">
                <a:solidFill>
                  <a:srgbClr val="C9A840"/>
                </a:solidFill>
              </a:rPr>
              <a:t>CONFIDENTIAL</a:t>
            </a:r>
            <a:endParaRPr lang="en-US" sz="800" b="1">
              <a:solidFill>
                <a:srgbClr val="C9A84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Agenda</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CSXAI Strategy Report - 27 May 2026</a:t>
            </a:r>
            <a:endParaRPr lang="en-US" sz="800">
              <a:solidFill>
                <a:srgbClr val="A0B4D2"/>
              </a:solidFill>
            </a:endParaRPr>
          </a:p>
        </p:txBody>
      </p:sp>
      <p:sp>
        <p:nvSpPr>
          <p:cNvPr id="6" name="Rectangles 5"/>
          <p:cNvSpPr/>
          <p:nvPr/>
        </p:nvSpPr>
        <p:spPr>
          <a:xfrm>
            <a:off x="254000" y="863600"/>
            <a:ext cx="457200" cy="457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Text Box 6"/>
          <p:cNvSpPr txBox="1"/>
          <p:nvPr/>
        </p:nvSpPr>
        <p:spPr>
          <a:xfrm>
            <a:off x="254000" y="889000"/>
            <a:ext cx="457200" cy="260350"/>
          </a:xfrm>
          <a:prstGeom prst="rect">
            <a:avLst/>
          </a:prstGeom>
          <a:noFill/>
        </p:spPr>
        <p:txBody>
          <a:bodyPr wrap="square" rtlCol="0" anchor="ctr">
            <a:spAutoFit/>
          </a:bodyPr>
          <a:p>
            <a:pPr algn="ctr"/>
            <a:r>
              <a:rPr lang="en-US" sz="1100" b="1">
                <a:solidFill>
                  <a:srgbClr val="C9A840"/>
                </a:solidFill>
              </a:rPr>
              <a:t>01</a:t>
            </a:r>
            <a:endParaRPr lang="en-US" sz="1100" b="1">
              <a:solidFill>
                <a:srgbClr val="C9A840"/>
              </a:solidFill>
            </a:endParaRPr>
          </a:p>
        </p:txBody>
      </p:sp>
      <p:sp>
        <p:nvSpPr>
          <p:cNvPr id="8" name="Text Box 7"/>
          <p:cNvSpPr txBox="1"/>
          <p:nvPr/>
        </p:nvSpPr>
        <p:spPr>
          <a:xfrm>
            <a:off x="812800" y="863600"/>
            <a:ext cx="3556000" cy="275590"/>
          </a:xfrm>
          <a:prstGeom prst="rect">
            <a:avLst/>
          </a:prstGeom>
          <a:noFill/>
        </p:spPr>
        <p:txBody>
          <a:bodyPr wrap="square" rtlCol="0" anchor="t">
            <a:spAutoFit/>
          </a:bodyPr>
          <a:p>
            <a:pPr algn="l"/>
            <a:r>
              <a:rPr lang="en-US" sz="1200" b="1">
                <a:solidFill>
                  <a:srgbClr val="0D1B2A"/>
                </a:solidFill>
              </a:rPr>
              <a:t>Competitor Overview</a:t>
            </a:r>
            <a:endParaRPr lang="en-US" sz="1200" b="1">
              <a:solidFill>
                <a:srgbClr val="0D1B2A"/>
              </a:solidFill>
            </a:endParaRPr>
          </a:p>
        </p:txBody>
      </p:sp>
      <p:sp>
        <p:nvSpPr>
          <p:cNvPr id="9" name="Text Box 8"/>
          <p:cNvSpPr txBox="1"/>
          <p:nvPr/>
        </p:nvSpPr>
        <p:spPr>
          <a:xfrm>
            <a:off x="812800" y="1092200"/>
            <a:ext cx="10922000" cy="245110"/>
          </a:xfrm>
          <a:prstGeom prst="rect">
            <a:avLst/>
          </a:prstGeom>
          <a:noFill/>
        </p:spPr>
        <p:txBody>
          <a:bodyPr wrap="square" rtlCol="0" anchor="t">
            <a:spAutoFit/>
          </a:bodyPr>
          <a:p>
            <a:pPr algn="l"/>
            <a:r>
              <a:rPr lang="en-US" sz="1000">
                <a:solidFill>
                  <a:srgbClr val="64748B"/>
                </a:solidFill>
              </a:rPr>
              <a:t>Scale, platform presence, messaging strategy, paid media approach and creative patterns</a:t>
            </a:r>
            <a:endParaRPr lang="en-US" sz="1000">
              <a:solidFill>
                <a:srgbClr val="64748B"/>
              </a:solidFill>
            </a:endParaRPr>
          </a:p>
        </p:txBody>
      </p:sp>
      <p:sp>
        <p:nvSpPr>
          <p:cNvPr id="10" name="Rectangles 9"/>
          <p:cNvSpPr/>
          <p:nvPr/>
        </p:nvSpPr>
        <p:spPr>
          <a:xfrm>
            <a:off x="254000" y="1422400"/>
            <a:ext cx="11684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1" name="Rectangles 10"/>
          <p:cNvSpPr/>
          <p:nvPr/>
        </p:nvSpPr>
        <p:spPr>
          <a:xfrm>
            <a:off x="254000" y="1498600"/>
            <a:ext cx="457200" cy="457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254000" y="1524000"/>
            <a:ext cx="457200" cy="260350"/>
          </a:xfrm>
          <a:prstGeom prst="rect">
            <a:avLst/>
          </a:prstGeom>
          <a:noFill/>
        </p:spPr>
        <p:txBody>
          <a:bodyPr wrap="square" rtlCol="0" anchor="ctr">
            <a:spAutoFit/>
          </a:bodyPr>
          <a:p>
            <a:pPr algn="ctr"/>
            <a:r>
              <a:rPr lang="en-US" sz="1100" b="1">
                <a:solidFill>
                  <a:srgbClr val="C9A840"/>
                </a:solidFill>
              </a:rPr>
              <a:t>02</a:t>
            </a:r>
            <a:endParaRPr lang="en-US" sz="1100" b="1">
              <a:solidFill>
                <a:srgbClr val="C9A840"/>
              </a:solidFill>
            </a:endParaRPr>
          </a:p>
        </p:txBody>
      </p:sp>
      <p:sp>
        <p:nvSpPr>
          <p:cNvPr id="13" name="Text Box 12"/>
          <p:cNvSpPr txBox="1"/>
          <p:nvPr/>
        </p:nvSpPr>
        <p:spPr>
          <a:xfrm>
            <a:off x="812800" y="1498600"/>
            <a:ext cx="3556000" cy="275590"/>
          </a:xfrm>
          <a:prstGeom prst="rect">
            <a:avLst/>
          </a:prstGeom>
          <a:noFill/>
        </p:spPr>
        <p:txBody>
          <a:bodyPr wrap="square" rtlCol="0" anchor="t">
            <a:spAutoFit/>
          </a:bodyPr>
          <a:p>
            <a:pPr algn="l"/>
            <a:r>
              <a:rPr lang="en-US" sz="1200" b="1">
                <a:solidFill>
                  <a:srgbClr val="0D1B2A"/>
                </a:solidFill>
              </a:rPr>
              <a:t>Market &amp; Opportunity Insights</a:t>
            </a:r>
            <a:endParaRPr lang="en-US" sz="1200" b="1">
              <a:solidFill>
                <a:srgbClr val="0D1B2A"/>
              </a:solidFill>
            </a:endParaRPr>
          </a:p>
        </p:txBody>
      </p:sp>
      <p:sp>
        <p:nvSpPr>
          <p:cNvPr id="14" name="Text Box 13"/>
          <p:cNvSpPr txBox="1"/>
          <p:nvPr/>
        </p:nvSpPr>
        <p:spPr>
          <a:xfrm>
            <a:off x="812800" y="1727200"/>
            <a:ext cx="10922000" cy="245110"/>
          </a:xfrm>
          <a:prstGeom prst="rect">
            <a:avLst/>
          </a:prstGeom>
          <a:noFill/>
        </p:spPr>
        <p:txBody>
          <a:bodyPr wrap="square" rtlCol="0" anchor="t">
            <a:spAutoFit/>
          </a:bodyPr>
          <a:p>
            <a:pPr algn="l"/>
            <a:r>
              <a:rPr lang="en-US" sz="1000">
                <a:solidFill>
                  <a:srgbClr val="64748B"/>
                </a:solidFill>
              </a:rPr>
              <a:t>Audience demand signals, search intent, paid media gaps, competitor inefficiencies</a:t>
            </a:r>
            <a:endParaRPr lang="en-US" sz="1000">
              <a:solidFill>
                <a:srgbClr val="64748B"/>
              </a:solidFill>
            </a:endParaRPr>
          </a:p>
        </p:txBody>
      </p:sp>
      <p:sp>
        <p:nvSpPr>
          <p:cNvPr id="15" name="Rectangles 14"/>
          <p:cNvSpPr/>
          <p:nvPr/>
        </p:nvSpPr>
        <p:spPr>
          <a:xfrm>
            <a:off x="254000" y="2057400"/>
            <a:ext cx="11684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6" name="Rectangles 15"/>
          <p:cNvSpPr/>
          <p:nvPr/>
        </p:nvSpPr>
        <p:spPr>
          <a:xfrm>
            <a:off x="254000" y="2133600"/>
            <a:ext cx="457200" cy="457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7" name="Text Box 16"/>
          <p:cNvSpPr txBox="1"/>
          <p:nvPr/>
        </p:nvSpPr>
        <p:spPr>
          <a:xfrm>
            <a:off x="254000" y="2159000"/>
            <a:ext cx="457200" cy="260350"/>
          </a:xfrm>
          <a:prstGeom prst="rect">
            <a:avLst/>
          </a:prstGeom>
          <a:noFill/>
        </p:spPr>
        <p:txBody>
          <a:bodyPr wrap="square" rtlCol="0" anchor="ctr">
            <a:spAutoFit/>
          </a:bodyPr>
          <a:p>
            <a:pPr algn="ctr"/>
            <a:r>
              <a:rPr lang="en-US" sz="1100" b="1">
                <a:solidFill>
                  <a:srgbClr val="C9A840"/>
                </a:solidFill>
              </a:rPr>
              <a:t>03</a:t>
            </a:r>
            <a:endParaRPr lang="en-US" sz="1100" b="1">
              <a:solidFill>
                <a:srgbClr val="C9A840"/>
              </a:solidFill>
            </a:endParaRPr>
          </a:p>
        </p:txBody>
      </p:sp>
      <p:sp>
        <p:nvSpPr>
          <p:cNvPr id="18" name="Text Box 17"/>
          <p:cNvSpPr txBox="1"/>
          <p:nvPr/>
        </p:nvSpPr>
        <p:spPr>
          <a:xfrm>
            <a:off x="812800" y="2133600"/>
            <a:ext cx="3556000" cy="275590"/>
          </a:xfrm>
          <a:prstGeom prst="rect">
            <a:avLst/>
          </a:prstGeom>
          <a:noFill/>
        </p:spPr>
        <p:txBody>
          <a:bodyPr wrap="square" rtlCol="0" anchor="t">
            <a:spAutoFit/>
          </a:bodyPr>
          <a:p>
            <a:pPr algn="l"/>
            <a:r>
              <a:rPr lang="en-US" sz="1200" b="1">
                <a:solidFill>
                  <a:srgbClr val="0D1B2A"/>
                </a:solidFill>
              </a:rPr>
              <a:t>Recommended Paid Media Strategy</a:t>
            </a:r>
            <a:endParaRPr lang="en-US" sz="1200" b="1">
              <a:solidFill>
                <a:srgbClr val="0D1B2A"/>
              </a:solidFill>
            </a:endParaRPr>
          </a:p>
        </p:txBody>
      </p:sp>
      <p:sp>
        <p:nvSpPr>
          <p:cNvPr id="19" name="Text Box 18"/>
          <p:cNvSpPr txBox="1"/>
          <p:nvPr/>
        </p:nvSpPr>
        <p:spPr>
          <a:xfrm>
            <a:off x="812800" y="2362200"/>
            <a:ext cx="10922000" cy="245110"/>
          </a:xfrm>
          <a:prstGeom prst="rect">
            <a:avLst/>
          </a:prstGeom>
          <a:noFill/>
        </p:spPr>
        <p:txBody>
          <a:bodyPr wrap="square" rtlCol="0" anchor="t">
            <a:spAutoFit/>
          </a:bodyPr>
          <a:p>
            <a:pPr algn="l"/>
            <a:r>
              <a:rPr lang="en-US" sz="1000">
                <a:solidFill>
                  <a:srgbClr val="64748B"/>
                </a:solidFill>
              </a:rPr>
              <a:t>3 budget scenarios ($200 / $800 / $2,000), platform priority, lean campaign structure</a:t>
            </a:r>
            <a:endParaRPr lang="en-US" sz="1000">
              <a:solidFill>
                <a:srgbClr val="64748B"/>
              </a:solidFill>
            </a:endParaRPr>
          </a:p>
        </p:txBody>
      </p:sp>
      <p:sp>
        <p:nvSpPr>
          <p:cNvPr id="20" name="Rectangles 19"/>
          <p:cNvSpPr/>
          <p:nvPr/>
        </p:nvSpPr>
        <p:spPr>
          <a:xfrm>
            <a:off x="254000" y="2692400"/>
            <a:ext cx="11684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1" name="Rectangles 20"/>
          <p:cNvSpPr/>
          <p:nvPr/>
        </p:nvSpPr>
        <p:spPr>
          <a:xfrm>
            <a:off x="254000" y="2768600"/>
            <a:ext cx="457200" cy="457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Text Box 21"/>
          <p:cNvSpPr txBox="1"/>
          <p:nvPr/>
        </p:nvSpPr>
        <p:spPr>
          <a:xfrm>
            <a:off x="254000" y="2794000"/>
            <a:ext cx="457200" cy="260350"/>
          </a:xfrm>
          <a:prstGeom prst="rect">
            <a:avLst/>
          </a:prstGeom>
          <a:noFill/>
        </p:spPr>
        <p:txBody>
          <a:bodyPr wrap="square" rtlCol="0" anchor="ctr">
            <a:spAutoFit/>
          </a:bodyPr>
          <a:p>
            <a:pPr algn="ctr"/>
            <a:r>
              <a:rPr lang="en-US" sz="1100" b="1">
                <a:solidFill>
                  <a:srgbClr val="C9A840"/>
                </a:solidFill>
              </a:rPr>
              <a:t>04</a:t>
            </a:r>
            <a:endParaRPr lang="en-US" sz="1100" b="1">
              <a:solidFill>
                <a:srgbClr val="C9A840"/>
              </a:solidFill>
            </a:endParaRPr>
          </a:p>
        </p:txBody>
      </p:sp>
      <p:sp>
        <p:nvSpPr>
          <p:cNvPr id="23" name="Text Box 22"/>
          <p:cNvSpPr txBox="1"/>
          <p:nvPr/>
        </p:nvSpPr>
        <p:spPr>
          <a:xfrm>
            <a:off x="812800" y="2768600"/>
            <a:ext cx="3556000" cy="275590"/>
          </a:xfrm>
          <a:prstGeom prst="rect">
            <a:avLst/>
          </a:prstGeom>
          <a:noFill/>
        </p:spPr>
        <p:txBody>
          <a:bodyPr wrap="square" rtlCol="0" anchor="t">
            <a:spAutoFit/>
          </a:bodyPr>
          <a:p>
            <a:pPr algn="l"/>
            <a:r>
              <a:rPr lang="en-US" sz="1200" b="1">
                <a:solidFill>
                  <a:srgbClr val="0D1B2A"/>
                </a:solidFill>
              </a:rPr>
              <a:t>Performance Estimates &amp; Forecasting</a:t>
            </a:r>
            <a:endParaRPr lang="en-US" sz="1200" b="1">
              <a:solidFill>
                <a:srgbClr val="0D1B2A"/>
              </a:solidFill>
            </a:endParaRPr>
          </a:p>
        </p:txBody>
      </p:sp>
      <p:sp>
        <p:nvSpPr>
          <p:cNvPr id="24" name="Text Box 23"/>
          <p:cNvSpPr txBox="1"/>
          <p:nvPr/>
        </p:nvSpPr>
        <p:spPr>
          <a:xfrm>
            <a:off x="812800" y="2997200"/>
            <a:ext cx="10922000" cy="245110"/>
          </a:xfrm>
          <a:prstGeom prst="rect">
            <a:avLst/>
          </a:prstGeom>
          <a:noFill/>
        </p:spPr>
        <p:txBody>
          <a:bodyPr wrap="square" rtlCol="0" anchor="t">
            <a:spAutoFit/>
          </a:bodyPr>
          <a:p>
            <a:pPr algn="l"/>
            <a:r>
              <a:rPr lang="en-US" sz="1000">
                <a:solidFill>
                  <a:srgbClr val="64748B"/>
                </a:solidFill>
              </a:rPr>
              <a:t>3-month projections per budget - leads, CPL, reach, impressions, clicks</a:t>
            </a:r>
            <a:endParaRPr lang="en-US" sz="1000">
              <a:solidFill>
                <a:srgbClr val="64748B"/>
              </a:solidFill>
            </a:endParaRPr>
          </a:p>
        </p:txBody>
      </p:sp>
      <p:sp>
        <p:nvSpPr>
          <p:cNvPr id="25" name="Rectangles 24"/>
          <p:cNvSpPr/>
          <p:nvPr/>
        </p:nvSpPr>
        <p:spPr>
          <a:xfrm>
            <a:off x="254000" y="3327400"/>
            <a:ext cx="11684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6" name="Rectangles 25"/>
          <p:cNvSpPr/>
          <p:nvPr/>
        </p:nvSpPr>
        <p:spPr>
          <a:xfrm>
            <a:off x="254000" y="3403600"/>
            <a:ext cx="457200" cy="457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7" name="Text Box 26"/>
          <p:cNvSpPr txBox="1"/>
          <p:nvPr/>
        </p:nvSpPr>
        <p:spPr>
          <a:xfrm>
            <a:off x="254000" y="3429000"/>
            <a:ext cx="457200" cy="260350"/>
          </a:xfrm>
          <a:prstGeom prst="rect">
            <a:avLst/>
          </a:prstGeom>
          <a:noFill/>
        </p:spPr>
        <p:txBody>
          <a:bodyPr wrap="square" rtlCol="0" anchor="ctr">
            <a:spAutoFit/>
          </a:bodyPr>
          <a:p>
            <a:pPr algn="ctr"/>
            <a:r>
              <a:rPr lang="en-US" sz="1100" b="1">
                <a:solidFill>
                  <a:srgbClr val="C9A840"/>
                </a:solidFill>
              </a:rPr>
              <a:t>05</a:t>
            </a:r>
            <a:endParaRPr lang="en-US" sz="1100" b="1">
              <a:solidFill>
                <a:srgbClr val="C9A840"/>
              </a:solidFill>
            </a:endParaRPr>
          </a:p>
        </p:txBody>
      </p:sp>
      <p:sp>
        <p:nvSpPr>
          <p:cNvPr id="28" name="Text Box 27"/>
          <p:cNvSpPr txBox="1"/>
          <p:nvPr/>
        </p:nvSpPr>
        <p:spPr>
          <a:xfrm>
            <a:off x="812800" y="3403600"/>
            <a:ext cx="3556000" cy="275590"/>
          </a:xfrm>
          <a:prstGeom prst="rect">
            <a:avLst/>
          </a:prstGeom>
          <a:noFill/>
        </p:spPr>
        <p:txBody>
          <a:bodyPr wrap="square" rtlCol="0" anchor="t">
            <a:spAutoFit/>
          </a:bodyPr>
          <a:p>
            <a:pPr algn="l"/>
            <a:r>
              <a:rPr lang="en-US" sz="1200" b="1">
                <a:solidFill>
                  <a:srgbClr val="0D1B2A"/>
                </a:solidFill>
              </a:rPr>
              <a:t>Final Recommendations</a:t>
            </a:r>
            <a:endParaRPr lang="en-US" sz="1200" b="1">
              <a:solidFill>
                <a:srgbClr val="0D1B2A"/>
              </a:solidFill>
            </a:endParaRPr>
          </a:p>
        </p:txBody>
      </p:sp>
      <p:sp>
        <p:nvSpPr>
          <p:cNvPr id="29" name="Text Box 28"/>
          <p:cNvSpPr txBox="1"/>
          <p:nvPr/>
        </p:nvSpPr>
        <p:spPr>
          <a:xfrm>
            <a:off x="812800" y="3632200"/>
            <a:ext cx="10922000" cy="245110"/>
          </a:xfrm>
          <a:prstGeom prst="rect">
            <a:avLst/>
          </a:prstGeom>
          <a:noFill/>
        </p:spPr>
        <p:txBody>
          <a:bodyPr wrap="square" rtlCol="0" anchor="t">
            <a:spAutoFit/>
          </a:bodyPr>
          <a:p>
            <a:pPr algn="l"/>
            <a:r>
              <a:rPr lang="en-US" sz="1000">
                <a:solidFill>
                  <a:srgbClr val="64748B"/>
                </a:solidFill>
              </a:rPr>
              <a:t>Priority performance marketing actions, mandatory optimizations, key testing opportunities</a:t>
            </a:r>
            <a:endParaRPr lang="en-US" sz="1000">
              <a:solidFill>
                <a:srgbClr val="64748B"/>
              </a:solidFill>
            </a:endParaRPr>
          </a:p>
        </p:txBody>
      </p:sp>
      <p:sp>
        <p:nvSpPr>
          <p:cNvPr id="30" name="Rectangles 29"/>
          <p:cNvSpPr/>
          <p:nvPr/>
        </p:nvSpPr>
        <p:spPr>
          <a:xfrm>
            <a:off x="254000" y="3962400"/>
            <a:ext cx="11684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Competitor Overview - The Landscape</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4 key players analyzed</a:t>
            </a:r>
            <a:endParaRPr lang="en-US" sz="800">
              <a:solidFill>
                <a:srgbClr val="A0B4D2"/>
              </a:solidFill>
            </a:endParaRPr>
          </a:p>
        </p:txBody>
      </p:sp>
      <p:sp>
        <p:nvSpPr>
          <p:cNvPr id="6" name="Rectangles 5"/>
          <p:cNvSpPr/>
          <p:nvPr/>
        </p:nvSpPr>
        <p:spPr>
          <a:xfrm>
            <a:off x="228600" y="736600"/>
            <a:ext cx="5715000" cy="2870200"/>
          </a:xfrm>
          <a:prstGeom prst="rect">
            <a:avLst/>
          </a:prstGeom>
          <a:solidFill>
            <a:srgbClr val="FEE2E2"/>
          </a:solidFill>
          <a:ln w="19050">
            <a:solidFill>
              <a:srgbClr val="DC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36600"/>
            <a:ext cx="5715000" cy="508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55600" y="863600"/>
            <a:ext cx="3556000" cy="275590"/>
          </a:xfrm>
          <a:prstGeom prst="rect">
            <a:avLst/>
          </a:prstGeom>
          <a:noFill/>
        </p:spPr>
        <p:txBody>
          <a:bodyPr wrap="square" rtlCol="0" anchor="t">
            <a:spAutoFit/>
          </a:bodyPr>
          <a:p>
            <a:pPr algn="l"/>
            <a:r>
              <a:rPr lang="en-US" sz="1200" b="1">
                <a:solidFill>
                  <a:srgbClr val="0D1B2A"/>
                </a:solidFill>
              </a:rPr>
              <a:t>ELTROPY</a:t>
            </a:r>
            <a:endParaRPr lang="en-US" sz="1200" b="1">
              <a:solidFill>
                <a:srgbClr val="0D1B2A"/>
              </a:solidFill>
            </a:endParaRPr>
          </a:p>
        </p:txBody>
      </p:sp>
      <p:sp>
        <p:nvSpPr>
          <p:cNvPr id="9" name="Rectangles 8"/>
          <p:cNvSpPr/>
          <p:nvPr/>
        </p:nvSpPr>
        <p:spPr>
          <a:xfrm>
            <a:off x="3975100" y="838200"/>
            <a:ext cx="1841500" cy="2286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0" name="Text Box 9"/>
          <p:cNvSpPr txBox="1"/>
          <p:nvPr/>
        </p:nvSpPr>
        <p:spPr>
          <a:xfrm>
            <a:off x="3975100" y="838200"/>
            <a:ext cx="1841500" cy="213995"/>
          </a:xfrm>
          <a:prstGeom prst="rect">
            <a:avLst/>
          </a:prstGeom>
          <a:noFill/>
        </p:spPr>
        <p:txBody>
          <a:bodyPr wrap="square" rtlCol="0" anchor="ctr">
            <a:spAutoFit/>
          </a:bodyPr>
          <a:p>
            <a:pPr algn="ctr"/>
            <a:r>
              <a:rPr lang="en-US" sz="800" b="1">
                <a:solidFill>
                  <a:srgbClr val="FFFFFF"/>
                </a:solidFill>
              </a:rPr>
              <a:t>Direct Competitor</a:t>
            </a:r>
            <a:endParaRPr lang="en-US" sz="800" b="1">
              <a:solidFill>
                <a:srgbClr val="FFFFFF"/>
              </a:solidFill>
            </a:endParaRPr>
          </a:p>
        </p:txBody>
      </p:sp>
      <p:sp>
        <p:nvSpPr>
          <p:cNvPr id="11" name="Rectangles 10"/>
          <p:cNvSpPr/>
          <p:nvPr/>
        </p:nvSpPr>
        <p:spPr>
          <a:xfrm>
            <a:off x="355600" y="1143000"/>
            <a:ext cx="5461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355600" y="1244600"/>
            <a:ext cx="5461000" cy="229870"/>
          </a:xfrm>
          <a:prstGeom prst="rect">
            <a:avLst/>
          </a:prstGeom>
          <a:noFill/>
        </p:spPr>
        <p:txBody>
          <a:bodyPr wrap="square" rtlCol="0" anchor="t">
            <a:spAutoFit/>
          </a:bodyPr>
          <a:p>
            <a:pPr algn="l"/>
            <a:r>
              <a:rPr lang="en-US" sz="900">
                <a:solidFill>
                  <a:srgbClr val="28374B"/>
                </a:solidFill>
              </a:rPr>
              <a:t>* Target: Community banks &amp; credit unions (US)</a:t>
            </a:r>
            <a:endParaRPr lang="en-US" sz="900">
              <a:solidFill>
                <a:srgbClr val="28374B"/>
              </a:solidFill>
            </a:endParaRPr>
          </a:p>
        </p:txBody>
      </p:sp>
      <p:sp>
        <p:nvSpPr>
          <p:cNvPr id="13" name="Text Box 12"/>
          <p:cNvSpPr txBox="1"/>
          <p:nvPr/>
        </p:nvSpPr>
        <p:spPr>
          <a:xfrm>
            <a:off x="355600" y="1524000"/>
            <a:ext cx="5461000" cy="229870"/>
          </a:xfrm>
          <a:prstGeom prst="rect">
            <a:avLst/>
          </a:prstGeom>
          <a:noFill/>
        </p:spPr>
        <p:txBody>
          <a:bodyPr wrap="square" rtlCol="0" anchor="t">
            <a:spAutoFit/>
          </a:bodyPr>
          <a:p>
            <a:pPr algn="l"/>
            <a:r>
              <a:rPr lang="en-US" sz="900">
                <a:solidFill>
                  <a:srgbClr val="28374B"/>
                </a:solidFill>
              </a:rPr>
              <a:t>* Scale: $12M to $33M ARR in 24 months</a:t>
            </a:r>
            <a:endParaRPr lang="en-US" sz="900">
              <a:solidFill>
                <a:srgbClr val="28374B"/>
              </a:solidFill>
            </a:endParaRPr>
          </a:p>
        </p:txBody>
      </p:sp>
      <p:sp>
        <p:nvSpPr>
          <p:cNvPr id="14" name="Text Box 13"/>
          <p:cNvSpPr txBox="1"/>
          <p:nvPr/>
        </p:nvSpPr>
        <p:spPr>
          <a:xfrm>
            <a:off x="355600" y="1803400"/>
            <a:ext cx="5461000" cy="229870"/>
          </a:xfrm>
          <a:prstGeom prst="rect">
            <a:avLst/>
          </a:prstGeom>
          <a:noFill/>
        </p:spPr>
        <p:txBody>
          <a:bodyPr wrap="square" rtlCol="0" anchor="t">
            <a:spAutoFit/>
          </a:bodyPr>
          <a:p>
            <a:pPr algn="l"/>
            <a:r>
              <a:rPr lang="en-US" sz="900">
                <a:solidFill>
                  <a:srgbClr val="28374B"/>
                </a:solidFill>
              </a:rPr>
              <a:t>* Brand searches: 1,900/mo (+26% YoY)</a:t>
            </a:r>
            <a:endParaRPr lang="en-US" sz="900">
              <a:solidFill>
                <a:srgbClr val="28374B"/>
              </a:solidFill>
            </a:endParaRPr>
          </a:p>
        </p:txBody>
      </p:sp>
      <p:sp>
        <p:nvSpPr>
          <p:cNvPr id="15" name="Text Box 14"/>
          <p:cNvSpPr txBox="1"/>
          <p:nvPr/>
        </p:nvSpPr>
        <p:spPr>
          <a:xfrm>
            <a:off x="355600" y="2082800"/>
            <a:ext cx="5461000" cy="229870"/>
          </a:xfrm>
          <a:prstGeom prst="rect">
            <a:avLst/>
          </a:prstGeom>
          <a:noFill/>
        </p:spPr>
        <p:txBody>
          <a:bodyPr wrap="square" rtlCol="0" anchor="t">
            <a:spAutoFit/>
          </a:bodyPr>
          <a:p>
            <a:pPr algn="l"/>
            <a:r>
              <a:rPr lang="en-US" sz="900">
                <a:solidFill>
                  <a:srgbClr val="28374B"/>
                </a:solidFill>
              </a:rPr>
              <a:t>* Google Ads: ZERO - not running any paid search</a:t>
            </a:r>
            <a:endParaRPr lang="en-US" sz="900">
              <a:solidFill>
                <a:srgbClr val="28374B"/>
              </a:solidFill>
            </a:endParaRPr>
          </a:p>
        </p:txBody>
      </p:sp>
      <p:sp>
        <p:nvSpPr>
          <p:cNvPr id="16" name="Text Box 15"/>
          <p:cNvSpPr txBox="1"/>
          <p:nvPr/>
        </p:nvSpPr>
        <p:spPr>
          <a:xfrm>
            <a:off x="355600" y="2362200"/>
            <a:ext cx="5461000" cy="229870"/>
          </a:xfrm>
          <a:prstGeom prst="rect">
            <a:avLst/>
          </a:prstGeom>
          <a:noFill/>
        </p:spPr>
        <p:txBody>
          <a:bodyPr wrap="square" rtlCol="0" anchor="t">
            <a:spAutoFit/>
          </a:bodyPr>
          <a:p>
            <a:pPr algn="l"/>
            <a:r>
              <a:rPr lang="en-US" sz="900">
                <a:solidFill>
                  <a:srgbClr val="28374B"/>
                </a:solidFill>
              </a:rPr>
              <a:t>* Channels: SDR outbound + ABM + 50+ partner integrations + LinkedIn</a:t>
            </a:r>
            <a:endParaRPr lang="en-US" sz="900">
              <a:solidFill>
                <a:srgbClr val="28374B"/>
              </a:solidFill>
            </a:endParaRPr>
          </a:p>
        </p:txBody>
      </p:sp>
      <p:sp>
        <p:nvSpPr>
          <p:cNvPr id="17" name="Rectangles 16"/>
          <p:cNvSpPr/>
          <p:nvPr/>
        </p:nvSpPr>
        <p:spPr>
          <a:xfrm>
            <a:off x="6248400" y="736600"/>
            <a:ext cx="5715000" cy="2870200"/>
          </a:xfrm>
          <a:prstGeom prst="rect">
            <a:avLst/>
          </a:prstGeom>
          <a:solidFill>
            <a:srgbClr val="FEE2E2"/>
          </a:solidFill>
          <a:ln w="19050">
            <a:solidFill>
              <a:srgbClr val="DC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8" name="Rectangles 17"/>
          <p:cNvSpPr/>
          <p:nvPr/>
        </p:nvSpPr>
        <p:spPr>
          <a:xfrm>
            <a:off x="6248400" y="736600"/>
            <a:ext cx="5715000" cy="508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9" name="Text Box 18"/>
          <p:cNvSpPr txBox="1"/>
          <p:nvPr/>
        </p:nvSpPr>
        <p:spPr>
          <a:xfrm>
            <a:off x="6375400" y="863600"/>
            <a:ext cx="3556000" cy="275590"/>
          </a:xfrm>
          <a:prstGeom prst="rect">
            <a:avLst/>
          </a:prstGeom>
          <a:noFill/>
        </p:spPr>
        <p:txBody>
          <a:bodyPr wrap="square" rtlCol="0" anchor="t">
            <a:spAutoFit/>
          </a:bodyPr>
          <a:p>
            <a:pPr algn="l"/>
            <a:r>
              <a:rPr lang="en-US" sz="1200" b="1">
                <a:solidFill>
                  <a:srgbClr val="0D1B2A"/>
                </a:solidFill>
              </a:rPr>
              <a:t>GLIA</a:t>
            </a:r>
            <a:endParaRPr lang="en-US" sz="1200" b="1">
              <a:solidFill>
                <a:srgbClr val="0D1B2A"/>
              </a:solidFill>
            </a:endParaRPr>
          </a:p>
        </p:txBody>
      </p:sp>
      <p:sp>
        <p:nvSpPr>
          <p:cNvPr id="20" name="Rectangles 19"/>
          <p:cNvSpPr/>
          <p:nvPr/>
        </p:nvSpPr>
        <p:spPr>
          <a:xfrm>
            <a:off x="9994900" y="838200"/>
            <a:ext cx="1841500" cy="2286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1" name="Text Box 20"/>
          <p:cNvSpPr txBox="1"/>
          <p:nvPr/>
        </p:nvSpPr>
        <p:spPr>
          <a:xfrm>
            <a:off x="9994900" y="838200"/>
            <a:ext cx="1841500" cy="213995"/>
          </a:xfrm>
          <a:prstGeom prst="rect">
            <a:avLst/>
          </a:prstGeom>
          <a:noFill/>
        </p:spPr>
        <p:txBody>
          <a:bodyPr wrap="square" rtlCol="0" anchor="ctr">
            <a:spAutoFit/>
          </a:bodyPr>
          <a:p>
            <a:pPr algn="ctr"/>
            <a:r>
              <a:rPr lang="en-US" sz="800" b="1">
                <a:solidFill>
                  <a:srgbClr val="FFFFFF"/>
                </a:solidFill>
              </a:rPr>
              <a:t>Direct Competitor</a:t>
            </a:r>
            <a:endParaRPr lang="en-US" sz="800" b="1">
              <a:solidFill>
                <a:srgbClr val="FFFFFF"/>
              </a:solidFill>
            </a:endParaRPr>
          </a:p>
        </p:txBody>
      </p:sp>
      <p:sp>
        <p:nvSpPr>
          <p:cNvPr id="22" name="Rectangles 21"/>
          <p:cNvSpPr/>
          <p:nvPr/>
        </p:nvSpPr>
        <p:spPr>
          <a:xfrm>
            <a:off x="6375400" y="1143000"/>
            <a:ext cx="5461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3" name="Text Box 22"/>
          <p:cNvSpPr txBox="1"/>
          <p:nvPr/>
        </p:nvSpPr>
        <p:spPr>
          <a:xfrm>
            <a:off x="6375400" y="1244600"/>
            <a:ext cx="5461000" cy="229870"/>
          </a:xfrm>
          <a:prstGeom prst="rect">
            <a:avLst/>
          </a:prstGeom>
          <a:noFill/>
        </p:spPr>
        <p:txBody>
          <a:bodyPr wrap="square" rtlCol="0" anchor="t">
            <a:spAutoFit/>
          </a:bodyPr>
          <a:p>
            <a:pPr algn="l"/>
            <a:r>
              <a:rPr lang="en-US" sz="900">
                <a:solidFill>
                  <a:srgbClr val="28374B"/>
                </a:solidFill>
              </a:rPr>
              <a:t>* Target: Banks &amp; credit unions - 700+ clients</a:t>
            </a:r>
            <a:endParaRPr lang="en-US" sz="900">
              <a:solidFill>
                <a:srgbClr val="28374B"/>
              </a:solidFill>
            </a:endParaRPr>
          </a:p>
        </p:txBody>
      </p:sp>
      <p:sp>
        <p:nvSpPr>
          <p:cNvPr id="24" name="Text Box 23"/>
          <p:cNvSpPr txBox="1"/>
          <p:nvPr/>
        </p:nvSpPr>
        <p:spPr>
          <a:xfrm>
            <a:off x="6375400" y="1524000"/>
            <a:ext cx="5461000" cy="229870"/>
          </a:xfrm>
          <a:prstGeom prst="rect">
            <a:avLst/>
          </a:prstGeom>
          <a:noFill/>
        </p:spPr>
        <p:txBody>
          <a:bodyPr wrap="square" rtlCol="0" anchor="t">
            <a:spAutoFit/>
          </a:bodyPr>
          <a:p>
            <a:pPr algn="l"/>
            <a:r>
              <a:rPr lang="en-US" sz="900">
                <a:solidFill>
                  <a:srgbClr val="28374B"/>
                </a:solidFill>
              </a:rPr>
              <a:t>* Scale: Market leader / AIFinTech100 2025</a:t>
            </a:r>
            <a:endParaRPr lang="en-US" sz="900">
              <a:solidFill>
                <a:srgbClr val="28374B"/>
              </a:solidFill>
            </a:endParaRPr>
          </a:p>
        </p:txBody>
      </p:sp>
      <p:sp>
        <p:nvSpPr>
          <p:cNvPr id="25" name="Text Box 24"/>
          <p:cNvSpPr txBox="1"/>
          <p:nvPr/>
        </p:nvSpPr>
        <p:spPr>
          <a:xfrm>
            <a:off x="6375400" y="1803400"/>
            <a:ext cx="5461000" cy="229870"/>
          </a:xfrm>
          <a:prstGeom prst="rect">
            <a:avLst/>
          </a:prstGeom>
          <a:noFill/>
        </p:spPr>
        <p:txBody>
          <a:bodyPr wrap="square" rtlCol="0" anchor="t">
            <a:spAutoFit/>
          </a:bodyPr>
          <a:p>
            <a:pPr algn="l"/>
            <a:r>
              <a:rPr lang="en-US" sz="900">
                <a:solidFill>
                  <a:srgbClr val="28374B"/>
                </a:solidFill>
              </a:rPr>
              <a:t>* Lead magnet: Gated industry benchmarks report (400 FIs data)</a:t>
            </a:r>
            <a:endParaRPr lang="en-US" sz="900">
              <a:solidFill>
                <a:srgbClr val="28374B"/>
              </a:solidFill>
            </a:endParaRPr>
          </a:p>
        </p:txBody>
      </p:sp>
      <p:sp>
        <p:nvSpPr>
          <p:cNvPr id="26" name="Text Box 25"/>
          <p:cNvSpPr txBox="1"/>
          <p:nvPr/>
        </p:nvSpPr>
        <p:spPr>
          <a:xfrm>
            <a:off x="6375400" y="2082800"/>
            <a:ext cx="5461000" cy="229870"/>
          </a:xfrm>
          <a:prstGeom prst="rect">
            <a:avLst/>
          </a:prstGeom>
          <a:noFill/>
        </p:spPr>
        <p:txBody>
          <a:bodyPr wrap="square" rtlCol="0" anchor="t">
            <a:spAutoFit/>
          </a:bodyPr>
          <a:p>
            <a:pPr algn="l"/>
            <a:r>
              <a:rPr lang="en-US" sz="900">
                <a:solidFill>
                  <a:srgbClr val="28374B"/>
                </a:solidFill>
              </a:rPr>
              <a:t>* Key CTA: Request an Impact Study - personalised ROI forecast</a:t>
            </a:r>
            <a:endParaRPr lang="en-US" sz="900">
              <a:solidFill>
                <a:srgbClr val="28374B"/>
              </a:solidFill>
            </a:endParaRPr>
          </a:p>
        </p:txBody>
      </p:sp>
      <p:sp>
        <p:nvSpPr>
          <p:cNvPr id="27" name="Text Box 26"/>
          <p:cNvSpPr txBox="1"/>
          <p:nvPr/>
        </p:nvSpPr>
        <p:spPr>
          <a:xfrm>
            <a:off x="6375400" y="2362200"/>
            <a:ext cx="5461000" cy="229870"/>
          </a:xfrm>
          <a:prstGeom prst="rect">
            <a:avLst/>
          </a:prstGeom>
          <a:noFill/>
        </p:spPr>
        <p:txBody>
          <a:bodyPr wrap="square" rtlCol="0" anchor="t">
            <a:spAutoFit/>
          </a:bodyPr>
          <a:p>
            <a:pPr algn="l"/>
            <a:r>
              <a:rPr lang="en-US" sz="900">
                <a:solidFill>
                  <a:srgbClr val="28374B"/>
                </a:solidFill>
              </a:rPr>
              <a:t>* Channels: LinkedIn Ads + Events (Glia Interact) + FIS partnership</a:t>
            </a:r>
            <a:endParaRPr lang="en-US" sz="900">
              <a:solidFill>
                <a:srgbClr val="28374B"/>
              </a:solidFill>
            </a:endParaRPr>
          </a:p>
        </p:txBody>
      </p:sp>
      <p:sp>
        <p:nvSpPr>
          <p:cNvPr id="28" name="Rectangles 27"/>
          <p:cNvSpPr/>
          <p:nvPr/>
        </p:nvSpPr>
        <p:spPr>
          <a:xfrm>
            <a:off x="228600" y="3683000"/>
            <a:ext cx="5715000" cy="2870200"/>
          </a:xfrm>
          <a:prstGeom prst="rect">
            <a:avLst/>
          </a:prstGeom>
          <a:solidFill>
            <a:srgbClr val="FBF5E6"/>
          </a:solidFill>
          <a:ln w="19050">
            <a:solidFill>
              <a:srgbClr val="D977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9" name="Rectangles 28"/>
          <p:cNvSpPr/>
          <p:nvPr/>
        </p:nvSpPr>
        <p:spPr>
          <a:xfrm>
            <a:off x="228600" y="3683000"/>
            <a:ext cx="5715000" cy="508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0" name="Text Box 29"/>
          <p:cNvSpPr txBox="1"/>
          <p:nvPr/>
        </p:nvSpPr>
        <p:spPr>
          <a:xfrm>
            <a:off x="355600" y="3810000"/>
            <a:ext cx="3556000" cy="275590"/>
          </a:xfrm>
          <a:prstGeom prst="rect">
            <a:avLst/>
          </a:prstGeom>
          <a:noFill/>
        </p:spPr>
        <p:txBody>
          <a:bodyPr wrap="square" rtlCol="0" anchor="t">
            <a:spAutoFit/>
          </a:bodyPr>
          <a:p>
            <a:pPr algn="l"/>
            <a:r>
              <a:rPr lang="en-US" sz="1200" b="1">
                <a:solidFill>
                  <a:srgbClr val="0D1B2A"/>
                </a:solidFill>
              </a:rPr>
              <a:t>KASISTO</a:t>
            </a:r>
            <a:endParaRPr lang="en-US" sz="1200" b="1">
              <a:solidFill>
                <a:srgbClr val="0D1B2A"/>
              </a:solidFill>
            </a:endParaRPr>
          </a:p>
        </p:txBody>
      </p:sp>
      <p:sp>
        <p:nvSpPr>
          <p:cNvPr id="31" name="Rectangles 30"/>
          <p:cNvSpPr/>
          <p:nvPr/>
        </p:nvSpPr>
        <p:spPr>
          <a:xfrm>
            <a:off x="3975100" y="3784600"/>
            <a:ext cx="1841500" cy="2286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2" name="Text Box 31"/>
          <p:cNvSpPr txBox="1"/>
          <p:nvPr/>
        </p:nvSpPr>
        <p:spPr>
          <a:xfrm>
            <a:off x="3975100" y="3784600"/>
            <a:ext cx="1841500" cy="213995"/>
          </a:xfrm>
          <a:prstGeom prst="rect">
            <a:avLst/>
          </a:prstGeom>
          <a:noFill/>
        </p:spPr>
        <p:txBody>
          <a:bodyPr wrap="square" rtlCol="0" anchor="ctr">
            <a:spAutoFit/>
          </a:bodyPr>
          <a:p>
            <a:pPr algn="ctr"/>
            <a:r>
              <a:rPr lang="en-US" sz="800" b="1">
                <a:solidFill>
                  <a:srgbClr val="FFFFFF"/>
                </a:solidFill>
              </a:rPr>
              <a:t>Direct / Declining</a:t>
            </a:r>
            <a:endParaRPr lang="en-US" sz="800" b="1">
              <a:solidFill>
                <a:srgbClr val="FFFFFF"/>
              </a:solidFill>
            </a:endParaRPr>
          </a:p>
        </p:txBody>
      </p:sp>
      <p:sp>
        <p:nvSpPr>
          <p:cNvPr id="33" name="Rectangles 32"/>
          <p:cNvSpPr/>
          <p:nvPr/>
        </p:nvSpPr>
        <p:spPr>
          <a:xfrm>
            <a:off x="355600" y="4089400"/>
            <a:ext cx="5461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4" name="Text Box 33"/>
          <p:cNvSpPr txBox="1"/>
          <p:nvPr/>
        </p:nvSpPr>
        <p:spPr>
          <a:xfrm>
            <a:off x="355600" y="4191000"/>
            <a:ext cx="5461000" cy="229870"/>
          </a:xfrm>
          <a:prstGeom prst="rect">
            <a:avLst/>
          </a:prstGeom>
          <a:noFill/>
        </p:spPr>
        <p:txBody>
          <a:bodyPr wrap="square" rtlCol="0" anchor="t">
            <a:spAutoFit/>
          </a:bodyPr>
          <a:p>
            <a:pPr algn="l"/>
            <a:r>
              <a:rPr lang="en-US" sz="900">
                <a:solidFill>
                  <a:srgbClr val="28374B"/>
                </a:solidFill>
              </a:rPr>
              <a:t>* Target: Enterprise banking - KAI conversational AI platform</a:t>
            </a:r>
            <a:endParaRPr lang="en-US" sz="900">
              <a:solidFill>
                <a:srgbClr val="28374B"/>
              </a:solidFill>
            </a:endParaRPr>
          </a:p>
        </p:txBody>
      </p:sp>
      <p:sp>
        <p:nvSpPr>
          <p:cNvPr id="35" name="Text Box 34"/>
          <p:cNvSpPr txBox="1"/>
          <p:nvPr/>
        </p:nvSpPr>
        <p:spPr>
          <a:xfrm>
            <a:off x="355600" y="4470400"/>
            <a:ext cx="5461000" cy="229870"/>
          </a:xfrm>
          <a:prstGeom prst="rect">
            <a:avLst/>
          </a:prstGeom>
          <a:noFill/>
        </p:spPr>
        <p:txBody>
          <a:bodyPr wrap="square" rtlCol="0" anchor="t">
            <a:spAutoFit/>
          </a:bodyPr>
          <a:p>
            <a:pPr algn="l"/>
            <a:r>
              <a:rPr lang="en-US" sz="900">
                <a:solidFill>
                  <a:srgbClr val="28374B"/>
                </a:solidFill>
              </a:rPr>
              <a:t>* Brand searches: 390/mo - DOWN -19% (3 months) / -46% YoY</a:t>
            </a:r>
            <a:endParaRPr lang="en-US" sz="900">
              <a:solidFill>
                <a:srgbClr val="28374B"/>
              </a:solidFill>
            </a:endParaRPr>
          </a:p>
        </p:txBody>
      </p:sp>
      <p:sp>
        <p:nvSpPr>
          <p:cNvPr id="36" name="Text Box 35"/>
          <p:cNvSpPr txBox="1"/>
          <p:nvPr/>
        </p:nvSpPr>
        <p:spPr>
          <a:xfrm>
            <a:off x="355600" y="4749800"/>
            <a:ext cx="5461000" cy="229870"/>
          </a:xfrm>
          <a:prstGeom prst="rect">
            <a:avLst/>
          </a:prstGeom>
          <a:noFill/>
        </p:spPr>
        <p:txBody>
          <a:bodyPr wrap="square" rtlCol="0" anchor="t">
            <a:spAutoFit/>
          </a:bodyPr>
          <a:p>
            <a:pPr algn="l"/>
            <a:r>
              <a:rPr lang="en-US" sz="900">
                <a:solidFill>
                  <a:srgbClr val="28374B"/>
                </a:solidFill>
              </a:rPr>
              <a:t>* Insight: People actively search kasisto competitors = exit intent</a:t>
            </a:r>
            <a:endParaRPr lang="en-US" sz="900">
              <a:solidFill>
                <a:srgbClr val="28374B"/>
              </a:solidFill>
            </a:endParaRPr>
          </a:p>
        </p:txBody>
      </p:sp>
      <p:sp>
        <p:nvSpPr>
          <p:cNvPr id="37" name="Text Box 36"/>
          <p:cNvSpPr txBox="1"/>
          <p:nvPr/>
        </p:nvSpPr>
        <p:spPr>
          <a:xfrm>
            <a:off x="355600" y="5029200"/>
            <a:ext cx="5461000" cy="229870"/>
          </a:xfrm>
          <a:prstGeom prst="rect">
            <a:avLst/>
          </a:prstGeom>
          <a:noFill/>
        </p:spPr>
        <p:txBody>
          <a:bodyPr wrap="square" rtlCol="0" anchor="t">
            <a:spAutoFit/>
          </a:bodyPr>
          <a:p>
            <a:pPr algn="l"/>
            <a:r>
              <a:rPr lang="en-US" sz="900">
                <a:solidFill>
                  <a:srgbClr val="28374B"/>
                </a:solidFill>
              </a:rPr>
              <a:t>* Trend: Losing mindshare - an interception opportunity for CSXAI</a:t>
            </a:r>
            <a:endParaRPr lang="en-US" sz="900">
              <a:solidFill>
                <a:srgbClr val="28374B"/>
              </a:solidFill>
            </a:endParaRPr>
          </a:p>
        </p:txBody>
      </p:sp>
      <p:sp>
        <p:nvSpPr>
          <p:cNvPr id="38" name="Text Box 37"/>
          <p:cNvSpPr txBox="1"/>
          <p:nvPr/>
        </p:nvSpPr>
        <p:spPr>
          <a:xfrm>
            <a:off x="355600" y="5308600"/>
            <a:ext cx="5461000" cy="229870"/>
          </a:xfrm>
          <a:prstGeom prst="rect">
            <a:avLst/>
          </a:prstGeom>
          <a:noFill/>
        </p:spPr>
        <p:txBody>
          <a:bodyPr wrap="square" rtlCol="0" anchor="t">
            <a:spAutoFit/>
          </a:bodyPr>
          <a:p>
            <a:pPr algn="l"/>
            <a:r>
              <a:rPr lang="en-US" sz="900">
                <a:solidFill>
                  <a:srgbClr val="28374B"/>
                </a:solidFill>
              </a:rPr>
              <a:t>* Channels: LinkedIn + blog; paid media unclear</a:t>
            </a:r>
            <a:endParaRPr lang="en-US" sz="900">
              <a:solidFill>
                <a:srgbClr val="28374B"/>
              </a:solidFill>
            </a:endParaRPr>
          </a:p>
        </p:txBody>
      </p:sp>
      <p:sp>
        <p:nvSpPr>
          <p:cNvPr id="39" name="Rectangles 38"/>
          <p:cNvSpPr/>
          <p:nvPr/>
        </p:nvSpPr>
        <p:spPr>
          <a:xfrm>
            <a:off x="6248400" y="3683000"/>
            <a:ext cx="5715000" cy="2870200"/>
          </a:xfrm>
          <a:prstGeom prst="rect">
            <a:avLst/>
          </a:prstGeom>
          <a:solidFill>
            <a:srgbClr val="EBF4FF"/>
          </a:solidFill>
          <a:ln w="19050">
            <a:solidFill>
              <a:srgbClr val="1A6BB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0" name="Rectangles 39"/>
          <p:cNvSpPr/>
          <p:nvPr/>
        </p:nvSpPr>
        <p:spPr>
          <a:xfrm>
            <a:off x="6248400" y="3683000"/>
            <a:ext cx="5715000" cy="508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1" name="Text Box 40"/>
          <p:cNvSpPr txBox="1"/>
          <p:nvPr/>
        </p:nvSpPr>
        <p:spPr>
          <a:xfrm>
            <a:off x="6375400" y="3810000"/>
            <a:ext cx="3556000" cy="275590"/>
          </a:xfrm>
          <a:prstGeom prst="rect">
            <a:avLst/>
          </a:prstGeom>
          <a:noFill/>
        </p:spPr>
        <p:txBody>
          <a:bodyPr wrap="square" rtlCol="0" anchor="t">
            <a:spAutoFit/>
          </a:bodyPr>
          <a:p>
            <a:pPr algn="l"/>
            <a:r>
              <a:rPr lang="en-US" sz="1200" b="1">
                <a:solidFill>
                  <a:srgbClr val="0D1B2A"/>
                </a:solidFill>
              </a:rPr>
              <a:t>RETELL AI / SYNTHFLOW</a:t>
            </a:r>
            <a:endParaRPr lang="en-US" sz="1200" b="1">
              <a:solidFill>
                <a:srgbClr val="0D1B2A"/>
              </a:solidFill>
            </a:endParaRPr>
          </a:p>
        </p:txBody>
      </p:sp>
      <p:sp>
        <p:nvSpPr>
          <p:cNvPr id="42" name="Rectangles 41"/>
          <p:cNvSpPr/>
          <p:nvPr/>
        </p:nvSpPr>
        <p:spPr>
          <a:xfrm>
            <a:off x="9994900" y="3784600"/>
            <a:ext cx="1841500" cy="2286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3" name="Text Box 42"/>
          <p:cNvSpPr txBox="1"/>
          <p:nvPr/>
        </p:nvSpPr>
        <p:spPr>
          <a:xfrm>
            <a:off x="9994900" y="3784600"/>
            <a:ext cx="1841500" cy="213995"/>
          </a:xfrm>
          <a:prstGeom prst="rect">
            <a:avLst/>
          </a:prstGeom>
          <a:noFill/>
        </p:spPr>
        <p:txBody>
          <a:bodyPr wrap="square" rtlCol="0" anchor="ctr">
            <a:spAutoFit/>
          </a:bodyPr>
          <a:p>
            <a:pPr algn="ctr"/>
            <a:r>
              <a:rPr lang="en-US" sz="800" b="1">
                <a:solidFill>
                  <a:srgbClr val="FFFFFF"/>
                </a:solidFill>
              </a:rPr>
              <a:t>Adjacent - Not Direct</a:t>
            </a:r>
            <a:endParaRPr lang="en-US" sz="800" b="1">
              <a:solidFill>
                <a:srgbClr val="FFFFFF"/>
              </a:solidFill>
            </a:endParaRPr>
          </a:p>
        </p:txBody>
      </p:sp>
      <p:sp>
        <p:nvSpPr>
          <p:cNvPr id="44" name="Rectangles 43"/>
          <p:cNvSpPr/>
          <p:nvPr/>
        </p:nvSpPr>
        <p:spPr>
          <a:xfrm>
            <a:off x="6375400" y="4089400"/>
            <a:ext cx="5461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5" name="Text Box 44"/>
          <p:cNvSpPr txBox="1"/>
          <p:nvPr/>
        </p:nvSpPr>
        <p:spPr>
          <a:xfrm>
            <a:off x="6375400" y="4191000"/>
            <a:ext cx="5461000" cy="229870"/>
          </a:xfrm>
          <a:prstGeom prst="rect">
            <a:avLst/>
          </a:prstGeom>
          <a:noFill/>
        </p:spPr>
        <p:txBody>
          <a:bodyPr wrap="square" rtlCol="0" anchor="t">
            <a:spAutoFit/>
          </a:bodyPr>
          <a:p>
            <a:pPr algn="l"/>
            <a:r>
              <a:rPr lang="en-US" sz="900">
                <a:solidFill>
                  <a:srgbClr val="28374B"/>
                </a:solidFill>
              </a:rPr>
              <a:t>* Retell AI: Developer infrastructure / $0.07/min / API-first</a:t>
            </a:r>
            <a:endParaRPr lang="en-US" sz="900">
              <a:solidFill>
                <a:srgbClr val="28374B"/>
              </a:solidFill>
            </a:endParaRPr>
          </a:p>
        </p:txBody>
      </p:sp>
      <p:sp>
        <p:nvSpPr>
          <p:cNvPr id="46" name="Text Box 45"/>
          <p:cNvSpPr txBox="1"/>
          <p:nvPr/>
        </p:nvSpPr>
        <p:spPr>
          <a:xfrm>
            <a:off x="6375400" y="4470400"/>
            <a:ext cx="5461000" cy="229870"/>
          </a:xfrm>
          <a:prstGeom prst="rect">
            <a:avLst/>
          </a:prstGeom>
          <a:noFill/>
        </p:spPr>
        <p:txBody>
          <a:bodyPr wrap="square" rtlCol="0" anchor="t">
            <a:spAutoFit/>
          </a:bodyPr>
          <a:p>
            <a:pPr algn="l"/>
            <a:r>
              <a:rPr lang="en-US" sz="900">
                <a:solidFill>
                  <a:srgbClr val="28374B"/>
                </a:solidFill>
              </a:rPr>
              <a:t>* Synthflow: No-code builder / individual real estate agents / SMBs</a:t>
            </a:r>
            <a:endParaRPr lang="en-US" sz="900">
              <a:solidFill>
                <a:srgbClr val="28374B"/>
              </a:solidFill>
            </a:endParaRPr>
          </a:p>
        </p:txBody>
      </p:sp>
      <p:sp>
        <p:nvSpPr>
          <p:cNvPr id="47" name="Text Box 46"/>
          <p:cNvSpPr txBox="1"/>
          <p:nvPr/>
        </p:nvSpPr>
        <p:spPr>
          <a:xfrm>
            <a:off x="6375400" y="4749800"/>
            <a:ext cx="5461000" cy="229870"/>
          </a:xfrm>
          <a:prstGeom prst="rect">
            <a:avLst/>
          </a:prstGeom>
          <a:noFill/>
        </p:spPr>
        <p:txBody>
          <a:bodyPr wrap="square" rtlCol="0" anchor="t">
            <a:spAutoFit/>
          </a:bodyPr>
          <a:p>
            <a:pPr algn="l"/>
            <a:r>
              <a:rPr lang="en-US" sz="900">
                <a:solidFill>
                  <a:srgbClr val="28374B"/>
                </a:solidFill>
              </a:rPr>
              <a:t>* Not competing at CSXAI institutional / enterprise level</a:t>
            </a:r>
            <a:endParaRPr lang="en-US" sz="900">
              <a:solidFill>
                <a:srgbClr val="28374B"/>
              </a:solidFill>
            </a:endParaRPr>
          </a:p>
        </p:txBody>
      </p:sp>
      <p:sp>
        <p:nvSpPr>
          <p:cNvPr id="48" name="Text Box 47"/>
          <p:cNvSpPr txBox="1"/>
          <p:nvPr/>
        </p:nvSpPr>
        <p:spPr>
          <a:xfrm>
            <a:off x="6375400" y="5029200"/>
            <a:ext cx="5461000" cy="229870"/>
          </a:xfrm>
          <a:prstGeom prst="rect">
            <a:avLst/>
          </a:prstGeom>
          <a:noFill/>
        </p:spPr>
        <p:txBody>
          <a:bodyPr wrap="square" rtlCol="0" anchor="t">
            <a:spAutoFit/>
          </a:bodyPr>
          <a:p>
            <a:pPr algn="l"/>
            <a:r>
              <a:rPr lang="en-US" sz="900">
                <a:solidFill>
                  <a:srgbClr val="28374B"/>
                </a:solidFill>
              </a:rPr>
              <a:t>* Retell uses Google + LinkedIn Ads targeting developers</a:t>
            </a:r>
            <a:endParaRPr lang="en-US" sz="900">
              <a:solidFill>
                <a:srgbClr val="28374B"/>
              </a:solidFill>
            </a:endParaRPr>
          </a:p>
        </p:txBody>
      </p:sp>
      <p:sp>
        <p:nvSpPr>
          <p:cNvPr id="49" name="Text Box 48"/>
          <p:cNvSpPr txBox="1"/>
          <p:nvPr/>
        </p:nvSpPr>
        <p:spPr>
          <a:xfrm>
            <a:off x="6375400" y="5308600"/>
            <a:ext cx="5461000" cy="229870"/>
          </a:xfrm>
          <a:prstGeom prst="rect">
            <a:avLst/>
          </a:prstGeom>
          <a:noFill/>
        </p:spPr>
        <p:txBody>
          <a:bodyPr wrap="square" rtlCol="0" anchor="t">
            <a:spAutoFit/>
          </a:bodyPr>
          <a:p>
            <a:pPr algn="l"/>
            <a:r>
              <a:rPr lang="en-US" sz="900">
                <a:solidFill>
                  <a:srgbClr val="28374B"/>
                </a:solidFill>
              </a:rPr>
              <a:t>* Parloa (EU) most aggressive paid spend (~49% paid traffic) - best benchmark</a:t>
            </a:r>
            <a:endParaRPr lang="en-US" sz="900">
              <a:solidFill>
                <a:srgbClr val="28374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Competitor Messaging &amp; Paid Media - How They Communicate &amp; Convert</a:t>
            </a:r>
            <a:endParaRPr lang="en-US" sz="1400" b="1">
              <a:solidFill>
                <a:srgbClr val="FFFFFF"/>
              </a:solidFill>
            </a:endParaRPr>
          </a:p>
        </p:txBody>
      </p:sp>
      <p:sp>
        <p:nvSpPr>
          <p:cNvPr id="5" name="Rectangles 4"/>
          <p:cNvSpPr/>
          <p:nvPr/>
        </p:nvSpPr>
        <p:spPr>
          <a:xfrm>
            <a:off x="228600" y="711200"/>
            <a:ext cx="11938000" cy="330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254000" y="736600"/>
            <a:ext cx="1600200" cy="213995"/>
          </a:xfrm>
          <a:prstGeom prst="rect">
            <a:avLst/>
          </a:prstGeom>
          <a:noFill/>
        </p:spPr>
        <p:txBody>
          <a:bodyPr wrap="square" rtlCol="0" anchor="ctr">
            <a:spAutoFit/>
          </a:bodyPr>
          <a:p>
            <a:pPr algn="l"/>
            <a:r>
              <a:rPr lang="en-US" sz="800" b="1">
                <a:solidFill>
                  <a:srgbClr val="FFFFFF"/>
                </a:solidFill>
              </a:rPr>
              <a:t>Competitor</a:t>
            </a:r>
            <a:endParaRPr lang="en-US" sz="800" b="1">
              <a:solidFill>
                <a:srgbClr val="FFFFFF"/>
              </a:solidFill>
            </a:endParaRPr>
          </a:p>
        </p:txBody>
      </p:sp>
      <p:sp>
        <p:nvSpPr>
          <p:cNvPr id="7" name="Text Box 6"/>
          <p:cNvSpPr txBox="1"/>
          <p:nvPr/>
        </p:nvSpPr>
        <p:spPr>
          <a:xfrm>
            <a:off x="1905000" y="736600"/>
            <a:ext cx="2362200" cy="213995"/>
          </a:xfrm>
          <a:prstGeom prst="rect">
            <a:avLst/>
          </a:prstGeom>
          <a:noFill/>
        </p:spPr>
        <p:txBody>
          <a:bodyPr wrap="square" rtlCol="0" anchor="ctr">
            <a:spAutoFit/>
          </a:bodyPr>
          <a:p>
            <a:pPr algn="l"/>
            <a:r>
              <a:rPr lang="en-US" sz="800" b="1">
                <a:solidFill>
                  <a:srgbClr val="FFFFFF"/>
                </a:solidFill>
              </a:rPr>
              <a:t>Headline / Hook</a:t>
            </a:r>
            <a:endParaRPr lang="en-US" sz="800" b="1">
              <a:solidFill>
                <a:srgbClr val="FFFFFF"/>
              </a:solidFill>
            </a:endParaRPr>
          </a:p>
        </p:txBody>
      </p:sp>
      <p:sp>
        <p:nvSpPr>
          <p:cNvPr id="8" name="Text Box 7"/>
          <p:cNvSpPr txBox="1"/>
          <p:nvPr/>
        </p:nvSpPr>
        <p:spPr>
          <a:xfrm>
            <a:off x="4318000" y="736600"/>
            <a:ext cx="1727200" cy="213995"/>
          </a:xfrm>
          <a:prstGeom prst="rect">
            <a:avLst/>
          </a:prstGeom>
          <a:noFill/>
        </p:spPr>
        <p:txBody>
          <a:bodyPr wrap="square" rtlCol="0" anchor="ctr">
            <a:spAutoFit/>
          </a:bodyPr>
          <a:p>
            <a:pPr algn="l"/>
            <a:r>
              <a:rPr lang="en-US" sz="800" b="1">
                <a:solidFill>
                  <a:srgbClr val="FFFFFF"/>
                </a:solidFill>
              </a:rPr>
              <a:t>Key Metric Used</a:t>
            </a:r>
            <a:endParaRPr lang="en-US" sz="800" b="1">
              <a:solidFill>
                <a:srgbClr val="FFFFFF"/>
              </a:solidFill>
            </a:endParaRPr>
          </a:p>
        </p:txBody>
      </p:sp>
      <p:sp>
        <p:nvSpPr>
          <p:cNvPr id="9" name="Text Box 8"/>
          <p:cNvSpPr txBox="1"/>
          <p:nvPr/>
        </p:nvSpPr>
        <p:spPr>
          <a:xfrm>
            <a:off x="6096000" y="736600"/>
            <a:ext cx="1600200" cy="213995"/>
          </a:xfrm>
          <a:prstGeom prst="rect">
            <a:avLst/>
          </a:prstGeom>
          <a:noFill/>
        </p:spPr>
        <p:txBody>
          <a:bodyPr wrap="square" rtlCol="0" anchor="ctr">
            <a:spAutoFit/>
          </a:bodyPr>
          <a:p>
            <a:pPr algn="l"/>
            <a:r>
              <a:rPr lang="en-US" sz="800" b="1">
                <a:solidFill>
                  <a:srgbClr val="FFFFFF"/>
                </a:solidFill>
              </a:rPr>
              <a:t>Primary CTA</a:t>
            </a:r>
            <a:endParaRPr lang="en-US" sz="800" b="1">
              <a:solidFill>
                <a:srgbClr val="FFFFFF"/>
              </a:solidFill>
            </a:endParaRPr>
          </a:p>
        </p:txBody>
      </p:sp>
      <p:sp>
        <p:nvSpPr>
          <p:cNvPr id="10" name="Text Box 9"/>
          <p:cNvSpPr txBox="1"/>
          <p:nvPr/>
        </p:nvSpPr>
        <p:spPr>
          <a:xfrm>
            <a:off x="7747000" y="736600"/>
            <a:ext cx="1981200" cy="213995"/>
          </a:xfrm>
          <a:prstGeom prst="rect">
            <a:avLst/>
          </a:prstGeom>
          <a:noFill/>
        </p:spPr>
        <p:txBody>
          <a:bodyPr wrap="square" rtlCol="0" anchor="ctr">
            <a:spAutoFit/>
          </a:bodyPr>
          <a:p>
            <a:pPr algn="l"/>
            <a:r>
              <a:rPr lang="en-US" sz="800" b="1">
                <a:solidFill>
                  <a:srgbClr val="FFFFFF"/>
                </a:solidFill>
              </a:rPr>
              <a:t>Paid Media Activity</a:t>
            </a:r>
            <a:endParaRPr lang="en-US" sz="800" b="1">
              <a:solidFill>
                <a:srgbClr val="FFFFFF"/>
              </a:solidFill>
            </a:endParaRPr>
          </a:p>
        </p:txBody>
      </p:sp>
      <p:sp>
        <p:nvSpPr>
          <p:cNvPr id="11" name="Text Box 10"/>
          <p:cNvSpPr txBox="1"/>
          <p:nvPr/>
        </p:nvSpPr>
        <p:spPr>
          <a:xfrm>
            <a:off x="9779000" y="736600"/>
            <a:ext cx="2362200" cy="213995"/>
          </a:xfrm>
          <a:prstGeom prst="rect">
            <a:avLst/>
          </a:prstGeom>
          <a:noFill/>
        </p:spPr>
        <p:txBody>
          <a:bodyPr wrap="square" rtlCol="0" anchor="ctr">
            <a:spAutoFit/>
          </a:bodyPr>
          <a:p>
            <a:pPr algn="l"/>
            <a:r>
              <a:rPr lang="en-US" sz="800" b="1">
                <a:solidFill>
                  <a:srgbClr val="FFFFFF"/>
                </a:solidFill>
              </a:rPr>
              <a:t>Positioning Angle</a:t>
            </a:r>
            <a:endParaRPr lang="en-US" sz="800" b="1">
              <a:solidFill>
                <a:srgbClr val="FFFFFF"/>
              </a:solidFill>
            </a:endParaRPr>
          </a:p>
        </p:txBody>
      </p:sp>
      <p:sp>
        <p:nvSpPr>
          <p:cNvPr id="12" name="Rectangles 11"/>
          <p:cNvSpPr/>
          <p:nvPr/>
        </p:nvSpPr>
        <p:spPr>
          <a:xfrm>
            <a:off x="228600" y="1041400"/>
            <a:ext cx="11938000" cy="609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3" name="Rectangles 12"/>
          <p:cNvSpPr/>
          <p:nvPr/>
        </p:nvSpPr>
        <p:spPr>
          <a:xfrm>
            <a:off x="228600" y="1638300"/>
            <a:ext cx="11938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4" name="Text Box 13"/>
          <p:cNvSpPr txBox="1"/>
          <p:nvPr/>
        </p:nvSpPr>
        <p:spPr>
          <a:xfrm>
            <a:off x="254000" y="1066800"/>
            <a:ext cx="1600200" cy="213995"/>
          </a:xfrm>
          <a:prstGeom prst="rect">
            <a:avLst/>
          </a:prstGeom>
          <a:noFill/>
        </p:spPr>
        <p:txBody>
          <a:bodyPr wrap="square" rtlCol="0" anchor="t">
            <a:spAutoFit/>
          </a:bodyPr>
          <a:p>
            <a:pPr algn="l"/>
            <a:r>
              <a:rPr lang="en-US" sz="800">
                <a:solidFill>
                  <a:srgbClr val="19283C"/>
                </a:solidFill>
              </a:rPr>
              <a:t>Eltropy</a:t>
            </a:r>
            <a:endParaRPr lang="en-US" sz="800">
              <a:solidFill>
                <a:srgbClr val="19283C"/>
              </a:solidFill>
            </a:endParaRPr>
          </a:p>
        </p:txBody>
      </p:sp>
      <p:sp>
        <p:nvSpPr>
          <p:cNvPr id="15" name="Text Box 14"/>
          <p:cNvSpPr txBox="1"/>
          <p:nvPr/>
        </p:nvSpPr>
        <p:spPr>
          <a:xfrm>
            <a:off x="1905000" y="1066800"/>
            <a:ext cx="2362200" cy="213995"/>
          </a:xfrm>
          <a:prstGeom prst="rect">
            <a:avLst/>
          </a:prstGeom>
          <a:noFill/>
        </p:spPr>
        <p:txBody>
          <a:bodyPr wrap="square" rtlCol="0" anchor="t">
            <a:spAutoFit/>
          </a:bodyPr>
          <a:p>
            <a:pPr algn="l"/>
            <a:r>
              <a:rPr lang="en-US" sz="800">
                <a:solidFill>
                  <a:srgbClr val="19283C"/>
                </a:solidFill>
              </a:rPr>
              <a:t>"The AI Platform Community FIs Trust"</a:t>
            </a:r>
            <a:endParaRPr lang="en-US" sz="800">
              <a:solidFill>
                <a:srgbClr val="19283C"/>
              </a:solidFill>
            </a:endParaRPr>
          </a:p>
        </p:txBody>
      </p:sp>
      <p:sp>
        <p:nvSpPr>
          <p:cNvPr id="16" name="Text Box 15"/>
          <p:cNvSpPr txBox="1"/>
          <p:nvPr/>
        </p:nvSpPr>
        <p:spPr>
          <a:xfrm>
            <a:off x="4318000" y="1066800"/>
            <a:ext cx="1727200" cy="337185"/>
          </a:xfrm>
          <a:prstGeom prst="rect">
            <a:avLst/>
          </a:prstGeom>
          <a:noFill/>
        </p:spPr>
        <p:txBody>
          <a:bodyPr wrap="square" rtlCol="0" anchor="t">
            <a:spAutoFit/>
          </a:bodyPr>
          <a:p>
            <a:pPr algn="l"/>
            <a:r>
              <a:rPr lang="en-US" sz="800">
                <a:solidFill>
                  <a:srgbClr val="19283C"/>
                </a:solidFill>
              </a:rPr>
              <a:t>83% call containment / 1,200 digital leads/client/mo</a:t>
            </a:r>
            <a:endParaRPr lang="en-US" sz="800">
              <a:solidFill>
                <a:srgbClr val="19283C"/>
              </a:solidFill>
            </a:endParaRPr>
          </a:p>
        </p:txBody>
      </p:sp>
      <p:sp>
        <p:nvSpPr>
          <p:cNvPr id="17" name="Text Box 16"/>
          <p:cNvSpPr txBox="1"/>
          <p:nvPr/>
        </p:nvSpPr>
        <p:spPr>
          <a:xfrm>
            <a:off x="6096000" y="1066800"/>
            <a:ext cx="1600200" cy="213995"/>
          </a:xfrm>
          <a:prstGeom prst="rect">
            <a:avLst/>
          </a:prstGeom>
          <a:noFill/>
        </p:spPr>
        <p:txBody>
          <a:bodyPr wrap="square" rtlCol="0" anchor="t">
            <a:spAutoFit/>
          </a:bodyPr>
          <a:p>
            <a:pPr algn="l"/>
            <a:r>
              <a:rPr lang="en-US" sz="800">
                <a:solidFill>
                  <a:srgbClr val="19283C"/>
                </a:solidFill>
              </a:rPr>
              <a:t>Schedule a Demo</a:t>
            </a:r>
            <a:endParaRPr lang="en-US" sz="800">
              <a:solidFill>
                <a:srgbClr val="19283C"/>
              </a:solidFill>
            </a:endParaRPr>
          </a:p>
        </p:txBody>
      </p:sp>
      <p:sp>
        <p:nvSpPr>
          <p:cNvPr id="18" name="Text Box 17"/>
          <p:cNvSpPr txBox="1"/>
          <p:nvPr/>
        </p:nvSpPr>
        <p:spPr>
          <a:xfrm>
            <a:off x="7747000" y="1066800"/>
            <a:ext cx="1981200" cy="337185"/>
          </a:xfrm>
          <a:prstGeom prst="rect">
            <a:avLst/>
          </a:prstGeom>
          <a:noFill/>
        </p:spPr>
        <p:txBody>
          <a:bodyPr wrap="square" rtlCol="0" anchor="t">
            <a:spAutoFit/>
          </a:bodyPr>
          <a:p>
            <a:pPr algn="l"/>
            <a:r>
              <a:rPr lang="en-US" sz="800">
                <a:solidFill>
                  <a:srgbClr val="19283C"/>
                </a:solidFill>
              </a:rPr>
              <a:t>ZERO Google Ads paid search / LinkedIn Organic + SDR</a:t>
            </a:r>
            <a:endParaRPr lang="en-US" sz="800">
              <a:solidFill>
                <a:srgbClr val="19283C"/>
              </a:solidFill>
            </a:endParaRPr>
          </a:p>
        </p:txBody>
      </p:sp>
      <p:sp>
        <p:nvSpPr>
          <p:cNvPr id="19" name="Text Box 18"/>
          <p:cNvSpPr txBox="1"/>
          <p:nvPr/>
        </p:nvSpPr>
        <p:spPr>
          <a:xfrm>
            <a:off x="9779000" y="1066800"/>
            <a:ext cx="2362200" cy="213995"/>
          </a:xfrm>
          <a:prstGeom prst="rect">
            <a:avLst/>
          </a:prstGeom>
          <a:noFill/>
        </p:spPr>
        <p:txBody>
          <a:bodyPr wrap="square" rtlCol="0" anchor="t">
            <a:spAutoFit/>
          </a:bodyPr>
          <a:p>
            <a:pPr algn="l"/>
            <a:r>
              <a:rPr lang="en-US" sz="800">
                <a:solidFill>
                  <a:srgbClr val="19283C"/>
                </a:solidFill>
              </a:rPr>
              <a:t>Efficiency + scale for community banks</a:t>
            </a:r>
            <a:endParaRPr lang="en-US" sz="800">
              <a:solidFill>
                <a:srgbClr val="19283C"/>
              </a:solidFill>
            </a:endParaRPr>
          </a:p>
        </p:txBody>
      </p:sp>
      <p:sp>
        <p:nvSpPr>
          <p:cNvPr id="20" name="Rectangles 19"/>
          <p:cNvSpPr/>
          <p:nvPr/>
        </p:nvSpPr>
        <p:spPr>
          <a:xfrm>
            <a:off x="228600" y="1651000"/>
            <a:ext cx="11938000" cy="609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1" name="Rectangles 20"/>
          <p:cNvSpPr/>
          <p:nvPr/>
        </p:nvSpPr>
        <p:spPr>
          <a:xfrm>
            <a:off x="228600" y="2247900"/>
            <a:ext cx="11938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Text Box 21"/>
          <p:cNvSpPr txBox="1"/>
          <p:nvPr/>
        </p:nvSpPr>
        <p:spPr>
          <a:xfrm>
            <a:off x="254000" y="1676400"/>
            <a:ext cx="1600200" cy="213995"/>
          </a:xfrm>
          <a:prstGeom prst="rect">
            <a:avLst/>
          </a:prstGeom>
          <a:noFill/>
        </p:spPr>
        <p:txBody>
          <a:bodyPr wrap="square" rtlCol="0" anchor="t">
            <a:spAutoFit/>
          </a:bodyPr>
          <a:p>
            <a:pPr algn="l"/>
            <a:r>
              <a:rPr lang="en-US" sz="800">
                <a:solidFill>
                  <a:srgbClr val="19283C"/>
                </a:solidFill>
              </a:rPr>
              <a:t>Glia</a:t>
            </a:r>
            <a:endParaRPr lang="en-US" sz="800">
              <a:solidFill>
                <a:srgbClr val="19283C"/>
              </a:solidFill>
            </a:endParaRPr>
          </a:p>
        </p:txBody>
      </p:sp>
      <p:sp>
        <p:nvSpPr>
          <p:cNvPr id="23" name="Text Box 22"/>
          <p:cNvSpPr txBox="1"/>
          <p:nvPr/>
        </p:nvSpPr>
        <p:spPr>
          <a:xfrm>
            <a:off x="1905000" y="1676400"/>
            <a:ext cx="2362200" cy="213995"/>
          </a:xfrm>
          <a:prstGeom prst="rect">
            <a:avLst/>
          </a:prstGeom>
          <a:noFill/>
        </p:spPr>
        <p:txBody>
          <a:bodyPr wrap="square" rtlCol="0" anchor="t">
            <a:spAutoFit/>
          </a:bodyPr>
          <a:p>
            <a:pPr algn="l"/>
            <a:r>
              <a:rPr lang="en-US" sz="800">
                <a:solidFill>
                  <a:srgbClr val="19283C"/>
                </a:solidFill>
              </a:rPr>
              <a:t>"End Efficiency vs. Experience Tradeoff"</a:t>
            </a:r>
            <a:endParaRPr lang="en-US" sz="800">
              <a:solidFill>
                <a:srgbClr val="19283C"/>
              </a:solidFill>
            </a:endParaRPr>
          </a:p>
        </p:txBody>
      </p:sp>
      <p:sp>
        <p:nvSpPr>
          <p:cNvPr id="24" name="Text Box 23"/>
          <p:cNvSpPr txBox="1"/>
          <p:nvPr/>
        </p:nvSpPr>
        <p:spPr>
          <a:xfrm>
            <a:off x="4318000" y="1676400"/>
            <a:ext cx="1727200" cy="337185"/>
          </a:xfrm>
          <a:prstGeom prst="rect">
            <a:avLst/>
          </a:prstGeom>
          <a:noFill/>
        </p:spPr>
        <p:txBody>
          <a:bodyPr wrap="square" rtlCol="0" anchor="t">
            <a:spAutoFit/>
          </a:bodyPr>
          <a:p>
            <a:pPr algn="l"/>
            <a:r>
              <a:rPr lang="en-US" sz="800">
                <a:solidFill>
                  <a:srgbClr val="19283C"/>
                </a:solidFill>
              </a:rPr>
              <a:t>"Handle 2x more calls without hiring"</a:t>
            </a:r>
            <a:endParaRPr lang="en-US" sz="800">
              <a:solidFill>
                <a:srgbClr val="19283C"/>
              </a:solidFill>
            </a:endParaRPr>
          </a:p>
        </p:txBody>
      </p:sp>
      <p:sp>
        <p:nvSpPr>
          <p:cNvPr id="25" name="Text Box 24"/>
          <p:cNvSpPr txBox="1"/>
          <p:nvPr/>
        </p:nvSpPr>
        <p:spPr>
          <a:xfrm>
            <a:off x="6096000" y="1676400"/>
            <a:ext cx="1600200" cy="337185"/>
          </a:xfrm>
          <a:prstGeom prst="rect">
            <a:avLst/>
          </a:prstGeom>
          <a:noFill/>
        </p:spPr>
        <p:txBody>
          <a:bodyPr wrap="square" rtlCol="0" anchor="t">
            <a:spAutoFit/>
          </a:bodyPr>
          <a:p>
            <a:pPr algn="l"/>
            <a:r>
              <a:rPr lang="en-US" sz="800">
                <a:solidFill>
                  <a:srgbClr val="19283C"/>
                </a:solidFill>
              </a:rPr>
              <a:t>See a Demo + Request Impact Study (ROI calculator)</a:t>
            </a:r>
            <a:endParaRPr lang="en-US" sz="800">
              <a:solidFill>
                <a:srgbClr val="19283C"/>
              </a:solidFill>
            </a:endParaRPr>
          </a:p>
        </p:txBody>
      </p:sp>
      <p:sp>
        <p:nvSpPr>
          <p:cNvPr id="26" name="Text Box 25"/>
          <p:cNvSpPr txBox="1"/>
          <p:nvPr/>
        </p:nvSpPr>
        <p:spPr>
          <a:xfrm>
            <a:off x="7747000" y="1676400"/>
            <a:ext cx="1981200" cy="337185"/>
          </a:xfrm>
          <a:prstGeom prst="rect">
            <a:avLst/>
          </a:prstGeom>
          <a:noFill/>
        </p:spPr>
        <p:txBody>
          <a:bodyPr wrap="square" rtlCol="0" anchor="t">
            <a:spAutoFit/>
          </a:bodyPr>
          <a:p>
            <a:pPr algn="l"/>
            <a:r>
              <a:rPr lang="en-US" sz="800">
                <a:solidFill>
                  <a:srgbClr val="19283C"/>
                </a:solidFill>
              </a:rPr>
              <a:t>LinkedIn Ads active / Minimal Google (~9% paid traffic)</a:t>
            </a:r>
            <a:endParaRPr lang="en-US" sz="800">
              <a:solidFill>
                <a:srgbClr val="19283C"/>
              </a:solidFill>
            </a:endParaRPr>
          </a:p>
        </p:txBody>
      </p:sp>
      <p:sp>
        <p:nvSpPr>
          <p:cNvPr id="27" name="Text Box 26"/>
          <p:cNvSpPr txBox="1"/>
          <p:nvPr/>
        </p:nvSpPr>
        <p:spPr>
          <a:xfrm>
            <a:off x="9779000" y="1676400"/>
            <a:ext cx="2362200" cy="213995"/>
          </a:xfrm>
          <a:prstGeom prst="rect">
            <a:avLst/>
          </a:prstGeom>
          <a:noFill/>
        </p:spPr>
        <p:txBody>
          <a:bodyPr wrap="square" rtlCol="0" anchor="t">
            <a:spAutoFit/>
          </a:bodyPr>
          <a:p>
            <a:pPr algn="l"/>
            <a:r>
              <a:rPr lang="en-US" sz="800">
                <a:solidFill>
                  <a:srgbClr val="19283C"/>
                </a:solidFill>
              </a:rPr>
              <a:t>Efficiency + experience / no-hallucination guarantee</a:t>
            </a:r>
            <a:endParaRPr lang="en-US" sz="800">
              <a:solidFill>
                <a:srgbClr val="19283C"/>
              </a:solidFill>
            </a:endParaRPr>
          </a:p>
        </p:txBody>
      </p:sp>
      <p:sp>
        <p:nvSpPr>
          <p:cNvPr id="28" name="Rectangles 27"/>
          <p:cNvSpPr/>
          <p:nvPr/>
        </p:nvSpPr>
        <p:spPr>
          <a:xfrm>
            <a:off x="228600" y="2260600"/>
            <a:ext cx="11938000" cy="609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9" name="Rectangles 28"/>
          <p:cNvSpPr/>
          <p:nvPr/>
        </p:nvSpPr>
        <p:spPr>
          <a:xfrm>
            <a:off x="228600" y="2857500"/>
            <a:ext cx="11938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0" name="Text Box 29"/>
          <p:cNvSpPr txBox="1"/>
          <p:nvPr/>
        </p:nvSpPr>
        <p:spPr>
          <a:xfrm>
            <a:off x="254000" y="2286000"/>
            <a:ext cx="1600200" cy="213995"/>
          </a:xfrm>
          <a:prstGeom prst="rect">
            <a:avLst/>
          </a:prstGeom>
          <a:noFill/>
        </p:spPr>
        <p:txBody>
          <a:bodyPr wrap="square" rtlCol="0" anchor="t">
            <a:spAutoFit/>
          </a:bodyPr>
          <a:p>
            <a:pPr algn="l"/>
            <a:r>
              <a:rPr lang="en-US" sz="800">
                <a:solidFill>
                  <a:srgbClr val="19283C"/>
                </a:solidFill>
              </a:rPr>
              <a:t>Kasisto</a:t>
            </a:r>
            <a:endParaRPr lang="en-US" sz="800">
              <a:solidFill>
                <a:srgbClr val="19283C"/>
              </a:solidFill>
            </a:endParaRPr>
          </a:p>
        </p:txBody>
      </p:sp>
      <p:sp>
        <p:nvSpPr>
          <p:cNvPr id="31" name="Text Box 30"/>
          <p:cNvSpPr txBox="1"/>
          <p:nvPr/>
        </p:nvSpPr>
        <p:spPr>
          <a:xfrm>
            <a:off x="1905000" y="2286000"/>
            <a:ext cx="2362200" cy="213995"/>
          </a:xfrm>
          <a:prstGeom prst="rect">
            <a:avLst/>
          </a:prstGeom>
          <a:noFill/>
        </p:spPr>
        <p:txBody>
          <a:bodyPr wrap="square" rtlCol="0" anchor="t">
            <a:spAutoFit/>
          </a:bodyPr>
          <a:p>
            <a:pPr algn="l"/>
            <a:r>
              <a:rPr lang="en-US" sz="800">
                <a:solidFill>
                  <a:srgbClr val="19283C"/>
                </a:solidFill>
              </a:rPr>
              <a:t>"1,000+ Banking Tasks Out of the Box"</a:t>
            </a:r>
            <a:endParaRPr lang="en-US" sz="800">
              <a:solidFill>
                <a:srgbClr val="19283C"/>
              </a:solidFill>
            </a:endParaRPr>
          </a:p>
        </p:txBody>
      </p:sp>
      <p:sp>
        <p:nvSpPr>
          <p:cNvPr id="32" name="Text Box 31"/>
          <p:cNvSpPr txBox="1"/>
          <p:nvPr/>
        </p:nvSpPr>
        <p:spPr>
          <a:xfrm>
            <a:off x="4318000" y="2286000"/>
            <a:ext cx="1727200" cy="337185"/>
          </a:xfrm>
          <a:prstGeom prst="rect">
            <a:avLst/>
          </a:prstGeom>
          <a:noFill/>
        </p:spPr>
        <p:txBody>
          <a:bodyPr wrap="square" rtlCol="0" anchor="t">
            <a:spAutoFit/>
          </a:bodyPr>
          <a:p>
            <a:pPr algn="l"/>
            <a:r>
              <a:rPr lang="en-US" sz="800">
                <a:solidFill>
                  <a:srgbClr val="19283C"/>
                </a:solidFill>
              </a:rPr>
              <a:t>Task breadth + banking-specific capabilities</a:t>
            </a:r>
            <a:endParaRPr lang="en-US" sz="800">
              <a:solidFill>
                <a:srgbClr val="19283C"/>
              </a:solidFill>
            </a:endParaRPr>
          </a:p>
        </p:txBody>
      </p:sp>
      <p:sp>
        <p:nvSpPr>
          <p:cNvPr id="33" name="Text Box 32"/>
          <p:cNvSpPr txBox="1"/>
          <p:nvPr/>
        </p:nvSpPr>
        <p:spPr>
          <a:xfrm>
            <a:off x="6096000" y="2286000"/>
            <a:ext cx="1600200" cy="213995"/>
          </a:xfrm>
          <a:prstGeom prst="rect">
            <a:avLst/>
          </a:prstGeom>
          <a:noFill/>
        </p:spPr>
        <p:txBody>
          <a:bodyPr wrap="square" rtlCol="0" anchor="t">
            <a:spAutoFit/>
          </a:bodyPr>
          <a:p>
            <a:pPr algn="l"/>
            <a:r>
              <a:rPr lang="en-US" sz="800">
                <a:solidFill>
                  <a:srgbClr val="19283C"/>
                </a:solidFill>
              </a:rPr>
              <a:t>Get a Demo</a:t>
            </a:r>
            <a:endParaRPr lang="en-US" sz="800">
              <a:solidFill>
                <a:srgbClr val="19283C"/>
              </a:solidFill>
            </a:endParaRPr>
          </a:p>
        </p:txBody>
      </p:sp>
      <p:sp>
        <p:nvSpPr>
          <p:cNvPr id="34" name="Text Box 33"/>
          <p:cNvSpPr txBox="1"/>
          <p:nvPr/>
        </p:nvSpPr>
        <p:spPr>
          <a:xfrm>
            <a:off x="7747000" y="2286000"/>
            <a:ext cx="1981200" cy="337185"/>
          </a:xfrm>
          <a:prstGeom prst="rect">
            <a:avLst/>
          </a:prstGeom>
          <a:noFill/>
        </p:spPr>
        <p:txBody>
          <a:bodyPr wrap="square" rtlCol="0" anchor="t">
            <a:spAutoFit/>
          </a:bodyPr>
          <a:p>
            <a:pPr algn="l"/>
            <a:r>
              <a:rPr lang="en-US" sz="800">
                <a:solidFill>
                  <a:srgbClr val="19283C"/>
                </a:solidFill>
              </a:rPr>
              <a:t>Paid media evidence unclear / LinkedIn present</a:t>
            </a:r>
            <a:endParaRPr lang="en-US" sz="800">
              <a:solidFill>
                <a:srgbClr val="19283C"/>
              </a:solidFill>
            </a:endParaRPr>
          </a:p>
        </p:txBody>
      </p:sp>
      <p:sp>
        <p:nvSpPr>
          <p:cNvPr id="35" name="Text Box 34"/>
          <p:cNvSpPr txBox="1"/>
          <p:nvPr/>
        </p:nvSpPr>
        <p:spPr>
          <a:xfrm>
            <a:off x="9779000" y="2286000"/>
            <a:ext cx="2362200" cy="213995"/>
          </a:xfrm>
          <a:prstGeom prst="rect">
            <a:avLst/>
          </a:prstGeom>
          <a:noFill/>
        </p:spPr>
        <p:txBody>
          <a:bodyPr wrap="square" rtlCol="0" anchor="t">
            <a:spAutoFit/>
          </a:bodyPr>
          <a:p>
            <a:pPr algn="l"/>
            <a:r>
              <a:rPr lang="en-US" sz="800">
                <a:solidFill>
                  <a:srgbClr val="19283C"/>
                </a:solidFill>
              </a:rPr>
              <a:t>Technical depth / enterprise banking AI</a:t>
            </a:r>
            <a:endParaRPr lang="en-US" sz="800">
              <a:solidFill>
                <a:srgbClr val="19283C"/>
              </a:solidFill>
            </a:endParaRPr>
          </a:p>
        </p:txBody>
      </p:sp>
      <p:sp>
        <p:nvSpPr>
          <p:cNvPr id="36" name="Rectangles 35"/>
          <p:cNvSpPr/>
          <p:nvPr/>
        </p:nvSpPr>
        <p:spPr>
          <a:xfrm>
            <a:off x="228600" y="2870200"/>
            <a:ext cx="11938000" cy="609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7" name="Rectangles 36"/>
          <p:cNvSpPr/>
          <p:nvPr/>
        </p:nvSpPr>
        <p:spPr>
          <a:xfrm>
            <a:off x="228600" y="3467100"/>
            <a:ext cx="119380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8" name="Text Box 37"/>
          <p:cNvSpPr txBox="1"/>
          <p:nvPr/>
        </p:nvSpPr>
        <p:spPr>
          <a:xfrm>
            <a:off x="254000" y="2895600"/>
            <a:ext cx="1600200" cy="213995"/>
          </a:xfrm>
          <a:prstGeom prst="rect">
            <a:avLst/>
          </a:prstGeom>
          <a:noFill/>
        </p:spPr>
        <p:txBody>
          <a:bodyPr wrap="square" rtlCol="0" anchor="t">
            <a:spAutoFit/>
          </a:bodyPr>
          <a:p>
            <a:pPr algn="l"/>
            <a:r>
              <a:rPr lang="en-US" sz="800">
                <a:solidFill>
                  <a:srgbClr val="19283C"/>
                </a:solidFill>
              </a:rPr>
              <a:t>Retell AI</a:t>
            </a:r>
            <a:endParaRPr lang="en-US" sz="800">
              <a:solidFill>
                <a:srgbClr val="19283C"/>
              </a:solidFill>
            </a:endParaRPr>
          </a:p>
        </p:txBody>
      </p:sp>
      <p:sp>
        <p:nvSpPr>
          <p:cNvPr id="39" name="Text Box 38"/>
          <p:cNvSpPr txBox="1"/>
          <p:nvPr/>
        </p:nvSpPr>
        <p:spPr>
          <a:xfrm>
            <a:off x="1905000" y="2895600"/>
            <a:ext cx="2362200" cy="213995"/>
          </a:xfrm>
          <a:prstGeom prst="rect">
            <a:avLst/>
          </a:prstGeom>
          <a:noFill/>
        </p:spPr>
        <p:txBody>
          <a:bodyPr wrap="square" rtlCol="0" anchor="t">
            <a:spAutoFit/>
          </a:bodyPr>
          <a:p>
            <a:pPr algn="l"/>
            <a:r>
              <a:rPr lang="en-US" sz="800">
                <a:solidFill>
                  <a:srgbClr val="19283C"/>
                </a:solidFill>
              </a:rPr>
              <a:t>"Build voice AI at $0.07/min"</a:t>
            </a:r>
            <a:endParaRPr lang="en-US" sz="800">
              <a:solidFill>
                <a:srgbClr val="19283C"/>
              </a:solidFill>
            </a:endParaRPr>
          </a:p>
        </p:txBody>
      </p:sp>
      <p:sp>
        <p:nvSpPr>
          <p:cNvPr id="40" name="Text Box 39"/>
          <p:cNvSpPr txBox="1"/>
          <p:nvPr/>
        </p:nvSpPr>
        <p:spPr>
          <a:xfrm>
            <a:off x="4318000" y="2895600"/>
            <a:ext cx="1727200" cy="213995"/>
          </a:xfrm>
          <a:prstGeom prst="rect">
            <a:avLst/>
          </a:prstGeom>
          <a:noFill/>
        </p:spPr>
        <p:txBody>
          <a:bodyPr wrap="square" rtlCol="0" anchor="t">
            <a:spAutoFit/>
          </a:bodyPr>
          <a:p>
            <a:pPr algn="l"/>
            <a:r>
              <a:rPr lang="en-US" sz="800">
                <a:solidFill>
                  <a:srgbClr val="19283C"/>
                </a:solidFill>
              </a:rPr>
              <a:t>Cost per minute / speed to deploy</a:t>
            </a:r>
            <a:endParaRPr lang="en-US" sz="800">
              <a:solidFill>
                <a:srgbClr val="19283C"/>
              </a:solidFill>
            </a:endParaRPr>
          </a:p>
        </p:txBody>
      </p:sp>
      <p:sp>
        <p:nvSpPr>
          <p:cNvPr id="41" name="Text Box 40"/>
          <p:cNvSpPr txBox="1"/>
          <p:nvPr/>
        </p:nvSpPr>
        <p:spPr>
          <a:xfrm>
            <a:off x="6096000" y="2895600"/>
            <a:ext cx="1600200" cy="213995"/>
          </a:xfrm>
          <a:prstGeom prst="rect">
            <a:avLst/>
          </a:prstGeom>
          <a:noFill/>
        </p:spPr>
        <p:txBody>
          <a:bodyPr wrap="square" rtlCol="0" anchor="t">
            <a:spAutoFit/>
          </a:bodyPr>
          <a:p>
            <a:pPr algn="l"/>
            <a:r>
              <a:rPr lang="en-US" sz="800">
                <a:solidFill>
                  <a:srgbClr val="19283C"/>
                </a:solidFill>
              </a:rPr>
              <a:t>Start for Free / API Docs</a:t>
            </a:r>
            <a:endParaRPr lang="en-US" sz="800">
              <a:solidFill>
                <a:srgbClr val="19283C"/>
              </a:solidFill>
            </a:endParaRPr>
          </a:p>
        </p:txBody>
      </p:sp>
      <p:sp>
        <p:nvSpPr>
          <p:cNvPr id="42" name="Text Box 41"/>
          <p:cNvSpPr txBox="1"/>
          <p:nvPr/>
        </p:nvSpPr>
        <p:spPr>
          <a:xfrm>
            <a:off x="7747000" y="2895600"/>
            <a:ext cx="1981200" cy="213995"/>
          </a:xfrm>
          <a:prstGeom prst="rect">
            <a:avLst/>
          </a:prstGeom>
          <a:noFill/>
        </p:spPr>
        <p:txBody>
          <a:bodyPr wrap="square" rtlCol="0" anchor="t">
            <a:spAutoFit/>
          </a:bodyPr>
          <a:p>
            <a:pPr algn="l"/>
            <a:r>
              <a:rPr lang="en-US" sz="800">
                <a:solidFill>
                  <a:srgbClr val="19283C"/>
                </a:solidFill>
              </a:rPr>
              <a:t>Google Ads + LinkedIn targeting developers</a:t>
            </a:r>
            <a:endParaRPr lang="en-US" sz="800">
              <a:solidFill>
                <a:srgbClr val="19283C"/>
              </a:solidFill>
            </a:endParaRPr>
          </a:p>
        </p:txBody>
      </p:sp>
      <p:sp>
        <p:nvSpPr>
          <p:cNvPr id="43" name="Text Box 42"/>
          <p:cNvSpPr txBox="1"/>
          <p:nvPr/>
        </p:nvSpPr>
        <p:spPr>
          <a:xfrm>
            <a:off x="9779000" y="2895600"/>
            <a:ext cx="2362200" cy="213995"/>
          </a:xfrm>
          <a:prstGeom prst="rect">
            <a:avLst/>
          </a:prstGeom>
          <a:noFill/>
        </p:spPr>
        <p:txBody>
          <a:bodyPr wrap="square" rtlCol="0" anchor="t">
            <a:spAutoFit/>
          </a:bodyPr>
          <a:p>
            <a:pPr algn="l"/>
            <a:r>
              <a:rPr lang="en-US" sz="800">
                <a:solidFill>
                  <a:srgbClr val="19283C"/>
                </a:solidFill>
              </a:rPr>
              <a:t>Infrastructure price + speed / developer audience</a:t>
            </a:r>
            <a:endParaRPr lang="en-US" sz="800">
              <a:solidFill>
                <a:srgbClr val="19283C"/>
              </a:solidFill>
            </a:endParaRPr>
          </a:p>
        </p:txBody>
      </p:sp>
      <p:sp>
        <p:nvSpPr>
          <p:cNvPr id="44" name="Rectangles 43"/>
          <p:cNvSpPr/>
          <p:nvPr/>
        </p:nvSpPr>
        <p:spPr>
          <a:xfrm>
            <a:off x="228600" y="3632200"/>
            <a:ext cx="11938000" cy="457200"/>
          </a:xfrm>
          <a:prstGeom prst="rect">
            <a:avLst/>
          </a:prstGeom>
          <a:solidFill>
            <a:srgbClr val="1E283C"/>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5" name="Text Box 44"/>
          <p:cNvSpPr txBox="1"/>
          <p:nvPr/>
        </p:nvSpPr>
        <p:spPr>
          <a:xfrm>
            <a:off x="304800" y="3683000"/>
            <a:ext cx="11811000" cy="229870"/>
          </a:xfrm>
          <a:prstGeom prst="rect">
            <a:avLst/>
          </a:prstGeom>
          <a:noFill/>
        </p:spPr>
        <p:txBody>
          <a:bodyPr wrap="square" rtlCol="0" anchor="ctr">
            <a:spAutoFit/>
          </a:bodyPr>
          <a:p>
            <a:pPr algn="l"/>
            <a:r>
              <a:rPr lang="en-US" sz="900">
                <a:solidFill>
                  <a:srgbClr val="DCEBFF"/>
                </a:solidFill>
              </a:rPr>
              <a:t>Key Insight: All competitors lead with efficiency metrics - deflection rates, call volumes, task counts. None lead with empathy, experience quality, or compliance-first positioning.</a:t>
            </a:r>
            <a:endParaRPr lang="en-US" sz="900">
              <a:solidFill>
                <a:srgbClr val="DCEB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635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508000" y="228600"/>
            <a:ext cx="11176000" cy="368300"/>
          </a:xfrm>
          <a:prstGeom prst="rect">
            <a:avLst/>
          </a:prstGeom>
          <a:noFill/>
        </p:spPr>
        <p:txBody>
          <a:bodyPr wrap="square" rtlCol="0" anchor="ctr">
            <a:spAutoFit/>
          </a:bodyPr>
          <a:p>
            <a:pPr algn="l"/>
            <a:r>
              <a:rPr lang="en-US" b="1">
                <a:solidFill>
                  <a:srgbClr val="FFFFFF"/>
                </a:solidFill>
              </a:rPr>
              <a:t>The Unoccupied Position - CSXAI's Competitive Advantage</a:t>
            </a:r>
            <a:endParaRPr lang="en-US" b="1">
              <a:solidFill>
                <a:srgbClr val="FFFFFF"/>
              </a:solidFill>
            </a:endParaRPr>
          </a:p>
        </p:txBody>
      </p:sp>
      <p:sp>
        <p:nvSpPr>
          <p:cNvPr id="4" name="Rectangles 3"/>
          <p:cNvSpPr/>
          <p:nvPr/>
        </p:nvSpPr>
        <p:spPr>
          <a:xfrm>
            <a:off x="381000" y="736600"/>
            <a:ext cx="5588000" cy="3937000"/>
          </a:xfrm>
          <a:prstGeom prst="rect">
            <a:avLst/>
          </a:prstGeom>
          <a:solidFill>
            <a:srgbClr val="16263C"/>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 name="Rectangles 4"/>
          <p:cNvSpPr/>
          <p:nvPr/>
        </p:nvSpPr>
        <p:spPr>
          <a:xfrm>
            <a:off x="381000" y="736600"/>
            <a:ext cx="5588000" cy="508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508000" y="838200"/>
            <a:ext cx="5334000" cy="229870"/>
          </a:xfrm>
          <a:prstGeom prst="rect">
            <a:avLst/>
          </a:prstGeom>
          <a:noFill/>
        </p:spPr>
        <p:txBody>
          <a:bodyPr wrap="square" rtlCol="0" anchor="ctr">
            <a:spAutoFit/>
          </a:bodyPr>
          <a:p>
            <a:pPr algn="l"/>
            <a:r>
              <a:rPr lang="en-US" sz="900" b="1">
                <a:solidFill>
                  <a:srgbClr val="C85050"/>
                </a:solidFill>
              </a:rPr>
              <a:t>WHAT EVERY COMPETITOR LEADS WITH</a:t>
            </a:r>
            <a:endParaRPr lang="en-US" sz="900" b="1">
              <a:solidFill>
                <a:srgbClr val="C85050"/>
              </a:solidFill>
            </a:endParaRPr>
          </a:p>
        </p:txBody>
      </p:sp>
      <p:sp>
        <p:nvSpPr>
          <p:cNvPr id="7" name="Text Box 6"/>
          <p:cNvSpPr txBox="1"/>
          <p:nvPr/>
        </p:nvSpPr>
        <p:spPr>
          <a:xfrm>
            <a:off x="508000" y="1193800"/>
            <a:ext cx="5334000" cy="245110"/>
          </a:xfrm>
          <a:prstGeom prst="rect">
            <a:avLst/>
          </a:prstGeom>
          <a:noFill/>
        </p:spPr>
        <p:txBody>
          <a:bodyPr wrap="square" rtlCol="0" anchor="t">
            <a:spAutoFit/>
          </a:bodyPr>
          <a:p>
            <a:pPr algn="l"/>
            <a:r>
              <a:rPr lang="en-US" sz="1000">
                <a:solidFill>
                  <a:srgbClr val="D2DCEB"/>
                </a:solidFill>
              </a:rPr>
              <a:t>* "83% call containment"</a:t>
            </a:r>
            <a:endParaRPr lang="en-US" sz="1000">
              <a:solidFill>
                <a:srgbClr val="D2DCEB"/>
              </a:solidFill>
            </a:endParaRPr>
          </a:p>
        </p:txBody>
      </p:sp>
      <p:sp>
        <p:nvSpPr>
          <p:cNvPr id="8" name="Text Box 7"/>
          <p:cNvSpPr txBox="1"/>
          <p:nvPr/>
        </p:nvSpPr>
        <p:spPr>
          <a:xfrm>
            <a:off x="508000" y="1574800"/>
            <a:ext cx="5334000" cy="245110"/>
          </a:xfrm>
          <a:prstGeom prst="rect">
            <a:avLst/>
          </a:prstGeom>
          <a:noFill/>
        </p:spPr>
        <p:txBody>
          <a:bodyPr wrap="square" rtlCol="0" anchor="t">
            <a:spAutoFit/>
          </a:bodyPr>
          <a:p>
            <a:pPr algn="l"/>
            <a:r>
              <a:rPr lang="en-US" sz="1000">
                <a:solidFill>
                  <a:srgbClr val="D2DCEB"/>
                </a:solidFill>
              </a:rPr>
              <a:t>* "Handle 2x more calls without hiring"</a:t>
            </a:r>
            <a:endParaRPr lang="en-US" sz="1000">
              <a:solidFill>
                <a:srgbClr val="D2DCEB"/>
              </a:solidFill>
            </a:endParaRPr>
          </a:p>
        </p:txBody>
      </p:sp>
      <p:sp>
        <p:nvSpPr>
          <p:cNvPr id="9" name="Text Box 8"/>
          <p:cNvSpPr txBox="1"/>
          <p:nvPr/>
        </p:nvSpPr>
        <p:spPr>
          <a:xfrm>
            <a:off x="508000" y="1955800"/>
            <a:ext cx="5334000" cy="245110"/>
          </a:xfrm>
          <a:prstGeom prst="rect">
            <a:avLst/>
          </a:prstGeom>
          <a:noFill/>
        </p:spPr>
        <p:txBody>
          <a:bodyPr wrap="square" rtlCol="0" anchor="t">
            <a:spAutoFit/>
          </a:bodyPr>
          <a:p>
            <a:pPr algn="l"/>
            <a:r>
              <a:rPr lang="en-US" sz="1000">
                <a:solidFill>
                  <a:srgbClr val="D2DCEB"/>
                </a:solidFill>
              </a:rPr>
              <a:t>* "1,000+ banking tasks out of the box"</a:t>
            </a:r>
            <a:endParaRPr lang="en-US" sz="1000">
              <a:solidFill>
                <a:srgbClr val="D2DCEB"/>
              </a:solidFill>
            </a:endParaRPr>
          </a:p>
        </p:txBody>
      </p:sp>
      <p:sp>
        <p:nvSpPr>
          <p:cNvPr id="10" name="Text Box 9"/>
          <p:cNvSpPr txBox="1"/>
          <p:nvPr/>
        </p:nvSpPr>
        <p:spPr>
          <a:xfrm>
            <a:off x="508000" y="2336800"/>
            <a:ext cx="5334000" cy="245110"/>
          </a:xfrm>
          <a:prstGeom prst="rect">
            <a:avLst/>
          </a:prstGeom>
          <a:noFill/>
        </p:spPr>
        <p:txBody>
          <a:bodyPr wrap="square" rtlCol="0" anchor="t">
            <a:spAutoFit/>
          </a:bodyPr>
          <a:p>
            <a:pPr algn="l"/>
            <a:r>
              <a:rPr lang="en-US" sz="1000">
                <a:solidFill>
                  <a:srgbClr val="D2DCEB"/>
                </a:solidFill>
              </a:rPr>
              <a:t>* "Zero hallucinations - contractual guarantee"</a:t>
            </a:r>
            <a:endParaRPr lang="en-US" sz="1000">
              <a:solidFill>
                <a:srgbClr val="D2DCEB"/>
              </a:solidFill>
            </a:endParaRPr>
          </a:p>
        </p:txBody>
      </p:sp>
      <p:sp>
        <p:nvSpPr>
          <p:cNvPr id="11" name="Text Box 10"/>
          <p:cNvSpPr txBox="1"/>
          <p:nvPr/>
        </p:nvSpPr>
        <p:spPr>
          <a:xfrm>
            <a:off x="508000" y="2717800"/>
            <a:ext cx="5334000" cy="245110"/>
          </a:xfrm>
          <a:prstGeom prst="rect">
            <a:avLst/>
          </a:prstGeom>
          <a:noFill/>
        </p:spPr>
        <p:txBody>
          <a:bodyPr wrap="square" rtlCol="0" anchor="t">
            <a:spAutoFit/>
          </a:bodyPr>
          <a:p>
            <a:pPr algn="l"/>
            <a:r>
              <a:rPr lang="en-US" sz="1000">
                <a:solidFill>
                  <a:srgbClr val="D2DCEB"/>
                </a:solidFill>
              </a:rPr>
              <a:t>* Automation volume / deflection rates / cost reduction</a:t>
            </a:r>
            <a:endParaRPr lang="en-US" sz="1000">
              <a:solidFill>
                <a:srgbClr val="D2DCEB"/>
              </a:solidFill>
            </a:endParaRPr>
          </a:p>
        </p:txBody>
      </p:sp>
      <p:sp>
        <p:nvSpPr>
          <p:cNvPr id="12" name="Text Box 11"/>
          <p:cNvSpPr txBox="1"/>
          <p:nvPr/>
        </p:nvSpPr>
        <p:spPr>
          <a:xfrm>
            <a:off x="508000" y="3098800"/>
            <a:ext cx="5334000" cy="245110"/>
          </a:xfrm>
          <a:prstGeom prst="rect">
            <a:avLst/>
          </a:prstGeom>
          <a:noFill/>
        </p:spPr>
        <p:txBody>
          <a:bodyPr wrap="square" rtlCol="0" anchor="t">
            <a:spAutoFit/>
          </a:bodyPr>
          <a:p>
            <a:pPr algn="l"/>
            <a:r>
              <a:rPr lang="en-US" sz="1000">
                <a:solidFill>
                  <a:srgbClr val="D2DCEB"/>
                </a:solidFill>
              </a:rPr>
              <a:t>* Operational efficiency metrics dominate all messaging</a:t>
            </a:r>
            <a:endParaRPr lang="en-US" sz="1000">
              <a:solidFill>
                <a:srgbClr val="D2DCEB"/>
              </a:solidFill>
            </a:endParaRPr>
          </a:p>
        </p:txBody>
      </p:sp>
      <p:sp>
        <p:nvSpPr>
          <p:cNvPr id="13" name="Rectangles 12"/>
          <p:cNvSpPr/>
          <p:nvPr/>
        </p:nvSpPr>
        <p:spPr>
          <a:xfrm>
            <a:off x="6223000" y="736600"/>
            <a:ext cx="5588000" cy="3937000"/>
          </a:xfrm>
          <a:prstGeom prst="rect">
            <a:avLst/>
          </a:prstGeom>
          <a:solidFill>
            <a:srgbClr val="23321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4" name="Rectangles 13"/>
          <p:cNvSpPr/>
          <p:nvPr/>
        </p:nvSpPr>
        <p:spPr>
          <a:xfrm>
            <a:off x="6223000" y="736600"/>
            <a:ext cx="5588000" cy="508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5" name="Text Box 14"/>
          <p:cNvSpPr txBox="1"/>
          <p:nvPr/>
        </p:nvSpPr>
        <p:spPr>
          <a:xfrm>
            <a:off x="6350000" y="838200"/>
            <a:ext cx="5334000" cy="229870"/>
          </a:xfrm>
          <a:prstGeom prst="rect">
            <a:avLst/>
          </a:prstGeom>
          <a:noFill/>
        </p:spPr>
        <p:txBody>
          <a:bodyPr wrap="square" rtlCol="0" anchor="ctr">
            <a:spAutoFit/>
          </a:bodyPr>
          <a:p>
            <a:pPr algn="l"/>
            <a:r>
              <a:rPr lang="en-US" sz="900" b="1">
                <a:solidFill>
                  <a:srgbClr val="C9A840"/>
                </a:solidFill>
              </a:rPr>
              <a:t>WHAT NOBODY IS SAYING</a:t>
            </a:r>
            <a:endParaRPr lang="en-US" sz="900" b="1">
              <a:solidFill>
                <a:srgbClr val="C9A840"/>
              </a:solidFill>
            </a:endParaRPr>
          </a:p>
        </p:txBody>
      </p:sp>
      <p:sp>
        <p:nvSpPr>
          <p:cNvPr id="16" name="Text Box 15"/>
          <p:cNvSpPr txBox="1"/>
          <p:nvPr/>
        </p:nvSpPr>
        <p:spPr>
          <a:xfrm>
            <a:off x="6350000" y="1193800"/>
            <a:ext cx="5334000" cy="245110"/>
          </a:xfrm>
          <a:prstGeom prst="rect">
            <a:avLst/>
          </a:prstGeom>
          <a:noFill/>
        </p:spPr>
        <p:txBody>
          <a:bodyPr wrap="square" rtlCol="0" anchor="t">
            <a:spAutoFit/>
          </a:bodyPr>
          <a:p>
            <a:pPr algn="l"/>
            <a:r>
              <a:rPr lang="en-US" sz="1000">
                <a:solidFill>
                  <a:srgbClr val="EBF5D2"/>
                </a:solidFill>
              </a:rPr>
              <a:t>* Empathy detection as a measured outcome</a:t>
            </a:r>
            <a:endParaRPr lang="en-US" sz="1000">
              <a:solidFill>
                <a:srgbClr val="EBF5D2"/>
              </a:solidFill>
            </a:endParaRPr>
          </a:p>
        </p:txBody>
      </p:sp>
      <p:sp>
        <p:nvSpPr>
          <p:cNvPr id="17" name="Text Box 16"/>
          <p:cNvSpPr txBox="1"/>
          <p:nvPr/>
        </p:nvSpPr>
        <p:spPr>
          <a:xfrm>
            <a:off x="6350000" y="1574800"/>
            <a:ext cx="5334000" cy="245110"/>
          </a:xfrm>
          <a:prstGeom prst="rect">
            <a:avLst/>
          </a:prstGeom>
          <a:noFill/>
        </p:spPr>
        <p:txBody>
          <a:bodyPr wrap="square" rtlCol="0" anchor="t">
            <a:spAutoFit/>
          </a:bodyPr>
          <a:p>
            <a:pPr algn="l"/>
            <a:r>
              <a:rPr lang="en-US" sz="1000">
                <a:solidFill>
                  <a:srgbClr val="EBF5D2"/>
                </a:solidFill>
              </a:rPr>
              <a:t>* Customer / member experience quality - not just deflection</a:t>
            </a:r>
            <a:endParaRPr lang="en-US" sz="1000">
              <a:solidFill>
                <a:srgbClr val="EBF5D2"/>
              </a:solidFill>
            </a:endParaRPr>
          </a:p>
        </p:txBody>
      </p:sp>
      <p:sp>
        <p:nvSpPr>
          <p:cNvPr id="18" name="Text Box 17"/>
          <p:cNvSpPr txBox="1"/>
          <p:nvPr/>
        </p:nvSpPr>
        <p:spPr>
          <a:xfrm>
            <a:off x="6350000" y="1955800"/>
            <a:ext cx="5334000" cy="245110"/>
          </a:xfrm>
          <a:prstGeom prst="rect">
            <a:avLst/>
          </a:prstGeom>
          <a:noFill/>
        </p:spPr>
        <p:txBody>
          <a:bodyPr wrap="square" rtlCol="0" anchor="t">
            <a:spAutoFit/>
          </a:bodyPr>
          <a:p>
            <a:pPr algn="l"/>
            <a:r>
              <a:rPr lang="en-US" sz="1000">
                <a:solidFill>
                  <a:srgbClr val="EBF5D2"/>
                </a:solidFill>
              </a:rPr>
              <a:t>* Compliance-native architecture (not a bolt-on)</a:t>
            </a:r>
            <a:endParaRPr lang="en-US" sz="1000">
              <a:solidFill>
                <a:srgbClr val="EBF5D2"/>
              </a:solidFill>
            </a:endParaRPr>
          </a:p>
        </p:txBody>
      </p:sp>
      <p:sp>
        <p:nvSpPr>
          <p:cNvPr id="19" name="Text Box 18"/>
          <p:cNvSpPr txBox="1"/>
          <p:nvPr/>
        </p:nvSpPr>
        <p:spPr>
          <a:xfrm>
            <a:off x="6350000" y="2336800"/>
            <a:ext cx="5334000" cy="245110"/>
          </a:xfrm>
          <a:prstGeom prst="rect">
            <a:avLst/>
          </a:prstGeom>
          <a:noFill/>
        </p:spPr>
        <p:txBody>
          <a:bodyPr wrap="square" rtlCol="0" anchor="t">
            <a:spAutoFit/>
          </a:bodyPr>
          <a:p>
            <a:pPr algn="l"/>
            <a:r>
              <a:rPr lang="en-US" sz="1000">
                <a:solidFill>
                  <a:srgbClr val="EBF5D2"/>
                </a:solidFill>
              </a:rPr>
              <a:t>* Digital twin trained on your own brand voice</a:t>
            </a:r>
            <a:endParaRPr lang="en-US" sz="1000">
              <a:solidFill>
                <a:srgbClr val="EBF5D2"/>
              </a:solidFill>
            </a:endParaRPr>
          </a:p>
        </p:txBody>
      </p:sp>
      <p:sp>
        <p:nvSpPr>
          <p:cNvPr id="20" name="Text Box 19"/>
          <p:cNvSpPr txBox="1"/>
          <p:nvPr/>
        </p:nvSpPr>
        <p:spPr>
          <a:xfrm>
            <a:off x="6350000" y="2717800"/>
            <a:ext cx="5334000" cy="245110"/>
          </a:xfrm>
          <a:prstGeom prst="rect">
            <a:avLst/>
          </a:prstGeom>
          <a:noFill/>
        </p:spPr>
        <p:txBody>
          <a:bodyPr wrap="square" rtlCol="0" anchor="t">
            <a:spAutoFit/>
          </a:bodyPr>
          <a:p>
            <a:pPr algn="l"/>
            <a:r>
              <a:rPr lang="en-US" sz="1000">
                <a:solidFill>
                  <a:srgbClr val="EBF5D2"/>
                </a:solidFill>
              </a:rPr>
              <a:t>* "How well calls went - not just how many"</a:t>
            </a:r>
            <a:endParaRPr lang="en-US" sz="1000">
              <a:solidFill>
                <a:srgbClr val="EBF5D2"/>
              </a:solidFill>
            </a:endParaRPr>
          </a:p>
        </p:txBody>
      </p:sp>
      <p:sp>
        <p:nvSpPr>
          <p:cNvPr id="21" name="Text Box 20"/>
          <p:cNvSpPr txBox="1"/>
          <p:nvPr/>
        </p:nvSpPr>
        <p:spPr>
          <a:xfrm>
            <a:off x="6350000" y="3098800"/>
            <a:ext cx="5334000" cy="245110"/>
          </a:xfrm>
          <a:prstGeom prst="rect">
            <a:avLst/>
          </a:prstGeom>
          <a:noFill/>
        </p:spPr>
        <p:txBody>
          <a:bodyPr wrap="square" rtlCol="0" anchor="t">
            <a:spAutoFit/>
          </a:bodyPr>
          <a:p>
            <a:pPr algn="l"/>
            <a:r>
              <a:rPr lang="en-US" sz="1000">
                <a:solidFill>
                  <a:srgbClr val="EBF5D2"/>
                </a:solidFill>
              </a:rPr>
              <a:t>* Emotional + regulatory intelligence as lead positioning</a:t>
            </a:r>
            <a:endParaRPr lang="en-US" sz="1000">
              <a:solidFill>
                <a:srgbClr val="EBF5D2"/>
              </a:solidFill>
            </a:endParaRPr>
          </a:p>
        </p:txBody>
      </p:sp>
      <p:sp>
        <p:nvSpPr>
          <p:cNvPr id="22" name="Rectangles 21"/>
          <p:cNvSpPr/>
          <p:nvPr/>
        </p:nvSpPr>
        <p:spPr>
          <a:xfrm>
            <a:off x="381000" y="4826000"/>
            <a:ext cx="11430000" cy="1270000"/>
          </a:xfrm>
          <a:prstGeom prst="rect">
            <a:avLst/>
          </a:prstGeom>
          <a:solidFill>
            <a:srgbClr val="28230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3" name="Rectangles 22"/>
          <p:cNvSpPr/>
          <p:nvPr/>
        </p:nvSpPr>
        <p:spPr>
          <a:xfrm>
            <a:off x="381000" y="4826000"/>
            <a:ext cx="11430000" cy="381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4" name="Text Box 23"/>
          <p:cNvSpPr txBox="1"/>
          <p:nvPr/>
        </p:nvSpPr>
        <p:spPr>
          <a:xfrm>
            <a:off x="508000" y="4902200"/>
            <a:ext cx="11176000" cy="229870"/>
          </a:xfrm>
          <a:prstGeom prst="rect">
            <a:avLst/>
          </a:prstGeom>
          <a:noFill/>
        </p:spPr>
        <p:txBody>
          <a:bodyPr wrap="square" rtlCol="0" anchor="ctr">
            <a:spAutoFit/>
          </a:bodyPr>
          <a:p>
            <a:pPr algn="l"/>
            <a:r>
              <a:rPr lang="en-US" sz="900" b="1">
                <a:solidFill>
                  <a:srgbClr val="C9A840"/>
                </a:solidFill>
              </a:rPr>
              <a:t>CSXAI's Market Position</a:t>
            </a:r>
            <a:endParaRPr lang="en-US" sz="900" b="1">
              <a:solidFill>
                <a:srgbClr val="C9A840"/>
              </a:solidFill>
            </a:endParaRPr>
          </a:p>
        </p:txBody>
      </p:sp>
      <p:sp>
        <p:nvSpPr>
          <p:cNvPr id="25" name="Text Box 24"/>
          <p:cNvSpPr txBox="1"/>
          <p:nvPr/>
        </p:nvSpPr>
        <p:spPr>
          <a:xfrm>
            <a:off x="508000" y="5207000"/>
            <a:ext cx="11176000" cy="260350"/>
          </a:xfrm>
          <a:prstGeom prst="rect">
            <a:avLst/>
          </a:prstGeom>
          <a:noFill/>
        </p:spPr>
        <p:txBody>
          <a:bodyPr wrap="square" rtlCol="0" anchor="t">
            <a:spAutoFit/>
          </a:bodyPr>
          <a:p>
            <a:pPr algn="l"/>
            <a:r>
              <a:rPr lang="en-US" sz="1100">
                <a:solidFill>
                  <a:srgbClr val="F5EBC8"/>
                </a:solidFill>
              </a:rPr>
              <a:t>"Every other platform tells you how many calls they can deflect. We tell you how well those calls went." - Lead every channel with empathy + compliance. This territory is completely unoccupied.</a:t>
            </a:r>
            <a:endParaRPr lang="en-US" sz="1100">
              <a:solidFill>
                <a:srgbClr val="F5EBC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Target Market - The 9,500+ Explained</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Source: FDIC 2025 + NCUA 2025</a:t>
            </a:r>
            <a:endParaRPr lang="en-US" sz="800">
              <a:solidFill>
                <a:srgbClr val="A0B4D2"/>
              </a:solidFill>
            </a:endParaRPr>
          </a:p>
        </p:txBody>
      </p:sp>
      <p:sp>
        <p:nvSpPr>
          <p:cNvPr id="6" name="Rectangles 5"/>
          <p:cNvSpPr/>
          <p:nvPr/>
        </p:nvSpPr>
        <p:spPr>
          <a:xfrm>
            <a:off x="228600" y="711200"/>
            <a:ext cx="3810000" cy="58420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11200"/>
            <a:ext cx="3810000" cy="508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55600" y="863600"/>
            <a:ext cx="3556000" cy="737235"/>
          </a:xfrm>
          <a:prstGeom prst="rect">
            <a:avLst/>
          </a:prstGeom>
          <a:noFill/>
        </p:spPr>
        <p:txBody>
          <a:bodyPr wrap="square" rtlCol="0" anchor="ctr">
            <a:spAutoFit/>
          </a:bodyPr>
          <a:p>
            <a:pPr algn="ctr"/>
            <a:r>
              <a:rPr lang="en-US" sz="4200" b="1">
                <a:solidFill>
                  <a:srgbClr val="1A6BB5"/>
                </a:solidFill>
              </a:rPr>
              <a:t>~4,600</a:t>
            </a:r>
            <a:endParaRPr lang="en-US" sz="4200" b="1">
              <a:solidFill>
                <a:srgbClr val="1A6BB5"/>
              </a:solidFill>
            </a:endParaRPr>
          </a:p>
        </p:txBody>
      </p:sp>
      <p:sp>
        <p:nvSpPr>
          <p:cNvPr id="9" name="Text Box 8"/>
          <p:cNvSpPr txBox="1"/>
          <p:nvPr/>
        </p:nvSpPr>
        <p:spPr>
          <a:xfrm>
            <a:off x="355600" y="1600200"/>
            <a:ext cx="3556000" cy="245110"/>
          </a:xfrm>
          <a:prstGeom prst="rect">
            <a:avLst/>
          </a:prstGeom>
          <a:noFill/>
        </p:spPr>
        <p:txBody>
          <a:bodyPr wrap="square" rtlCol="0" anchor="ctr">
            <a:spAutoFit/>
          </a:bodyPr>
          <a:p>
            <a:pPr algn="ctr"/>
            <a:r>
              <a:rPr lang="en-US" sz="1000" b="1">
                <a:solidFill>
                  <a:srgbClr val="0D1B2A"/>
                </a:solidFill>
              </a:rPr>
              <a:t>FDIC Community Banks</a:t>
            </a:r>
            <a:endParaRPr lang="en-US" sz="1000" b="1">
              <a:solidFill>
                <a:srgbClr val="0D1B2A"/>
              </a:solidFill>
            </a:endParaRPr>
          </a:p>
        </p:txBody>
      </p:sp>
      <p:sp>
        <p:nvSpPr>
          <p:cNvPr id="10" name="Rectangles 9"/>
          <p:cNvSpPr/>
          <p:nvPr/>
        </p:nvSpPr>
        <p:spPr>
          <a:xfrm>
            <a:off x="482600" y="1930400"/>
            <a:ext cx="3302000" cy="127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1" name="Text Box 10"/>
          <p:cNvSpPr txBox="1"/>
          <p:nvPr/>
        </p:nvSpPr>
        <p:spPr>
          <a:xfrm>
            <a:off x="381000" y="2057400"/>
            <a:ext cx="3505200" cy="229870"/>
          </a:xfrm>
          <a:prstGeom prst="rect">
            <a:avLst/>
          </a:prstGeom>
          <a:noFill/>
        </p:spPr>
        <p:txBody>
          <a:bodyPr wrap="square" rtlCol="0" anchor="t">
            <a:spAutoFit/>
          </a:bodyPr>
          <a:p>
            <a:pPr algn="l"/>
            <a:r>
              <a:rPr lang="en-US" sz="900">
                <a:solidFill>
                  <a:srgbClr val="28374B"/>
                </a:solidFill>
              </a:rPr>
              <a:t>* Source: FDIC 2025 - US community banks with $100M-$5B in assets</a:t>
            </a:r>
            <a:endParaRPr lang="en-US" sz="900">
              <a:solidFill>
                <a:srgbClr val="28374B"/>
              </a:solidFill>
            </a:endParaRPr>
          </a:p>
        </p:txBody>
      </p:sp>
      <p:sp>
        <p:nvSpPr>
          <p:cNvPr id="12" name="Text Box 11"/>
          <p:cNvSpPr txBox="1"/>
          <p:nvPr/>
        </p:nvSpPr>
        <p:spPr>
          <a:xfrm>
            <a:off x="381000" y="2667000"/>
            <a:ext cx="3505200" cy="229870"/>
          </a:xfrm>
          <a:prstGeom prst="rect">
            <a:avLst/>
          </a:prstGeom>
          <a:noFill/>
        </p:spPr>
        <p:txBody>
          <a:bodyPr wrap="square" rtlCol="0" anchor="t">
            <a:spAutoFit/>
          </a:bodyPr>
          <a:p>
            <a:pPr algn="l"/>
            <a:r>
              <a:rPr lang="en-US" sz="900">
                <a:solidFill>
                  <a:srgbClr val="28374B"/>
                </a:solidFill>
              </a:rPr>
              <a:t>* Profile: Regional and community banks with real call volume</a:t>
            </a:r>
            <a:endParaRPr lang="en-US" sz="900">
              <a:solidFill>
                <a:srgbClr val="28374B"/>
              </a:solidFill>
            </a:endParaRPr>
          </a:p>
        </p:txBody>
      </p:sp>
      <p:sp>
        <p:nvSpPr>
          <p:cNvPr id="13" name="Text Box 12"/>
          <p:cNvSpPr txBox="1"/>
          <p:nvPr/>
        </p:nvSpPr>
        <p:spPr>
          <a:xfrm>
            <a:off x="381000" y="3276600"/>
            <a:ext cx="3505200" cy="229870"/>
          </a:xfrm>
          <a:prstGeom prst="rect">
            <a:avLst/>
          </a:prstGeom>
          <a:noFill/>
        </p:spPr>
        <p:txBody>
          <a:bodyPr wrap="square" rtlCol="0" anchor="t">
            <a:spAutoFit/>
          </a:bodyPr>
          <a:p>
            <a:pPr algn="l"/>
            <a:r>
              <a:rPr lang="en-US" sz="900">
                <a:solidFill>
                  <a:srgbClr val="28374B"/>
                </a:solidFill>
              </a:rPr>
              <a:t>* Gap: Too large for DIY SMB tools; below Glia/Eltropy enterprise tier</a:t>
            </a:r>
            <a:endParaRPr lang="en-US" sz="900">
              <a:solidFill>
                <a:srgbClr val="28374B"/>
              </a:solidFill>
            </a:endParaRPr>
          </a:p>
        </p:txBody>
      </p:sp>
      <p:sp>
        <p:nvSpPr>
          <p:cNvPr id="14" name="Text Box 13"/>
          <p:cNvSpPr txBox="1"/>
          <p:nvPr/>
        </p:nvSpPr>
        <p:spPr>
          <a:xfrm>
            <a:off x="381000" y="3886200"/>
            <a:ext cx="3505200" cy="229870"/>
          </a:xfrm>
          <a:prstGeom prst="rect">
            <a:avLst/>
          </a:prstGeom>
          <a:noFill/>
        </p:spPr>
        <p:txBody>
          <a:bodyPr wrap="square" rtlCol="0" anchor="t">
            <a:spAutoFit/>
          </a:bodyPr>
          <a:p>
            <a:pPr algn="l"/>
            <a:r>
              <a:rPr lang="en-US" sz="900">
                <a:solidFill>
                  <a:srgbClr val="28374B"/>
                </a:solidFill>
              </a:rPr>
              <a:t>* Decision-makers: VP Operations, Director Customer Service, CTO</a:t>
            </a:r>
            <a:endParaRPr lang="en-US" sz="900">
              <a:solidFill>
                <a:srgbClr val="28374B"/>
              </a:solidFill>
            </a:endParaRPr>
          </a:p>
        </p:txBody>
      </p:sp>
      <p:sp>
        <p:nvSpPr>
          <p:cNvPr id="15" name="Rectangles 14"/>
          <p:cNvSpPr/>
          <p:nvPr/>
        </p:nvSpPr>
        <p:spPr>
          <a:xfrm>
            <a:off x="4292600" y="711200"/>
            <a:ext cx="3810000" cy="58420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6" name="Rectangles 15"/>
          <p:cNvSpPr/>
          <p:nvPr/>
        </p:nvSpPr>
        <p:spPr>
          <a:xfrm>
            <a:off x="4292600" y="711200"/>
            <a:ext cx="3810000" cy="508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7" name="Text Box 16"/>
          <p:cNvSpPr txBox="1"/>
          <p:nvPr/>
        </p:nvSpPr>
        <p:spPr>
          <a:xfrm>
            <a:off x="4419600" y="863600"/>
            <a:ext cx="3556000" cy="737235"/>
          </a:xfrm>
          <a:prstGeom prst="rect">
            <a:avLst/>
          </a:prstGeom>
          <a:noFill/>
        </p:spPr>
        <p:txBody>
          <a:bodyPr wrap="square" rtlCol="0" anchor="ctr">
            <a:spAutoFit/>
          </a:bodyPr>
          <a:p>
            <a:pPr algn="ctr"/>
            <a:r>
              <a:rPr lang="en-US" sz="4200" b="1">
                <a:solidFill>
                  <a:srgbClr val="D97706"/>
                </a:solidFill>
              </a:rPr>
              <a:t>~4,900</a:t>
            </a:r>
            <a:endParaRPr lang="en-US" sz="4200" b="1">
              <a:solidFill>
                <a:srgbClr val="D97706"/>
              </a:solidFill>
            </a:endParaRPr>
          </a:p>
        </p:txBody>
      </p:sp>
      <p:sp>
        <p:nvSpPr>
          <p:cNvPr id="18" name="Text Box 17"/>
          <p:cNvSpPr txBox="1"/>
          <p:nvPr/>
        </p:nvSpPr>
        <p:spPr>
          <a:xfrm>
            <a:off x="4419600" y="1600200"/>
            <a:ext cx="3556000" cy="245110"/>
          </a:xfrm>
          <a:prstGeom prst="rect">
            <a:avLst/>
          </a:prstGeom>
          <a:noFill/>
        </p:spPr>
        <p:txBody>
          <a:bodyPr wrap="square" rtlCol="0" anchor="ctr">
            <a:spAutoFit/>
          </a:bodyPr>
          <a:p>
            <a:pPr algn="ctr"/>
            <a:r>
              <a:rPr lang="en-US" sz="1000" b="1">
                <a:solidFill>
                  <a:srgbClr val="0D1B2A"/>
                </a:solidFill>
              </a:rPr>
              <a:t>NCUA Credit Unions</a:t>
            </a:r>
            <a:endParaRPr lang="en-US" sz="1000" b="1">
              <a:solidFill>
                <a:srgbClr val="0D1B2A"/>
              </a:solidFill>
            </a:endParaRPr>
          </a:p>
        </p:txBody>
      </p:sp>
      <p:sp>
        <p:nvSpPr>
          <p:cNvPr id="19" name="Rectangles 18"/>
          <p:cNvSpPr/>
          <p:nvPr/>
        </p:nvSpPr>
        <p:spPr>
          <a:xfrm>
            <a:off x="4546600" y="1930400"/>
            <a:ext cx="3302000" cy="127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0" name="Text Box 19"/>
          <p:cNvSpPr txBox="1"/>
          <p:nvPr/>
        </p:nvSpPr>
        <p:spPr>
          <a:xfrm>
            <a:off x="4445000" y="2057400"/>
            <a:ext cx="3505200" cy="229870"/>
          </a:xfrm>
          <a:prstGeom prst="rect">
            <a:avLst/>
          </a:prstGeom>
          <a:noFill/>
        </p:spPr>
        <p:txBody>
          <a:bodyPr wrap="square" rtlCol="0" anchor="t">
            <a:spAutoFit/>
          </a:bodyPr>
          <a:p>
            <a:pPr algn="l"/>
            <a:r>
              <a:rPr lang="en-US" sz="900">
                <a:solidFill>
                  <a:srgbClr val="28374B"/>
                </a:solidFill>
              </a:rPr>
              <a:t>* Source: NCUA 2025 - federally insured CUs with $10M-$2B in assets</a:t>
            </a:r>
            <a:endParaRPr lang="en-US" sz="900">
              <a:solidFill>
                <a:srgbClr val="28374B"/>
              </a:solidFill>
            </a:endParaRPr>
          </a:p>
        </p:txBody>
      </p:sp>
      <p:sp>
        <p:nvSpPr>
          <p:cNvPr id="21" name="Text Box 20"/>
          <p:cNvSpPr txBox="1"/>
          <p:nvPr/>
        </p:nvSpPr>
        <p:spPr>
          <a:xfrm>
            <a:off x="4445000" y="2667000"/>
            <a:ext cx="3505200" cy="229870"/>
          </a:xfrm>
          <a:prstGeom prst="rect">
            <a:avLst/>
          </a:prstGeom>
          <a:noFill/>
        </p:spPr>
        <p:txBody>
          <a:bodyPr wrap="square" rtlCol="0" anchor="t">
            <a:spAutoFit/>
          </a:bodyPr>
          <a:p>
            <a:pPr algn="l"/>
            <a:r>
              <a:rPr lang="en-US" sz="900">
                <a:solidFill>
                  <a:srgbClr val="28374B"/>
                </a:solidFill>
              </a:rPr>
              <a:t>* Member-first mandate aligns directly with CSXAI empathy positioning</a:t>
            </a:r>
            <a:endParaRPr lang="en-US" sz="900">
              <a:solidFill>
                <a:srgbClr val="28374B"/>
              </a:solidFill>
            </a:endParaRPr>
          </a:p>
        </p:txBody>
      </p:sp>
      <p:sp>
        <p:nvSpPr>
          <p:cNvPr id="22" name="Text Box 21"/>
          <p:cNvSpPr txBox="1"/>
          <p:nvPr/>
        </p:nvSpPr>
        <p:spPr>
          <a:xfrm>
            <a:off x="4445000" y="3276600"/>
            <a:ext cx="3505200" cy="229870"/>
          </a:xfrm>
          <a:prstGeom prst="rect">
            <a:avLst/>
          </a:prstGeom>
          <a:noFill/>
        </p:spPr>
        <p:txBody>
          <a:bodyPr wrap="square" rtlCol="0" anchor="t">
            <a:spAutoFit/>
          </a:bodyPr>
          <a:p>
            <a:pPr algn="l"/>
            <a:r>
              <a:rPr lang="en-US" sz="900">
                <a:solidFill>
                  <a:srgbClr val="28374B"/>
                </a:solidFill>
              </a:rPr>
              <a:t>* Decision structure: Smaller C-suite = faster buying decisions vs banks</a:t>
            </a:r>
            <a:endParaRPr lang="en-US" sz="900">
              <a:solidFill>
                <a:srgbClr val="28374B"/>
              </a:solidFill>
            </a:endParaRPr>
          </a:p>
        </p:txBody>
      </p:sp>
      <p:sp>
        <p:nvSpPr>
          <p:cNvPr id="23" name="Text Box 22"/>
          <p:cNvSpPr txBox="1"/>
          <p:nvPr/>
        </p:nvSpPr>
        <p:spPr>
          <a:xfrm>
            <a:off x="4445000" y="3886200"/>
            <a:ext cx="3505200" cy="229870"/>
          </a:xfrm>
          <a:prstGeom prst="rect">
            <a:avLst/>
          </a:prstGeom>
          <a:noFill/>
        </p:spPr>
        <p:txBody>
          <a:bodyPr wrap="square" rtlCol="0" anchor="t">
            <a:spAutoFit/>
          </a:bodyPr>
          <a:p>
            <a:pPr algn="l"/>
            <a:r>
              <a:rPr lang="en-US" sz="900">
                <a:solidFill>
                  <a:srgbClr val="28374B"/>
                </a:solidFill>
              </a:rPr>
              <a:t>* C-suite is reachable directly via LinkedIn - no long procurement cycle</a:t>
            </a:r>
            <a:endParaRPr lang="en-US" sz="900">
              <a:solidFill>
                <a:srgbClr val="28374B"/>
              </a:solidFill>
            </a:endParaRPr>
          </a:p>
        </p:txBody>
      </p:sp>
      <p:sp>
        <p:nvSpPr>
          <p:cNvPr id="24" name="Rectangles 23"/>
          <p:cNvSpPr/>
          <p:nvPr/>
        </p:nvSpPr>
        <p:spPr>
          <a:xfrm>
            <a:off x="8356600" y="711200"/>
            <a:ext cx="3810000" cy="5842000"/>
          </a:xfrm>
          <a:prstGeom prst="rect">
            <a:avLst/>
          </a:prstGeom>
          <a:solidFill>
            <a:srgbClr val="DCFCE7"/>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5" name="Rectangles 24"/>
          <p:cNvSpPr/>
          <p:nvPr/>
        </p:nvSpPr>
        <p:spPr>
          <a:xfrm>
            <a:off x="8356600" y="711200"/>
            <a:ext cx="3810000" cy="50800"/>
          </a:xfrm>
          <a:prstGeom prst="rect">
            <a:avLst/>
          </a:prstGeom>
          <a:solidFill>
            <a:srgbClr val="16A34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6" name="Text Box 25"/>
          <p:cNvSpPr txBox="1"/>
          <p:nvPr/>
        </p:nvSpPr>
        <p:spPr>
          <a:xfrm>
            <a:off x="8483600" y="863600"/>
            <a:ext cx="3556000" cy="737235"/>
          </a:xfrm>
          <a:prstGeom prst="rect">
            <a:avLst/>
          </a:prstGeom>
          <a:noFill/>
        </p:spPr>
        <p:txBody>
          <a:bodyPr wrap="square" rtlCol="0" anchor="ctr">
            <a:spAutoFit/>
          </a:bodyPr>
          <a:p>
            <a:pPr algn="ctr"/>
            <a:r>
              <a:rPr lang="en-US" sz="4200" b="1">
                <a:solidFill>
                  <a:srgbClr val="16A34A"/>
                </a:solidFill>
              </a:rPr>
              <a:t>~9,500</a:t>
            </a:r>
            <a:endParaRPr lang="en-US" sz="4200" b="1">
              <a:solidFill>
                <a:srgbClr val="16A34A"/>
              </a:solidFill>
            </a:endParaRPr>
          </a:p>
        </p:txBody>
      </p:sp>
      <p:sp>
        <p:nvSpPr>
          <p:cNvPr id="27" name="Text Box 26"/>
          <p:cNvSpPr txBox="1"/>
          <p:nvPr/>
        </p:nvSpPr>
        <p:spPr>
          <a:xfrm>
            <a:off x="8483600" y="1600200"/>
            <a:ext cx="3556000" cy="245110"/>
          </a:xfrm>
          <a:prstGeom prst="rect">
            <a:avLst/>
          </a:prstGeom>
          <a:noFill/>
        </p:spPr>
        <p:txBody>
          <a:bodyPr wrap="square" rtlCol="0" anchor="ctr">
            <a:spAutoFit/>
          </a:bodyPr>
          <a:p>
            <a:pPr algn="ctr"/>
            <a:r>
              <a:rPr lang="en-US" sz="1000" b="1">
                <a:solidFill>
                  <a:srgbClr val="0D1B2A"/>
                </a:solidFill>
              </a:rPr>
              <a:t>Combined ICP</a:t>
            </a:r>
            <a:endParaRPr lang="en-US" sz="1000" b="1">
              <a:solidFill>
                <a:srgbClr val="0D1B2A"/>
              </a:solidFill>
            </a:endParaRPr>
          </a:p>
        </p:txBody>
      </p:sp>
      <p:sp>
        <p:nvSpPr>
          <p:cNvPr id="28" name="Rectangles 27"/>
          <p:cNvSpPr/>
          <p:nvPr/>
        </p:nvSpPr>
        <p:spPr>
          <a:xfrm>
            <a:off x="8610600" y="1930400"/>
            <a:ext cx="3302000" cy="12700"/>
          </a:xfrm>
          <a:prstGeom prst="rect">
            <a:avLst/>
          </a:prstGeom>
          <a:solidFill>
            <a:srgbClr val="16A34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9" name="Text Box 28"/>
          <p:cNvSpPr txBox="1"/>
          <p:nvPr/>
        </p:nvSpPr>
        <p:spPr>
          <a:xfrm>
            <a:off x="8509000" y="2057400"/>
            <a:ext cx="3505200" cy="229870"/>
          </a:xfrm>
          <a:prstGeom prst="rect">
            <a:avLst/>
          </a:prstGeom>
          <a:noFill/>
        </p:spPr>
        <p:txBody>
          <a:bodyPr wrap="square" rtlCol="0" anchor="t">
            <a:spAutoFit/>
          </a:bodyPr>
          <a:p>
            <a:pPr algn="l"/>
            <a:r>
              <a:rPr lang="en-US" sz="900">
                <a:solidFill>
                  <a:srgbClr val="28374B"/>
                </a:solidFill>
              </a:rPr>
              <a:t>* 9,500 financial institutions in CSXAI's exact product-market fit range</a:t>
            </a:r>
            <a:endParaRPr lang="en-US" sz="900">
              <a:solidFill>
                <a:srgbClr val="28374B"/>
              </a:solidFill>
            </a:endParaRPr>
          </a:p>
        </p:txBody>
      </p:sp>
      <p:sp>
        <p:nvSpPr>
          <p:cNvPr id="30" name="Text Box 29"/>
          <p:cNvSpPr txBox="1"/>
          <p:nvPr/>
        </p:nvSpPr>
        <p:spPr>
          <a:xfrm>
            <a:off x="8509000" y="2667000"/>
            <a:ext cx="3505200" cy="368300"/>
          </a:xfrm>
          <a:prstGeom prst="rect">
            <a:avLst/>
          </a:prstGeom>
          <a:noFill/>
        </p:spPr>
        <p:txBody>
          <a:bodyPr wrap="square" rtlCol="0" anchor="t">
            <a:spAutoFit/>
          </a:bodyPr>
          <a:p>
            <a:pPr algn="l"/>
            <a:r>
              <a:rPr lang="en-US" sz="900">
                <a:solidFill>
                  <a:srgbClr val="28374B"/>
                </a:solidFill>
              </a:rPr>
              <a:t>* All share the same core problem: high call volume, limited staff, compliance risk</a:t>
            </a:r>
            <a:endParaRPr lang="en-US" sz="900">
              <a:solidFill>
                <a:srgbClr val="28374B"/>
              </a:solidFill>
            </a:endParaRPr>
          </a:p>
        </p:txBody>
      </p:sp>
      <p:sp>
        <p:nvSpPr>
          <p:cNvPr id="31" name="Text Box 30"/>
          <p:cNvSpPr txBox="1"/>
          <p:nvPr/>
        </p:nvSpPr>
        <p:spPr>
          <a:xfrm>
            <a:off x="8509000" y="3276600"/>
            <a:ext cx="3505200" cy="368300"/>
          </a:xfrm>
          <a:prstGeom prst="rect">
            <a:avLst/>
          </a:prstGeom>
          <a:noFill/>
        </p:spPr>
        <p:txBody>
          <a:bodyPr wrap="square" rtlCol="0" anchor="t">
            <a:spAutoFit/>
          </a:bodyPr>
          <a:p>
            <a:pPr algn="l"/>
            <a:r>
              <a:rPr lang="en-US" sz="900">
                <a:solidFill>
                  <a:srgbClr val="28374B"/>
                </a:solidFill>
              </a:rPr>
              <a:t>* None are currently served by a platform leading with empathy + compliance</a:t>
            </a:r>
            <a:endParaRPr lang="en-US" sz="900">
              <a:solidFill>
                <a:srgbClr val="28374B"/>
              </a:solidFill>
            </a:endParaRPr>
          </a:p>
        </p:txBody>
      </p:sp>
      <p:sp>
        <p:nvSpPr>
          <p:cNvPr id="32" name="Text Box 31"/>
          <p:cNvSpPr txBox="1"/>
          <p:nvPr/>
        </p:nvSpPr>
        <p:spPr>
          <a:xfrm>
            <a:off x="8509000" y="3886200"/>
            <a:ext cx="3505200" cy="229870"/>
          </a:xfrm>
          <a:prstGeom prst="rect">
            <a:avLst/>
          </a:prstGeom>
          <a:noFill/>
        </p:spPr>
        <p:txBody>
          <a:bodyPr wrap="square" rtlCol="0" anchor="t">
            <a:spAutoFit/>
          </a:bodyPr>
          <a:p>
            <a:pPr algn="l"/>
            <a:r>
              <a:rPr lang="en-US" sz="900">
                <a:solidFill>
                  <a:srgbClr val="28374B"/>
                </a:solidFill>
              </a:rPr>
              <a:t>* Real estate institutional segment adds additional upside (Phase 2)</a:t>
            </a:r>
            <a:endParaRPr lang="en-US" sz="900">
              <a:solidFill>
                <a:srgbClr val="28374B"/>
              </a:solidFill>
            </a:endParaRPr>
          </a:p>
        </p:txBody>
      </p:sp>
      <p:sp>
        <p:nvSpPr>
          <p:cNvPr id="33" name="Rectangles 32"/>
          <p:cNvSpPr/>
          <p:nvPr/>
        </p:nvSpPr>
        <p:spPr>
          <a:xfrm>
            <a:off x="228600" y="6629400"/>
            <a:ext cx="11734800" cy="1524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4" name="Text Box 33"/>
          <p:cNvSpPr txBox="1"/>
          <p:nvPr/>
        </p:nvSpPr>
        <p:spPr>
          <a:xfrm>
            <a:off x="279400" y="6642100"/>
            <a:ext cx="11684000" cy="198755"/>
          </a:xfrm>
          <a:prstGeom prst="rect">
            <a:avLst/>
          </a:prstGeom>
          <a:noFill/>
        </p:spPr>
        <p:txBody>
          <a:bodyPr wrap="square" rtlCol="0" anchor="ctr">
            <a:spAutoFit/>
          </a:bodyPr>
          <a:p>
            <a:pPr algn="l"/>
            <a:r>
              <a:rPr lang="en-US" sz="700">
                <a:solidFill>
                  <a:srgbClr val="64748B"/>
                </a:solidFill>
              </a:rPr>
              <a:t>Note: 9,500+ figure = FDIC community banks ~4,600 + NCUA credit unions ~4,900 in ICP asset size range (excludes mega-banks with 18-month procurement cycles and micro-institutions below CSXAI deployment threshold).</a:t>
            </a:r>
            <a:endParaRPr lang="en-US" sz="700">
              <a:solidFill>
                <a:srgbClr val="64748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Digital Marketing Opportunity - Where the Gaps Are</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Performance marketing perspective</a:t>
            </a:r>
            <a:endParaRPr lang="en-US" sz="800">
              <a:solidFill>
                <a:srgbClr val="A0B4D2"/>
              </a:solidFill>
            </a:endParaRPr>
          </a:p>
        </p:txBody>
      </p:sp>
      <p:sp>
        <p:nvSpPr>
          <p:cNvPr id="6" name="Rectangles 5"/>
          <p:cNvSpPr/>
          <p:nvPr/>
        </p:nvSpPr>
        <p:spPr>
          <a:xfrm>
            <a:off x="228600" y="736600"/>
            <a:ext cx="5740400" cy="2768600"/>
          </a:xfrm>
          <a:prstGeom prst="rect">
            <a:avLst/>
          </a:prstGeom>
          <a:solidFill>
            <a:srgbClr val="FEE2E2"/>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36600"/>
            <a:ext cx="5740400" cy="508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55600" y="863600"/>
            <a:ext cx="5486400" cy="229870"/>
          </a:xfrm>
          <a:prstGeom prst="rect">
            <a:avLst/>
          </a:prstGeom>
          <a:noFill/>
        </p:spPr>
        <p:txBody>
          <a:bodyPr wrap="square" rtlCol="0" anchor="ctr">
            <a:spAutoFit/>
          </a:bodyPr>
          <a:p>
            <a:pPr algn="l"/>
            <a:r>
              <a:rPr lang="en-US" sz="900" b="1">
                <a:solidFill>
                  <a:srgbClr val="0D1B2A"/>
                </a:solidFill>
              </a:rPr>
              <a:t>ELTROPY RUNS ZERO PAID ADS</a:t>
            </a:r>
            <a:endParaRPr lang="en-US" sz="900" b="1">
              <a:solidFill>
                <a:srgbClr val="0D1B2A"/>
              </a:solidFill>
            </a:endParaRPr>
          </a:p>
        </p:txBody>
      </p:sp>
      <p:sp>
        <p:nvSpPr>
          <p:cNvPr id="9" name="Rectangles 8"/>
          <p:cNvSpPr/>
          <p:nvPr/>
        </p:nvSpPr>
        <p:spPr>
          <a:xfrm>
            <a:off x="355600" y="11557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0" name="Text Box 9"/>
          <p:cNvSpPr txBox="1"/>
          <p:nvPr/>
        </p:nvSpPr>
        <p:spPr>
          <a:xfrm>
            <a:off x="355600" y="1244600"/>
            <a:ext cx="5486400" cy="229870"/>
          </a:xfrm>
          <a:prstGeom prst="rect">
            <a:avLst/>
          </a:prstGeom>
          <a:noFill/>
        </p:spPr>
        <p:txBody>
          <a:bodyPr wrap="square" rtlCol="0" anchor="t">
            <a:spAutoFit/>
          </a:bodyPr>
          <a:p>
            <a:pPr algn="l"/>
            <a:r>
              <a:rPr lang="en-US" sz="900">
                <a:solidFill>
                  <a:srgbClr val="233246"/>
                </a:solidFill>
              </a:rPr>
              <a:t>* 1,900 people research Eltropy on Google every month.</a:t>
            </a:r>
            <a:endParaRPr lang="en-US" sz="900">
              <a:solidFill>
                <a:srgbClr val="233246"/>
              </a:solidFill>
            </a:endParaRPr>
          </a:p>
        </p:txBody>
      </p:sp>
      <p:sp>
        <p:nvSpPr>
          <p:cNvPr id="11" name="Text Box 10"/>
          <p:cNvSpPr txBox="1"/>
          <p:nvPr/>
        </p:nvSpPr>
        <p:spPr>
          <a:xfrm>
            <a:off x="355600" y="1778000"/>
            <a:ext cx="5486400" cy="229870"/>
          </a:xfrm>
          <a:prstGeom prst="rect">
            <a:avLst/>
          </a:prstGeom>
          <a:noFill/>
        </p:spPr>
        <p:txBody>
          <a:bodyPr wrap="square" rtlCol="0" anchor="t">
            <a:spAutoFit/>
          </a:bodyPr>
          <a:p>
            <a:pPr algn="l"/>
            <a:r>
              <a:rPr lang="en-US" sz="900">
                <a:solidFill>
                  <a:srgbClr val="233246"/>
                </a:solidFill>
              </a:rPr>
              <a:t>* No competitor is bidding against this traffic.</a:t>
            </a:r>
            <a:endParaRPr lang="en-US" sz="900">
              <a:solidFill>
                <a:srgbClr val="233246"/>
              </a:solidFill>
            </a:endParaRPr>
          </a:p>
        </p:txBody>
      </p:sp>
      <p:sp>
        <p:nvSpPr>
          <p:cNvPr id="12" name="Text Box 11"/>
          <p:cNvSpPr txBox="1"/>
          <p:nvPr/>
        </p:nvSpPr>
        <p:spPr>
          <a:xfrm>
            <a:off x="355600" y="2311400"/>
            <a:ext cx="5486400" cy="229870"/>
          </a:xfrm>
          <a:prstGeom prst="rect">
            <a:avLst/>
          </a:prstGeom>
          <a:noFill/>
        </p:spPr>
        <p:txBody>
          <a:bodyPr wrap="square" rtlCol="0" anchor="t">
            <a:spAutoFit/>
          </a:bodyPr>
          <a:p>
            <a:pPr algn="l"/>
            <a:r>
              <a:rPr lang="en-US" sz="900">
                <a:solidFill>
                  <a:srgbClr val="233246"/>
                </a:solidFill>
              </a:rPr>
              <a:t>* CSXAI can intercept every Eltropy research session from Day 1 of Google launch.</a:t>
            </a:r>
            <a:endParaRPr lang="en-US" sz="900">
              <a:solidFill>
                <a:srgbClr val="233246"/>
              </a:solidFill>
            </a:endParaRPr>
          </a:p>
        </p:txBody>
      </p:sp>
      <p:sp>
        <p:nvSpPr>
          <p:cNvPr id="13" name="Text Box 12"/>
          <p:cNvSpPr txBox="1"/>
          <p:nvPr/>
        </p:nvSpPr>
        <p:spPr>
          <a:xfrm>
            <a:off x="355600" y="2844800"/>
            <a:ext cx="5486400" cy="229870"/>
          </a:xfrm>
          <a:prstGeom prst="rect">
            <a:avLst/>
          </a:prstGeom>
          <a:noFill/>
        </p:spPr>
        <p:txBody>
          <a:bodyPr wrap="square" rtlCol="0" anchor="t">
            <a:spAutoFit/>
          </a:bodyPr>
          <a:p>
            <a:pPr algn="l"/>
            <a:r>
              <a:rPr lang="en-US" sz="900">
                <a:solidFill>
                  <a:srgbClr val="233246"/>
                </a:solidFill>
              </a:rPr>
              <a:t>* CPC range: $5-$35 / Low competition index / Highest ROI keyword in universe.</a:t>
            </a:r>
            <a:endParaRPr lang="en-US" sz="900">
              <a:solidFill>
                <a:srgbClr val="233246"/>
              </a:solidFill>
            </a:endParaRPr>
          </a:p>
        </p:txBody>
      </p:sp>
      <p:sp>
        <p:nvSpPr>
          <p:cNvPr id="14" name="Rectangles 13"/>
          <p:cNvSpPr/>
          <p:nvPr/>
        </p:nvSpPr>
        <p:spPr>
          <a:xfrm>
            <a:off x="6223000" y="736600"/>
            <a:ext cx="5740400" cy="27686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5" name="Rectangles 14"/>
          <p:cNvSpPr/>
          <p:nvPr/>
        </p:nvSpPr>
        <p:spPr>
          <a:xfrm>
            <a:off x="6223000" y="736600"/>
            <a:ext cx="5740400" cy="508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6" name="Text Box 15"/>
          <p:cNvSpPr txBox="1"/>
          <p:nvPr/>
        </p:nvSpPr>
        <p:spPr>
          <a:xfrm>
            <a:off x="6350000" y="863600"/>
            <a:ext cx="5486400" cy="229870"/>
          </a:xfrm>
          <a:prstGeom prst="rect">
            <a:avLst/>
          </a:prstGeom>
          <a:noFill/>
        </p:spPr>
        <p:txBody>
          <a:bodyPr wrap="square" rtlCol="0" anchor="ctr">
            <a:spAutoFit/>
          </a:bodyPr>
          <a:p>
            <a:pPr algn="l"/>
            <a:r>
              <a:rPr lang="en-US" sz="900" b="1">
                <a:solidFill>
                  <a:srgbClr val="0D1B2A"/>
                </a:solidFill>
              </a:rPr>
              <a:t>KEYWORD DEMAND IS GROWING FAST</a:t>
            </a:r>
            <a:endParaRPr lang="en-US" sz="900" b="1">
              <a:solidFill>
                <a:srgbClr val="0D1B2A"/>
              </a:solidFill>
            </a:endParaRPr>
          </a:p>
        </p:txBody>
      </p:sp>
      <p:sp>
        <p:nvSpPr>
          <p:cNvPr id="17" name="Rectangles 16"/>
          <p:cNvSpPr/>
          <p:nvPr/>
        </p:nvSpPr>
        <p:spPr>
          <a:xfrm>
            <a:off x="6350000" y="11557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8" name="Text Box 17"/>
          <p:cNvSpPr txBox="1"/>
          <p:nvPr/>
        </p:nvSpPr>
        <p:spPr>
          <a:xfrm>
            <a:off x="6350000" y="1244600"/>
            <a:ext cx="5486400" cy="229870"/>
          </a:xfrm>
          <a:prstGeom prst="rect">
            <a:avLst/>
          </a:prstGeom>
          <a:noFill/>
        </p:spPr>
        <p:txBody>
          <a:bodyPr wrap="square" rtlCol="0" anchor="t">
            <a:spAutoFit/>
          </a:bodyPr>
          <a:p>
            <a:pPr algn="l"/>
            <a:r>
              <a:rPr lang="en-US" sz="900">
                <a:solidFill>
                  <a:srgbClr val="233246"/>
                </a:solidFill>
              </a:rPr>
              <a:t>* "Conversational AI in banking" +400% search growth in 3 months.</a:t>
            </a:r>
            <a:endParaRPr lang="en-US" sz="900">
              <a:solidFill>
                <a:srgbClr val="233246"/>
              </a:solidFill>
            </a:endParaRPr>
          </a:p>
        </p:txBody>
      </p:sp>
      <p:sp>
        <p:nvSpPr>
          <p:cNvPr id="19" name="Text Box 18"/>
          <p:cNvSpPr txBox="1"/>
          <p:nvPr/>
        </p:nvSpPr>
        <p:spPr>
          <a:xfrm>
            <a:off x="6350000" y="1778000"/>
            <a:ext cx="5486400" cy="229870"/>
          </a:xfrm>
          <a:prstGeom prst="rect">
            <a:avLst/>
          </a:prstGeom>
          <a:noFill/>
        </p:spPr>
        <p:txBody>
          <a:bodyPr wrap="square" rtlCol="0" anchor="t">
            <a:spAutoFit/>
          </a:bodyPr>
          <a:p>
            <a:pPr algn="l"/>
            <a:r>
              <a:rPr lang="en-US" sz="900">
                <a:solidFill>
                  <a:srgbClr val="233246"/>
                </a:solidFill>
              </a:rPr>
              <a:t>* "Conversational AI banking" +300% in 3 months.</a:t>
            </a:r>
            <a:endParaRPr lang="en-US" sz="900">
              <a:solidFill>
                <a:srgbClr val="233246"/>
              </a:solidFill>
            </a:endParaRPr>
          </a:p>
        </p:txBody>
      </p:sp>
      <p:sp>
        <p:nvSpPr>
          <p:cNvPr id="20" name="Text Box 19"/>
          <p:cNvSpPr txBox="1"/>
          <p:nvPr/>
        </p:nvSpPr>
        <p:spPr>
          <a:xfrm>
            <a:off x="6350000" y="2311400"/>
            <a:ext cx="5486400" cy="229870"/>
          </a:xfrm>
          <a:prstGeom prst="rect">
            <a:avLst/>
          </a:prstGeom>
          <a:noFill/>
        </p:spPr>
        <p:txBody>
          <a:bodyPr wrap="square" rtlCol="0" anchor="t">
            <a:spAutoFit/>
          </a:bodyPr>
          <a:p>
            <a:pPr algn="l"/>
            <a:r>
              <a:rPr lang="en-US" sz="900">
                <a:solidFill>
                  <a:srgbClr val="233246"/>
                </a:solidFill>
              </a:rPr>
              <a:t>* Near-zero CPCs right now because advertisers have not noticed.</a:t>
            </a:r>
            <a:endParaRPr lang="en-US" sz="900">
              <a:solidFill>
                <a:srgbClr val="233246"/>
              </a:solidFill>
            </a:endParaRPr>
          </a:p>
        </p:txBody>
      </p:sp>
      <p:sp>
        <p:nvSpPr>
          <p:cNvPr id="21" name="Text Box 20"/>
          <p:cNvSpPr txBox="1"/>
          <p:nvPr/>
        </p:nvSpPr>
        <p:spPr>
          <a:xfrm>
            <a:off x="6350000" y="2844800"/>
            <a:ext cx="5486400" cy="229870"/>
          </a:xfrm>
          <a:prstGeom prst="rect">
            <a:avLst/>
          </a:prstGeom>
          <a:noFill/>
        </p:spPr>
        <p:txBody>
          <a:bodyPr wrap="square" rtlCol="0" anchor="t">
            <a:spAutoFit/>
          </a:bodyPr>
          <a:p>
            <a:pPr algn="l"/>
            <a:r>
              <a:rPr lang="en-US" sz="900">
                <a:solidFill>
                  <a:srgbClr val="233246"/>
                </a:solidFill>
              </a:rPr>
              <a:t>* First-mover window is open - it closes as category matures.</a:t>
            </a:r>
            <a:endParaRPr lang="en-US" sz="900">
              <a:solidFill>
                <a:srgbClr val="233246"/>
              </a:solidFill>
            </a:endParaRPr>
          </a:p>
        </p:txBody>
      </p:sp>
      <p:sp>
        <p:nvSpPr>
          <p:cNvPr id="22" name="Rectangles 21"/>
          <p:cNvSpPr/>
          <p:nvPr/>
        </p:nvSpPr>
        <p:spPr>
          <a:xfrm>
            <a:off x="228600" y="3746500"/>
            <a:ext cx="5740400" cy="27686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3" name="Rectangles 22"/>
          <p:cNvSpPr/>
          <p:nvPr/>
        </p:nvSpPr>
        <p:spPr>
          <a:xfrm>
            <a:off x="228600" y="3746500"/>
            <a:ext cx="5740400" cy="508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4" name="Text Box 23"/>
          <p:cNvSpPr txBox="1"/>
          <p:nvPr/>
        </p:nvSpPr>
        <p:spPr>
          <a:xfrm>
            <a:off x="355600" y="3873500"/>
            <a:ext cx="5486400" cy="229870"/>
          </a:xfrm>
          <a:prstGeom prst="rect">
            <a:avLst/>
          </a:prstGeom>
          <a:noFill/>
        </p:spPr>
        <p:txBody>
          <a:bodyPr wrap="square" rtlCol="0" anchor="ctr">
            <a:spAutoFit/>
          </a:bodyPr>
          <a:p>
            <a:pPr algn="l"/>
            <a:r>
              <a:rPr lang="en-US" sz="900" b="1">
                <a:solidFill>
                  <a:srgbClr val="0D1B2A"/>
                </a:solidFill>
              </a:rPr>
              <a:t>LINKEDIN AUDIENCE IS PRECISE</a:t>
            </a:r>
            <a:endParaRPr lang="en-US" sz="900" b="1">
              <a:solidFill>
                <a:srgbClr val="0D1B2A"/>
              </a:solidFill>
            </a:endParaRPr>
          </a:p>
        </p:txBody>
      </p:sp>
      <p:sp>
        <p:nvSpPr>
          <p:cNvPr id="25" name="Rectangles 24"/>
          <p:cNvSpPr/>
          <p:nvPr/>
        </p:nvSpPr>
        <p:spPr>
          <a:xfrm>
            <a:off x="355600" y="41656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6" name="Text Box 25"/>
          <p:cNvSpPr txBox="1"/>
          <p:nvPr/>
        </p:nvSpPr>
        <p:spPr>
          <a:xfrm>
            <a:off x="355600" y="4254500"/>
            <a:ext cx="5486400" cy="229870"/>
          </a:xfrm>
          <a:prstGeom prst="rect">
            <a:avLst/>
          </a:prstGeom>
          <a:noFill/>
        </p:spPr>
        <p:txBody>
          <a:bodyPr wrap="square" rtlCol="0" anchor="t">
            <a:spAutoFit/>
          </a:bodyPr>
          <a:p>
            <a:pPr algn="l"/>
            <a:r>
              <a:rPr lang="en-US" sz="900">
                <a:solidFill>
                  <a:srgbClr val="233246"/>
                </a:solidFill>
              </a:rPr>
              <a:t>* Can target VP Operations / CTO / COO at community banks by:</a:t>
            </a:r>
            <a:endParaRPr lang="en-US" sz="900">
              <a:solidFill>
                <a:srgbClr val="233246"/>
              </a:solidFill>
            </a:endParaRPr>
          </a:p>
        </p:txBody>
      </p:sp>
      <p:sp>
        <p:nvSpPr>
          <p:cNvPr id="27" name="Text Box 26"/>
          <p:cNvSpPr txBox="1"/>
          <p:nvPr/>
        </p:nvSpPr>
        <p:spPr>
          <a:xfrm>
            <a:off x="355600" y="4787900"/>
            <a:ext cx="5486400" cy="229870"/>
          </a:xfrm>
          <a:prstGeom prst="rect">
            <a:avLst/>
          </a:prstGeom>
          <a:noFill/>
        </p:spPr>
        <p:txBody>
          <a:bodyPr wrap="square" rtlCol="0" anchor="t">
            <a:spAutoFit/>
          </a:bodyPr>
          <a:p>
            <a:pPr algn="l"/>
            <a:r>
              <a:rPr lang="en-US" sz="900">
                <a:solidFill>
                  <a:srgbClr val="233246"/>
                </a:solidFill>
              </a:rPr>
              <a:t>* Job function / Seniority / Industry / Company size / Geography</a:t>
            </a:r>
            <a:endParaRPr lang="en-US" sz="900">
              <a:solidFill>
                <a:srgbClr val="233246"/>
              </a:solidFill>
            </a:endParaRPr>
          </a:p>
        </p:txBody>
      </p:sp>
      <p:sp>
        <p:nvSpPr>
          <p:cNvPr id="28" name="Text Box 27"/>
          <p:cNvSpPr txBox="1"/>
          <p:nvPr/>
        </p:nvSpPr>
        <p:spPr>
          <a:xfrm>
            <a:off x="355600" y="5321300"/>
            <a:ext cx="5486400" cy="229870"/>
          </a:xfrm>
          <a:prstGeom prst="rect">
            <a:avLst/>
          </a:prstGeom>
          <a:noFill/>
        </p:spPr>
        <p:txBody>
          <a:bodyPr wrap="square" rtlCol="0" anchor="t">
            <a:spAutoFit/>
          </a:bodyPr>
          <a:p>
            <a:pPr algn="l"/>
            <a:r>
              <a:rPr lang="en-US" sz="900">
                <a:solidFill>
                  <a:srgbClr val="233246"/>
                </a:solidFill>
              </a:rPr>
              <a:t>* Estimated 25,000+ decision-makers in CSXAI's ICP on LinkedIn.</a:t>
            </a:r>
            <a:endParaRPr lang="en-US" sz="900">
              <a:solidFill>
                <a:srgbClr val="233246"/>
              </a:solidFill>
            </a:endParaRPr>
          </a:p>
        </p:txBody>
      </p:sp>
      <p:sp>
        <p:nvSpPr>
          <p:cNvPr id="29" name="Text Box 28"/>
          <p:cNvSpPr txBox="1"/>
          <p:nvPr/>
        </p:nvSpPr>
        <p:spPr>
          <a:xfrm>
            <a:off x="355600" y="5854700"/>
            <a:ext cx="5486400" cy="229870"/>
          </a:xfrm>
          <a:prstGeom prst="rect">
            <a:avLst/>
          </a:prstGeom>
          <a:noFill/>
        </p:spPr>
        <p:txBody>
          <a:bodyPr wrap="square" rtlCol="0" anchor="t">
            <a:spAutoFit/>
          </a:bodyPr>
          <a:p>
            <a:pPr algn="l"/>
            <a:r>
              <a:rPr lang="en-US" sz="900">
                <a:solidFill>
                  <a:srgbClr val="233246"/>
                </a:solidFill>
              </a:rPr>
              <a:t>* InMail reaches them directly in inbox - not a feed ad.</a:t>
            </a:r>
            <a:endParaRPr lang="en-US" sz="900">
              <a:solidFill>
                <a:srgbClr val="233246"/>
              </a:solidFill>
            </a:endParaRPr>
          </a:p>
        </p:txBody>
      </p:sp>
      <p:sp>
        <p:nvSpPr>
          <p:cNvPr id="30" name="Rectangles 29"/>
          <p:cNvSpPr/>
          <p:nvPr/>
        </p:nvSpPr>
        <p:spPr>
          <a:xfrm>
            <a:off x="6223000" y="3746500"/>
            <a:ext cx="5740400" cy="2768600"/>
          </a:xfrm>
          <a:prstGeom prst="rect">
            <a:avLst/>
          </a:prstGeom>
          <a:solidFill>
            <a:srgbClr val="DCFCE7"/>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1" name="Rectangles 30"/>
          <p:cNvSpPr/>
          <p:nvPr/>
        </p:nvSpPr>
        <p:spPr>
          <a:xfrm>
            <a:off x="6223000" y="3746500"/>
            <a:ext cx="5740400" cy="50800"/>
          </a:xfrm>
          <a:prstGeom prst="rect">
            <a:avLst/>
          </a:prstGeom>
          <a:solidFill>
            <a:srgbClr val="055A32"/>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2" name="Text Box 31"/>
          <p:cNvSpPr txBox="1"/>
          <p:nvPr/>
        </p:nvSpPr>
        <p:spPr>
          <a:xfrm>
            <a:off x="6350000" y="3873500"/>
            <a:ext cx="5486400" cy="229870"/>
          </a:xfrm>
          <a:prstGeom prst="rect">
            <a:avLst/>
          </a:prstGeom>
          <a:noFill/>
        </p:spPr>
        <p:txBody>
          <a:bodyPr wrap="square" rtlCol="0" anchor="ctr">
            <a:spAutoFit/>
          </a:bodyPr>
          <a:p>
            <a:pPr algn="l"/>
            <a:r>
              <a:rPr lang="en-US" sz="900" b="1">
                <a:solidFill>
                  <a:srgbClr val="0D1B2A"/>
                </a:solidFill>
              </a:rPr>
              <a:t>REAL ESTATE KEYWORD TRAP</a:t>
            </a:r>
            <a:endParaRPr lang="en-US" sz="900" b="1">
              <a:solidFill>
                <a:srgbClr val="0D1B2A"/>
              </a:solidFill>
            </a:endParaRPr>
          </a:p>
        </p:txBody>
      </p:sp>
      <p:sp>
        <p:nvSpPr>
          <p:cNvPr id="33" name="Rectangles 32"/>
          <p:cNvSpPr/>
          <p:nvPr/>
        </p:nvSpPr>
        <p:spPr>
          <a:xfrm>
            <a:off x="6350000" y="41656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4" name="Text Box 33"/>
          <p:cNvSpPr txBox="1"/>
          <p:nvPr/>
        </p:nvSpPr>
        <p:spPr>
          <a:xfrm>
            <a:off x="6350000" y="4254500"/>
            <a:ext cx="5486400" cy="229870"/>
          </a:xfrm>
          <a:prstGeom prst="rect">
            <a:avLst/>
          </a:prstGeom>
          <a:noFill/>
        </p:spPr>
        <p:txBody>
          <a:bodyPr wrap="square" rtlCol="0" anchor="t">
            <a:spAutoFit/>
          </a:bodyPr>
          <a:p>
            <a:pPr algn="l"/>
            <a:r>
              <a:rPr lang="en-US" sz="900">
                <a:solidFill>
                  <a:srgbClr val="233246"/>
                </a:solidFill>
              </a:rPr>
              <a:t>* "Real estate virtual assistant" = 1,900 searches/month.</a:t>
            </a:r>
            <a:endParaRPr lang="en-US" sz="900">
              <a:solidFill>
                <a:srgbClr val="233246"/>
              </a:solidFill>
            </a:endParaRPr>
          </a:p>
        </p:txBody>
      </p:sp>
      <p:sp>
        <p:nvSpPr>
          <p:cNvPr id="35" name="Text Box 34"/>
          <p:cNvSpPr txBox="1"/>
          <p:nvPr/>
        </p:nvSpPr>
        <p:spPr>
          <a:xfrm>
            <a:off x="6350000" y="4787900"/>
            <a:ext cx="5486400" cy="229870"/>
          </a:xfrm>
          <a:prstGeom prst="rect">
            <a:avLst/>
          </a:prstGeom>
          <a:noFill/>
        </p:spPr>
        <p:txBody>
          <a:bodyPr wrap="square" rtlCol="0" anchor="t">
            <a:spAutoFit/>
          </a:bodyPr>
          <a:p>
            <a:pPr algn="l"/>
            <a:r>
              <a:rPr lang="en-US" sz="900">
                <a:solidFill>
                  <a:srgbClr val="233246"/>
                </a:solidFill>
              </a:rPr>
              <a:t>* These are realtors looking to hire offshore human VAs (MyOutDesk etc.).</a:t>
            </a:r>
            <a:endParaRPr lang="en-US" sz="900">
              <a:solidFill>
                <a:srgbClr val="233246"/>
              </a:solidFill>
            </a:endParaRPr>
          </a:p>
        </p:txBody>
      </p:sp>
      <p:sp>
        <p:nvSpPr>
          <p:cNvPr id="36" name="Text Box 35"/>
          <p:cNvSpPr txBox="1"/>
          <p:nvPr/>
        </p:nvSpPr>
        <p:spPr>
          <a:xfrm>
            <a:off x="6350000" y="5321300"/>
            <a:ext cx="5486400" cy="229870"/>
          </a:xfrm>
          <a:prstGeom prst="rect">
            <a:avLst/>
          </a:prstGeom>
          <a:noFill/>
        </p:spPr>
        <p:txBody>
          <a:bodyPr wrap="square" rtlCol="0" anchor="t">
            <a:spAutoFit/>
          </a:bodyPr>
          <a:p>
            <a:pPr algn="l"/>
            <a:r>
              <a:rPr lang="en-US" sz="900">
                <a:solidFill>
                  <a:srgbClr val="233246"/>
                </a:solidFill>
              </a:rPr>
              <a:t>* Wrong audience entirely - VA staffing companies dominate this space.</a:t>
            </a:r>
            <a:endParaRPr lang="en-US" sz="900">
              <a:solidFill>
                <a:srgbClr val="233246"/>
              </a:solidFill>
            </a:endParaRPr>
          </a:p>
        </p:txBody>
      </p:sp>
      <p:sp>
        <p:nvSpPr>
          <p:cNvPr id="37" name="Text Box 36"/>
          <p:cNvSpPr txBox="1"/>
          <p:nvPr/>
        </p:nvSpPr>
        <p:spPr>
          <a:xfrm>
            <a:off x="6350000" y="5854700"/>
            <a:ext cx="5486400" cy="229870"/>
          </a:xfrm>
          <a:prstGeom prst="rect">
            <a:avLst/>
          </a:prstGeom>
          <a:noFill/>
        </p:spPr>
        <p:txBody>
          <a:bodyPr wrap="square" rtlCol="0" anchor="t">
            <a:spAutoFit/>
          </a:bodyPr>
          <a:p>
            <a:pPr algn="l"/>
            <a:r>
              <a:rPr lang="en-US" sz="900">
                <a:solidFill>
                  <a:srgbClr val="233246"/>
                </a:solidFill>
              </a:rPr>
              <a:t>* Use only AI-specific RE terms: "real estate ai assistant", "realtor virtual receptionist".</a:t>
            </a:r>
            <a:endParaRPr lang="en-US" sz="900">
              <a:solidFill>
                <a:srgbClr val="233246"/>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Recommended Paid Media Strategy - 3 Budget Scenarios</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Platform priority: LinkedIn InMail first, Google Ads second</a:t>
            </a:r>
            <a:endParaRPr lang="en-US" sz="800">
              <a:solidFill>
                <a:srgbClr val="A0B4D2"/>
              </a:solidFill>
            </a:endParaRPr>
          </a:p>
        </p:txBody>
      </p:sp>
      <p:sp>
        <p:nvSpPr>
          <p:cNvPr id="6" name="Rectangles 5"/>
          <p:cNvSpPr/>
          <p:nvPr/>
        </p:nvSpPr>
        <p:spPr>
          <a:xfrm>
            <a:off x="228600" y="711200"/>
            <a:ext cx="11734800" cy="1143000"/>
          </a:xfrm>
          <a:prstGeom prst="rect">
            <a:avLst/>
          </a:prstGeom>
          <a:solidFill>
            <a:srgbClr val="F1F5F9"/>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11200"/>
            <a:ext cx="50800" cy="11430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55600" y="787400"/>
            <a:ext cx="11430000" cy="229870"/>
          </a:xfrm>
          <a:prstGeom prst="rect">
            <a:avLst/>
          </a:prstGeom>
          <a:noFill/>
        </p:spPr>
        <p:txBody>
          <a:bodyPr wrap="square" rtlCol="0" anchor="ctr">
            <a:spAutoFit/>
          </a:bodyPr>
          <a:p>
            <a:pPr algn="l"/>
            <a:r>
              <a:rPr lang="en-US" sz="900" b="1">
                <a:solidFill>
                  <a:srgbClr val="0D1B2A"/>
                </a:solidFill>
              </a:rPr>
              <a:t>WHY LINKEDIN INMAIL TAKES PRIORITY OVER GOOGLE ADS AT ALL BUDGET LEVELS</a:t>
            </a:r>
            <a:endParaRPr lang="en-US" sz="900" b="1">
              <a:solidFill>
                <a:srgbClr val="0D1B2A"/>
              </a:solidFill>
            </a:endParaRPr>
          </a:p>
        </p:txBody>
      </p:sp>
      <p:sp>
        <p:nvSpPr>
          <p:cNvPr id="9" name="Text Box 8"/>
          <p:cNvSpPr txBox="1"/>
          <p:nvPr/>
        </p:nvSpPr>
        <p:spPr>
          <a:xfrm>
            <a:off x="355600" y="1066800"/>
            <a:ext cx="11430000" cy="368300"/>
          </a:xfrm>
          <a:prstGeom prst="rect">
            <a:avLst/>
          </a:prstGeom>
          <a:noFill/>
        </p:spPr>
        <p:txBody>
          <a:bodyPr wrap="square" rtlCol="0" anchor="t">
            <a:spAutoFit/>
          </a:bodyPr>
          <a:p>
            <a:pPr algn="l"/>
            <a:r>
              <a:rPr lang="en-US" sz="900">
                <a:solidFill>
                  <a:srgbClr val="64748B"/>
                </a:solidFill>
              </a:rPr>
              <a:t>(1) New brand = no Quality Score on Google; CPL is 3-4x higher in Month 1 vs. InMail  /  (2) LinkedIn InMail reaches named decision-makers directly in their inbox, not keyword guesses  /  (3) Credit unions: smaller governance = faster yes/no, C-suite directly reachable  /  (4) Google Ads added at $2,000/month when budget allows running both channels with enough data volume</a:t>
            </a:r>
            <a:endParaRPr lang="en-US" sz="900">
              <a:solidFill>
                <a:srgbClr val="64748B"/>
              </a:solidFill>
            </a:endParaRPr>
          </a:p>
        </p:txBody>
      </p:sp>
      <p:sp>
        <p:nvSpPr>
          <p:cNvPr id="10" name="Rectangles 9"/>
          <p:cNvSpPr/>
          <p:nvPr/>
        </p:nvSpPr>
        <p:spPr>
          <a:xfrm>
            <a:off x="228600" y="2006600"/>
            <a:ext cx="3835400" cy="4445000"/>
          </a:xfrm>
          <a:prstGeom prst="rect">
            <a:avLst/>
          </a:prstGeom>
          <a:solidFill>
            <a:srgbClr val="E6F8F8"/>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1" name="Rectangles 10"/>
          <p:cNvSpPr/>
          <p:nvPr/>
        </p:nvSpPr>
        <p:spPr>
          <a:xfrm>
            <a:off x="228600" y="2006600"/>
            <a:ext cx="3835400" cy="50800"/>
          </a:xfrm>
          <a:prstGeom prst="rect">
            <a:avLst/>
          </a:prstGeom>
          <a:solidFill>
            <a:srgbClr val="1A8A8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355600" y="2133600"/>
            <a:ext cx="3581400" cy="429895"/>
          </a:xfrm>
          <a:prstGeom prst="rect">
            <a:avLst/>
          </a:prstGeom>
          <a:noFill/>
        </p:spPr>
        <p:txBody>
          <a:bodyPr wrap="square" rtlCol="0" anchor="ctr">
            <a:spAutoFit/>
          </a:bodyPr>
          <a:p>
            <a:pPr algn="ctr"/>
            <a:r>
              <a:rPr lang="en-US" sz="2200" b="1">
                <a:solidFill>
                  <a:srgbClr val="0D1B2A"/>
                </a:solidFill>
              </a:rPr>
              <a:t>$200 / Month</a:t>
            </a:r>
            <a:endParaRPr lang="en-US" sz="2200" b="1">
              <a:solidFill>
                <a:srgbClr val="0D1B2A"/>
              </a:solidFill>
            </a:endParaRPr>
          </a:p>
        </p:txBody>
      </p:sp>
      <p:sp>
        <p:nvSpPr>
          <p:cNvPr id="13" name="Text Box 12"/>
          <p:cNvSpPr txBox="1"/>
          <p:nvPr/>
        </p:nvSpPr>
        <p:spPr>
          <a:xfrm>
            <a:off x="355600" y="2565400"/>
            <a:ext cx="3581400" cy="213995"/>
          </a:xfrm>
          <a:prstGeom prst="rect">
            <a:avLst/>
          </a:prstGeom>
          <a:noFill/>
        </p:spPr>
        <p:txBody>
          <a:bodyPr wrap="square" rtlCol="0" anchor="ctr">
            <a:spAutoFit/>
          </a:bodyPr>
          <a:p>
            <a:pPr algn="ctr"/>
            <a:r>
              <a:rPr lang="en-US" sz="800" b="1">
                <a:solidFill>
                  <a:srgbClr val="1A8A8A"/>
                </a:solidFill>
              </a:rPr>
              <a:t>Phase: Minimum Viable Test</a:t>
            </a:r>
            <a:endParaRPr lang="en-US" sz="800" b="1">
              <a:solidFill>
                <a:srgbClr val="1A8A8A"/>
              </a:solidFill>
            </a:endParaRPr>
          </a:p>
        </p:txBody>
      </p:sp>
      <p:sp>
        <p:nvSpPr>
          <p:cNvPr id="14" name="Rectangles 13"/>
          <p:cNvSpPr/>
          <p:nvPr/>
        </p:nvSpPr>
        <p:spPr>
          <a:xfrm>
            <a:off x="482600" y="2844800"/>
            <a:ext cx="3327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5" name="Text Box 14"/>
          <p:cNvSpPr txBox="1"/>
          <p:nvPr/>
        </p:nvSpPr>
        <p:spPr>
          <a:xfrm>
            <a:off x="355600" y="2971800"/>
            <a:ext cx="3581400" cy="229870"/>
          </a:xfrm>
          <a:prstGeom prst="rect">
            <a:avLst/>
          </a:prstGeom>
          <a:noFill/>
        </p:spPr>
        <p:txBody>
          <a:bodyPr wrap="square" rtlCol="0" anchor="t">
            <a:spAutoFit/>
          </a:bodyPr>
          <a:p>
            <a:pPr algn="l"/>
            <a:r>
              <a:rPr lang="en-US" sz="900">
                <a:solidFill>
                  <a:srgbClr val="233246"/>
                </a:solidFill>
              </a:rPr>
              <a:t>Platform: LinkedIn InMail only</a:t>
            </a:r>
            <a:endParaRPr lang="en-US" sz="900">
              <a:solidFill>
                <a:srgbClr val="233246"/>
              </a:solidFill>
            </a:endParaRPr>
          </a:p>
        </p:txBody>
      </p:sp>
      <p:sp>
        <p:nvSpPr>
          <p:cNvPr id="16" name="Text Box 15"/>
          <p:cNvSpPr txBox="1"/>
          <p:nvPr/>
        </p:nvSpPr>
        <p:spPr>
          <a:xfrm>
            <a:off x="355600" y="3606800"/>
            <a:ext cx="3581400" cy="229870"/>
          </a:xfrm>
          <a:prstGeom prst="rect">
            <a:avLst/>
          </a:prstGeom>
          <a:noFill/>
        </p:spPr>
        <p:txBody>
          <a:bodyPr wrap="square" rtlCol="0" anchor="t">
            <a:spAutoFit/>
          </a:bodyPr>
          <a:p>
            <a:pPr algn="l"/>
            <a:r>
              <a:rPr lang="en-US" sz="900">
                <a:solidFill>
                  <a:srgbClr val="233246"/>
                </a:solidFill>
              </a:rPr>
              <a:t>Segment: Credit Union C-Suite (1 segment)</a:t>
            </a:r>
            <a:endParaRPr lang="en-US" sz="900">
              <a:solidFill>
                <a:srgbClr val="233246"/>
              </a:solidFill>
            </a:endParaRPr>
          </a:p>
        </p:txBody>
      </p:sp>
      <p:sp>
        <p:nvSpPr>
          <p:cNvPr id="17" name="Text Box 16"/>
          <p:cNvSpPr txBox="1"/>
          <p:nvPr/>
        </p:nvSpPr>
        <p:spPr>
          <a:xfrm>
            <a:off x="355600" y="4241800"/>
            <a:ext cx="3581400" cy="229870"/>
          </a:xfrm>
          <a:prstGeom prst="rect">
            <a:avLst/>
          </a:prstGeom>
          <a:noFill/>
        </p:spPr>
        <p:txBody>
          <a:bodyPr wrap="square" rtlCol="0" anchor="t">
            <a:spAutoFit/>
          </a:bodyPr>
          <a:p>
            <a:pPr algn="l"/>
            <a:r>
              <a:rPr lang="en-US" sz="900">
                <a:solidFill>
                  <a:srgbClr val="233246"/>
                </a:solidFill>
              </a:rPr>
              <a:t>Sends: ~500/month  /  Opens: ~260</a:t>
            </a:r>
            <a:endParaRPr lang="en-US" sz="900">
              <a:solidFill>
                <a:srgbClr val="233246"/>
              </a:solidFill>
            </a:endParaRPr>
          </a:p>
        </p:txBody>
      </p:sp>
      <p:sp>
        <p:nvSpPr>
          <p:cNvPr id="18" name="Text Box 17"/>
          <p:cNvSpPr txBox="1"/>
          <p:nvPr/>
        </p:nvSpPr>
        <p:spPr>
          <a:xfrm>
            <a:off x="355600" y="4876800"/>
            <a:ext cx="3581400" cy="229870"/>
          </a:xfrm>
          <a:prstGeom prst="rect">
            <a:avLst/>
          </a:prstGeom>
          <a:noFill/>
        </p:spPr>
        <p:txBody>
          <a:bodyPr wrap="square" rtlCol="0" anchor="t">
            <a:spAutoFit/>
          </a:bodyPr>
          <a:p>
            <a:pPr algn="l"/>
            <a:r>
              <a:rPr lang="en-US" sz="900">
                <a:solidFill>
                  <a:srgbClr val="233246"/>
                </a:solidFill>
              </a:rPr>
              <a:t>Est. Leads: 3-5/month  /  CPL: $40-67</a:t>
            </a:r>
            <a:endParaRPr lang="en-US" sz="900">
              <a:solidFill>
                <a:srgbClr val="233246"/>
              </a:solidFill>
            </a:endParaRPr>
          </a:p>
        </p:txBody>
      </p:sp>
      <p:sp>
        <p:nvSpPr>
          <p:cNvPr id="19" name="Text Box 18"/>
          <p:cNvSpPr txBox="1"/>
          <p:nvPr/>
        </p:nvSpPr>
        <p:spPr>
          <a:xfrm>
            <a:off x="355600" y="5511800"/>
            <a:ext cx="3581400" cy="229870"/>
          </a:xfrm>
          <a:prstGeom prst="rect">
            <a:avLst/>
          </a:prstGeom>
          <a:noFill/>
        </p:spPr>
        <p:txBody>
          <a:bodyPr wrap="square" rtlCol="0" anchor="t">
            <a:spAutoFit/>
          </a:bodyPr>
          <a:p>
            <a:pPr algn="l"/>
            <a:r>
              <a:rPr lang="en-US" sz="900">
                <a:solidFill>
                  <a:srgbClr val="233246"/>
                </a:solidFill>
              </a:rPr>
              <a:t>Purpose: Validate message + audience fit</a:t>
            </a:r>
            <a:endParaRPr lang="en-US" sz="900">
              <a:solidFill>
                <a:srgbClr val="233246"/>
              </a:solidFill>
            </a:endParaRPr>
          </a:p>
        </p:txBody>
      </p:sp>
      <p:sp>
        <p:nvSpPr>
          <p:cNvPr id="20" name="Rectangles 19"/>
          <p:cNvSpPr/>
          <p:nvPr/>
        </p:nvSpPr>
        <p:spPr>
          <a:xfrm>
            <a:off x="4318000" y="2006600"/>
            <a:ext cx="3835400" cy="44450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1" name="Rectangles 20"/>
          <p:cNvSpPr/>
          <p:nvPr/>
        </p:nvSpPr>
        <p:spPr>
          <a:xfrm>
            <a:off x="4318000" y="2006600"/>
            <a:ext cx="3835400" cy="508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Text Box 21"/>
          <p:cNvSpPr txBox="1"/>
          <p:nvPr/>
        </p:nvSpPr>
        <p:spPr>
          <a:xfrm>
            <a:off x="4445000" y="2133600"/>
            <a:ext cx="3581400" cy="429895"/>
          </a:xfrm>
          <a:prstGeom prst="rect">
            <a:avLst/>
          </a:prstGeom>
          <a:noFill/>
        </p:spPr>
        <p:txBody>
          <a:bodyPr wrap="square" rtlCol="0" anchor="ctr">
            <a:spAutoFit/>
          </a:bodyPr>
          <a:p>
            <a:pPr algn="ctr"/>
            <a:r>
              <a:rPr lang="en-US" sz="2200" b="1">
                <a:solidFill>
                  <a:srgbClr val="0D1B2A"/>
                </a:solidFill>
              </a:rPr>
              <a:t>$800 / Month</a:t>
            </a:r>
            <a:endParaRPr lang="en-US" sz="2200" b="1">
              <a:solidFill>
                <a:srgbClr val="0D1B2A"/>
              </a:solidFill>
            </a:endParaRPr>
          </a:p>
        </p:txBody>
      </p:sp>
      <p:sp>
        <p:nvSpPr>
          <p:cNvPr id="23" name="Text Box 22"/>
          <p:cNvSpPr txBox="1"/>
          <p:nvPr/>
        </p:nvSpPr>
        <p:spPr>
          <a:xfrm>
            <a:off x="4445000" y="2565400"/>
            <a:ext cx="3581400" cy="213995"/>
          </a:xfrm>
          <a:prstGeom prst="rect">
            <a:avLst/>
          </a:prstGeom>
          <a:noFill/>
        </p:spPr>
        <p:txBody>
          <a:bodyPr wrap="square" rtlCol="0" anchor="ctr">
            <a:spAutoFit/>
          </a:bodyPr>
          <a:p>
            <a:pPr algn="ctr"/>
            <a:r>
              <a:rPr lang="en-US" sz="800" b="1">
                <a:solidFill>
                  <a:srgbClr val="1A6BB5"/>
                </a:solidFill>
              </a:rPr>
              <a:t>Phase: Primary Growth Plan</a:t>
            </a:r>
            <a:endParaRPr lang="en-US" sz="800" b="1">
              <a:solidFill>
                <a:srgbClr val="1A6BB5"/>
              </a:solidFill>
            </a:endParaRPr>
          </a:p>
        </p:txBody>
      </p:sp>
      <p:sp>
        <p:nvSpPr>
          <p:cNvPr id="24" name="Rectangles 23"/>
          <p:cNvSpPr/>
          <p:nvPr/>
        </p:nvSpPr>
        <p:spPr>
          <a:xfrm>
            <a:off x="4572000" y="2844800"/>
            <a:ext cx="3327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5" name="Text Box 24"/>
          <p:cNvSpPr txBox="1"/>
          <p:nvPr/>
        </p:nvSpPr>
        <p:spPr>
          <a:xfrm>
            <a:off x="4445000" y="2971800"/>
            <a:ext cx="3581400" cy="229870"/>
          </a:xfrm>
          <a:prstGeom prst="rect">
            <a:avLst/>
          </a:prstGeom>
          <a:noFill/>
        </p:spPr>
        <p:txBody>
          <a:bodyPr wrap="square" rtlCol="0" anchor="t">
            <a:spAutoFit/>
          </a:bodyPr>
          <a:p>
            <a:pPr algn="l"/>
            <a:r>
              <a:rPr lang="en-US" sz="900">
                <a:solidFill>
                  <a:srgbClr val="233246"/>
                </a:solidFill>
              </a:rPr>
              <a:t>Platform: LinkedIn InMail only</a:t>
            </a:r>
            <a:endParaRPr lang="en-US" sz="900">
              <a:solidFill>
                <a:srgbClr val="233246"/>
              </a:solidFill>
            </a:endParaRPr>
          </a:p>
        </p:txBody>
      </p:sp>
      <p:sp>
        <p:nvSpPr>
          <p:cNvPr id="26" name="Text Box 25"/>
          <p:cNvSpPr txBox="1"/>
          <p:nvPr/>
        </p:nvSpPr>
        <p:spPr>
          <a:xfrm>
            <a:off x="4445000" y="3606800"/>
            <a:ext cx="3581400" cy="229870"/>
          </a:xfrm>
          <a:prstGeom prst="rect">
            <a:avLst/>
          </a:prstGeom>
          <a:noFill/>
        </p:spPr>
        <p:txBody>
          <a:bodyPr wrap="square" rtlCol="0" anchor="t">
            <a:spAutoFit/>
          </a:bodyPr>
          <a:p>
            <a:pPr algn="l"/>
            <a:r>
              <a:rPr lang="en-US" sz="900">
                <a:solidFill>
                  <a:srgbClr val="233246"/>
                </a:solidFill>
              </a:rPr>
              <a:t>Segment: Both - Banking Ops + Credit Union (2 segments)</a:t>
            </a:r>
            <a:endParaRPr lang="en-US" sz="900">
              <a:solidFill>
                <a:srgbClr val="233246"/>
              </a:solidFill>
            </a:endParaRPr>
          </a:p>
        </p:txBody>
      </p:sp>
      <p:sp>
        <p:nvSpPr>
          <p:cNvPr id="27" name="Text Box 26"/>
          <p:cNvSpPr txBox="1"/>
          <p:nvPr/>
        </p:nvSpPr>
        <p:spPr>
          <a:xfrm>
            <a:off x="4445000" y="4241800"/>
            <a:ext cx="3581400" cy="229870"/>
          </a:xfrm>
          <a:prstGeom prst="rect">
            <a:avLst/>
          </a:prstGeom>
          <a:noFill/>
        </p:spPr>
        <p:txBody>
          <a:bodyPr wrap="square" rtlCol="0" anchor="t">
            <a:spAutoFit/>
          </a:bodyPr>
          <a:p>
            <a:pPr algn="l"/>
            <a:r>
              <a:rPr lang="en-US" sz="900">
                <a:solidFill>
                  <a:srgbClr val="233246"/>
                </a:solidFill>
              </a:rPr>
              <a:t>Sends: ~2,400/month  /  Opens: ~1,248</a:t>
            </a:r>
            <a:endParaRPr lang="en-US" sz="900">
              <a:solidFill>
                <a:srgbClr val="233246"/>
              </a:solidFill>
            </a:endParaRPr>
          </a:p>
        </p:txBody>
      </p:sp>
      <p:sp>
        <p:nvSpPr>
          <p:cNvPr id="28" name="Text Box 27"/>
          <p:cNvSpPr txBox="1"/>
          <p:nvPr/>
        </p:nvSpPr>
        <p:spPr>
          <a:xfrm>
            <a:off x="4445000" y="4876800"/>
            <a:ext cx="3581400" cy="229870"/>
          </a:xfrm>
          <a:prstGeom prst="rect">
            <a:avLst/>
          </a:prstGeom>
          <a:noFill/>
        </p:spPr>
        <p:txBody>
          <a:bodyPr wrap="square" rtlCol="0" anchor="t">
            <a:spAutoFit/>
          </a:bodyPr>
          <a:p>
            <a:pPr algn="l"/>
            <a:r>
              <a:rPr lang="en-US" sz="900">
                <a:solidFill>
                  <a:srgbClr val="233246"/>
                </a:solidFill>
              </a:rPr>
              <a:t>Est. Leads: 15-22/month  /  CPL: $36-53</a:t>
            </a:r>
            <a:endParaRPr lang="en-US" sz="900">
              <a:solidFill>
                <a:srgbClr val="233246"/>
              </a:solidFill>
            </a:endParaRPr>
          </a:p>
        </p:txBody>
      </p:sp>
      <p:sp>
        <p:nvSpPr>
          <p:cNvPr id="29" name="Text Box 28"/>
          <p:cNvSpPr txBox="1"/>
          <p:nvPr/>
        </p:nvSpPr>
        <p:spPr>
          <a:xfrm>
            <a:off x="4445000" y="5511800"/>
            <a:ext cx="3581400" cy="229870"/>
          </a:xfrm>
          <a:prstGeom prst="rect">
            <a:avLst/>
          </a:prstGeom>
          <a:noFill/>
        </p:spPr>
        <p:txBody>
          <a:bodyPr wrap="square" rtlCol="0" anchor="t">
            <a:spAutoFit/>
          </a:bodyPr>
          <a:p>
            <a:pPr algn="l"/>
            <a:r>
              <a:rPr lang="en-US" sz="900">
                <a:solidFill>
                  <a:srgbClr val="233246"/>
                </a:solidFill>
              </a:rPr>
              <a:t>Purpose: Build pipeline, refine targeting</a:t>
            </a:r>
            <a:endParaRPr lang="en-US" sz="900">
              <a:solidFill>
                <a:srgbClr val="233246"/>
              </a:solidFill>
            </a:endParaRPr>
          </a:p>
        </p:txBody>
      </p:sp>
      <p:sp>
        <p:nvSpPr>
          <p:cNvPr id="30" name="Rectangles 29"/>
          <p:cNvSpPr/>
          <p:nvPr/>
        </p:nvSpPr>
        <p:spPr>
          <a:xfrm>
            <a:off x="8407400" y="2006600"/>
            <a:ext cx="3835400" cy="44450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1" name="Rectangles 30"/>
          <p:cNvSpPr/>
          <p:nvPr/>
        </p:nvSpPr>
        <p:spPr>
          <a:xfrm>
            <a:off x="8407400" y="2006600"/>
            <a:ext cx="3835400" cy="508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2" name="Text Box 31"/>
          <p:cNvSpPr txBox="1"/>
          <p:nvPr/>
        </p:nvSpPr>
        <p:spPr>
          <a:xfrm>
            <a:off x="8534400" y="2133600"/>
            <a:ext cx="3581400" cy="429895"/>
          </a:xfrm>
          <a:prstGeom prst="rect">
            <a:avLst/>
          </a:prstGeom>
          <a:noFill/>
        </p:spPr>
        <p:txBody>
          <a:bodyPr wrap="square" rtlCol="0" anchor="ctr">
            <a:spAutoFit/>
          </a:bodyPr>
          <a:p>
            <a:pPr algn="ctr"/>
            <a:r>
              <a:rPr lang="en-US" sz="2200" b="1">
                <a:solidFill>
                  <a:srgbClr val="0D1B2A"/>
                </a:solidFill>
              </a:rPr>
              <a:t>$2,000 / Month</a:t>
            </a:r>
            <a:endParaRPr lang="en-US" sz="2200" b="1">
              <a:solidFill>
                <a:srgbClr val="0D1B2A"/>
              </a:solidFill>
            </a:endParaRPr>
          </a:p>
        </p:txBody>
      </p:sp>
      <p:sp>
        <p:nvSpPr>
          <p:cNvPr id="33" name="Text Box 32"/>
          <p:cNvSpPr txBox="1"/>
          <p:nvPr/>
        </p:nvSpPr>
        <p:spPr>
          <a:xfrm>
            <a:off x="8534400" y="2565400"/>
            <a:ext cx="3581400" cy="213995"/>
          </a:xfrm>
          <a:prstGeom prst="rect">
            <a:avLst/>
          </a:prstGeom>
          <a:noFill/>
        </p:spPr>
        <p:txBody>
          <a:bodyPr wrap="square" rtlCol="0" anchor="ctr">
            <a:spAutoFit/>
          </a:bodyPr>
          <a:p>
            <a:pPr algn="ctr"/>
            <a:r>
              <a:rPr lang="en-US" sz="800" b="1">
                <a:solidFill>
                  <a:srgbClr val="C9A840"/>
                </a:solidFill>
              </a:rPr>
              <a:t>Phase: Full-Funnel Launch</a:t>
            </a:r>
            <a:endParaRPr lang="en-US" sz="800" b="1">
              <a:solidFill>
                <a:srgbClr val="C9A840"/>
              </a:solidFill>
            </a:endParaRPr>
          </a:p>
        </p:txBody>
      </p:sp>
      <p:sp>
        <p:nvSpPr>
          <p:cNvPr id="34" name="Rectangles 33"/>
          <p:cNvSpPr/>
          <p:nvPr/>
        </p:nvSpPr>
        <p:spPr>
          <a:xfrm>
            <a:off x="8661400" y="2844800"/>
            <a:ext cx="3327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5" name="Text Box 34"/>
          <p:cNvSpPr txBox="1"/>
          <p:nvPr/>
        </p:nvSpPr>
        <p:spPr>
          <a:xfrm>
            <a:off x="8534400" y="2971800"/>
            <a:ext cx="3581400" cy="229870"/>
          </a:xfrm>
          <a:prstGeom prst="rect">
            <a:avLst/>
          </a:prstGeom>
          <a:noFill/>
        </p:spPr>
        <p:txBody>
          <a:bodyPr wrap="square" rtlCol="0" anchor="t">
            <a:spAutoFit/>
          </a:bodyPr>
          <a:p>
            <a:pPr algn="l"/>
            <a:r>
              <a:rPr lang="en-US" sz="900">
                <a:solidFill>
                  <a:srgbClr val="233246"/>
                </a:solidFill>
              </a:rPr>
              <a:t>Platform: LinkedIn InMail + Google Ads (2 campaigns)</a:t>
            </a:r>
            <a:endParaRPr lang="en-US" sz="900">
              <a:solidFill>
                <a:srgbClr val="233246"/>
              </a:solidFill>
            </a:endParaRPr>
          </a:p>
        </p:txBody>
      </p:sp>
      <p:sp>
        <p:nvSpPr>
          <p:cNvPr id="36" name="Text Box 35"/>
          <p:cNvSpPr txBox="1"/>
          <p:nvPr/>
        </p:nvSpPr>
        <p:spPr>
          <a:xfrm>
            <a:off x="8534400" y="3606800"/>
            <a:ext cx="3581400" cy="229870"/>
          </a:xfrm>
          <a:prstGeom prst="rect">
            <a:avLst/>
          </a:prstGeom>
          <a:noFill/>
        </p:spPr>
        <p:txBody>
          <a:bodyPr wrap="square" rtlCol="0" anchor="t">
            <a:spAutoFit/>
          </a:bodyPr>
          <a:p>
            <a:pPr algn="l"/>
            <a:r>
              <a:rPr lang="en-US" sz="900">
                <a:solidFill>
                  <a:srgbClr val="233246"/>
                </a:solidFill>
              </a:rPr>
              <a:t>Google: Competitor Conquesting + Banking AI Category</a:t>
            </a:r>
            <a:endParaRPr lang="en-US" sz="900">
              <a:solidFill>
                <a:srgbClr val="233246"/>
              </a:solidFill>
            </a:endParaRPr>
          </a:p>
        </p:txBody>
      </p:sp>
      <p:sp>
        <p:nvSpPr>
          <p:cNvPr id="37" name="Text Box 36"/>
          <p:cNvSpPr txBox="1"/>
          <p:nvPr/>
        </p:nvSpPr>
        <p:spPr>
          <a:xfrm>
            <a:off x="8534400" y="4241800"/>
            <a:ext cx="3581400" cy="229870"/>
          </a:xfrm>
          <a:prstGeom prst="rect">
            <a:avLst/>
          </a:prstGeom>
          <a:noFill/>
        </p:spPr>
        <p:txBody>
          <a:bodyPr wrap="square" rtlCol="0" anchor="t">
            <a:spAutoFit/>
          </a:bodyPr>
          <a:p>
            <a:pPr algn="l"/>
            <a:r>
              <a:rPr lang="en-US" sz="900">
                <a:solidFill>
                  <a:srgbClr val="233246"/>
                </a:solidFill>
              </a:rPr>
              <a:t>Sends: ~2,400 InMail  +  8,000+ Google impressions</a:t>
            </a:r>
            <a:endParaRPr lang="en-US" sz="900">
              <a:solidFill>
                <a:srgbClr val="233246"/>
              </a:solidFill>
            </a:endParaRPr>
          </a:p>
        </p:txBody>
      </p:sp>
      <p:sp>
        <p:nvSpPr>
          <p:cNvPr id="38" name="Text Box 37"/>
          <p:cNvSpPr txBox="1"/>
          <p:nvPr/>
        </p:nvSpPr>
        <p:spPr>
          <a:xfrm>
            <a:off x="8534400" y="4876800"/>
            <a:ext cx="3581400" cy="229870"/>
          </a:xfrm>
          <a:prstGeom prst="rect">
            <a:avLst/>
          </a:prstGeom>
          <a:noFill/>
        </p:spPr>
        <p:txBody>
          <a:bodyPr wrap="square" rtlCol="0" anchor="t">
            <a:spAutoFit/>
          </a:bodyPr>
          <a:p>
            <a:pPr algn="l"/>
            <a:r>
              <a:rPr lang="en-US" sz="900">
                <a:solidFill>
                  <a:srgbClr val="233246"/>
                </a:solidFill>
              </a:rPr>
              <a:t>Est. Leads: 22-34/month  /  CPL: $59-91</a:t>
            </a:r>
            <a:endParaRPr lang="en-US" sz="900">
              <a:solidFill>
                <a:srgbClr val="233246"/>
              </a:solidFill>
            </a:endParaRPr>
          </a:p>
        </p:txBody>
      </p:sp>
      <p:sp>
        <p:nvSpPr>
          <p:cNvPr id="39" name="Text Box 38"/>
          <p:cNvSpPr txBox="1"/>
          <p:nvPr/>
        </p:nvSpPr>
        <p:spPr>
          <a:xfrm>
            <a:off x="8534400" y="5511800"/>
            <a:ext cx="3581400" cy="229870"/>
          </a:xfrm>
          <a:prstGeom prst="rect">
            <a:avLst/>
          </a:prstGeom>
          <a:noFill/>
        </p:spPr>
        <p:txBody>
          <a:bodyPr wrap="square" rtlCol="0" anchor="t">
            <a:spAutoFit/>
          </a:bodyPr>
          <a:p>
            <a:pPr algn="l"/>
            <a:r>
              <a:rPr lang="en-US" sz="900">
                <a:solidFill>
                  <a:srgbClr val="233246"/>
                </a:solidFill>
              </a:rPr>
              <a:t>Purpose: Scale reach, capture search intent</a:t>
            </a:r>
            <a:endParaRPr lang="en-US" sz="900">
              <a:solidFill>
                <a:srgbClr val="233246"/>
              </a:solidFill>
            </a:endParaRPr>
          </a:p>
        </p:txBody>
      </p:sp>
      <p:sp>
        <p:nvSpPr>
          <p:cNvPr id="40" name="Text Box 39"/>
          <p:cNvSpPr txBox="1"/>
          <p:nvPr/>
        </p:nvSpPr>
        <p:spPr>
          <a:xfrm>
            <a:off x="228600" y="6553200"/>
            <a:ext cx="11734800" cy="229870"/>
          </a:xfrm>
          <a:prstGeom prst="rect">
            <a:avLst/>
          </a:prstGeom>
          <a:noFill/>
        </p:spPr>
        <p:txBody>
          <a:bodyPr wrap="square" rtlCol="0" anchor="ctr">
            <a:spAutoFit/>
          </a:bodyPr>
          <a:p>
            <a:pPr algn="ctr"/>
            <a:r>
              <a:rPr lang="en-US" sz="900">
                <a:solidFill>
                  <a:srgbClr val="64748B"/>
                </a:solidFill>
              </a:rPr>
              <a:t>Recommendation: Start with $800/month (both InMail segments). Validate in 30 days. Move to $2,000 when first demo conversions are confirmed.</a:t>
            </a:r>
            <a:endParaRPr lang="en-US" sz="900">
              <a:solidFill>
                <a:srgbClr val="64748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$200/Month - Minimum Viable Campaign / LinkedIn InMail</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1 segment / Credit Union C-Suite</a:t>
            </a:r>
            <a:endParaRPr lang="en-US" sz="800">
              <a:solidFill>
                <a:srgbClr val="A0B4D2"/>
              </a:solidFill>
            </a:endParaRPr>
          </a:p>
        </p:txBody>
      </p:sp>
      <p:sp>
        <p:nvSpPr>
          <p:cNvPr id="6" name="Rectangles 5"/>
          <p:cNvSpPr/>
          <p:nvPr/>
        </p:nvSpPr>
        <p:spPr>
          <a:xfrm>
            <a:off x="228600" y="711200"/>
            <a:ext cx="5842000" cy="16510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11200"/>
            <a:ext cx="50800" cy="16510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55600" y="787400"/>
            <a:ext cx="5588000" cy="229870"/>
          </a:xfrm>
          <a:prstGeom prst="rect">
            <a:avLst/>
          </a:prstGeom>
          <a:noFill/>
        </p:spPr>
        <p:txBody>
          <a:bodyPr wrap="square" rtlCol="0" anchor="ctr">
            <a:spAutoFit/>
          </a:bodyPr>
          <a:p>
            <a:pPr algn="l"/>
            <a:r>
              <a:rPr lang="en-US" sz="900" b="1">
                <a:solidFill>
                  <a:srgbClr val="D97706"/>
                </a:solidFill>
              </a:rPr>
              <a:t>WHY CREDIT UNIONS AT THIS BUDGET</a:t>
            </a:r>
            <a:endParaRPr lang="en-US" sz="900" b="1">
              <a:solidFill>
                <a:srgbClr val="D97706"/>
              </a:solidFill>
            </a:endParaRPr>
          </a:p>
        </p:txBody>
      </p:sp>
      <p:sp>
        <p:nvSpPr>
          <p:cNvPr id="9" name="Text Box 8"/>
          <p:cNvSpPr txBox="1"/>
          <p:nvPr/>
        </p:nvSpPr>
        <p:spPr>
          <a:xfrm>
            <a:off x="355600" y="1092200"/>
            <a:ext cx="5588000" cy="645160"/>
          </a:xfrm>
          <a:prstGeom prst="rect">
            <a:avLst/>
          </a:prstGeom>
          <a:noFill/>
        </p:spPr>
        <p:txBody>
          <a:bodyPr wrap="square" rtlCol="0" anchor="t">
            <a:spAutoFit/>
          </a:bodyPr>
          <a:p>
            <a:pPr algn="l"/>
            <a:r>
              <a:rPr lang="en-US" sz="900">
                <a:solidFill>
                  <a:srgbClr val="503C14"/>
                </a:solidFill>
              </a:rPr>
              <a:t>* Smallest governance structure = fastest buying decisions
* Mission-first mandate aligns with CSXAI empathy positioning
* C-suite is reachable directly on LinkedIn with small send volumes
* Lowest CPL in the entire channel mix - right audience for limited budget</a:t>
            </a:r>
            <a:endParaRPr lang="en-US" sz="900">
              <a:solidFill>
                <a:srgbClr val="503C14"/>
              </a:solidFill>
            </a:endParaRPr>
          </a:p>
        </p:txBody>
      </p:sp>
      <p:sp>
        <p:nvSpPr>
          <p:cNvPr id="10" name="Rectangles 9"/>
          <p:cNvSpPr/>
          <p:nvPr/>
        </p:nvSpPr>
        <p:spPr>
          <a:xfrm>
            <a:off x="6223000" y="711200"/>
            <a:ext cx="5715000" cy="16510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1" name="Rectangles 10"/>
          <p:cNvSpPr/>
          <p:nvPr/>
        </p:nvSpPr>
        <p:spPr>
          <a:xfrm>
            <a:off x="6223000" y="711200"/>
            <a:ext cx="50800" cy="16510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6350000" y="787400"/>
            <a:ext cx="5461000" cy="229870"/>
          </a:xfrm>
          <a:prstGeom prst="rect">
            <a:avLst/>
          </a:prstGeom>
          <a:noFill/>
        </p:spPr>
        <p:txBody>
          <a:bodyPr wrap="square" rtlCol="0" anchor="ctr">
            <a:spAutoFit/>
          </a:bodyPr>
          <a:p>
            <a:pPr algn="l"/>
            <a:r>
              <a:rPr lang="en-US" sz="900" b="1">
                <a:solidFill>
                  <a:srgbClr val="1A6BB5"/>
                </a:solidFill>
              </a:rPr>
              <a:t>TARGETING PARAMETERS</a:t>
            </a:r>
            <a:endParaRPr lang="en-US" sz="900" b="1">
              <a:solidFill>
                <a:srgbClr val="1A6BB5"/>
              </a:solidFill>
            </a:endParaRPr>
          </a:p>
        </p:txBody>
      </p:sp>
      <p:sp>
        <p:nvSpPr>
          <p:cNvPr id="13" name="Text Box 12"/>
          <p:cNvSpPr txBox="1"/>
          <p:nvPr/>
        </p:nvSpPr>
        <p:spPr>
          <a:xfrm>
            <a:off x="6350000" y="1092200"/>
            <a:ext cx="5461000" cy="645160"/>
          </a:xfrm>
          <a:prstGeom prst="rect">
            <a:avLst/>
          </a:prstGeom>
          <a:noFill/>
        </p:spPr>
        <p:txBody>
          <a:bodyPr wrap="square" rtlCol="0" anchor="t">
            <a:spAutoFit/>
          </a:bodyPr>
          <a:p>
            <a:pPr algn="l"/>
            <a:r>
              <a:rPr lang="en-US" sz="900">
                <a:solidFill>
                  <a:srgbClr val="143264"/>
                </a:solidFill>
              </a:rPr>
              <a:t>Titles: CEO / COO / CTO / Chief Digital Officer / VP Technology / VP Member Experience
Industry: Financial Services (credit union companies filter)
Company size: 50-500 employees / Geography: United States
Seniority: CXO / VP / Director / Owner</a:t>
            </a:r>
            <a:endParaRPr lang="en-US" sz="900">
              <a:solidFill>
                <a:srgbClr val="143264"/>
              </a:solidFill>
            </a:endParaRPr>
          </a:p>
        </p:txBody>
      </p:sp>
      <p:sp>
        <p:nvSpPr>
          <p:cNvPr id="14" name="Text Box 13"/>
          <p:cNvSpPr txBox="1"/>
          <p:nvPr/>
        </p:nvSpPr>
        <p:spPr>
          <a:xfrm>
            <a:off x="228600" y="2489200"/>
            <a:ext cx="11684000" cy="245110"/>
          </a:xfrm>
          <a:prstGeom prst="rect">
            <a:avLst/>
          </a:prstGeom>
          <a:noFill/>
        </p:spPr>
        <p:txBody>
          <a:bodyPr wrap="square" rtlCol="0" anchor="ctr">
            <a:spAutoFit/>
          </a:bodyPr>
          <a:p>
            <a:pPr algn="l"/>
            <a:r>
              <a:rPr lang="en-US" sz="1000" b="1">
                <a:solidFill>
                  <a:srgbClr val="0D1B2A"/>
                </a:solidFill>
              </a:rPr>
              <a:t>3-MONTH PROJECTION</a:t>
            </a:r>
            <a:endParaRPr lang="en-US" sz="1000" b="1">
              <a:solidFill>
                <a:srgbClr val="0D1B2A"/>
              </a:solidFill>
            </a:endParaRPr>
          </a:p>
        </p:txBody>
      </p:sp>
      <p:sp>
        <p:nvSpPr>
          <p:cNvPr id="15" name="Rectangles 14"/>
          <p:cNvSpPr/>
          <p:nvPr/>
        </p:nvSpPr>
        <p:spPr>
          <a:xfrm>
            <a:off x="228600" y="2768600"/>
            <a:ext cx="11734800" cy="3556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6" name="Text Box 15"/>
          <p:cNvSpPr txBox="1"/>
          <p:nvPr/>
        </p:nvSpPr>
        <p:spPr>
          <a:xfrm>
            <a:off x="304800" y="2794000"/>
            <a:ext cx="3708400" cy="229870"/>
          </a:xfrm>
          <a:prstGeom prst="rect">
            <a:avLst/>
          </a:prstGeom>
          <a:noFill/>
        </p:spPr>
        <p:txBody>
          <a:bodyPr wrap="square" rtlCol="0" anchor="ctr">
            <a:spAutoFit/>
          </a:bodyPr>
          <a:p>
            <a:pPr algn="l"/>
            <a:r>
              <a:rPr lang="en-US" sz="900" b="1">
                <a:solidFill>
                  <a:srgbClr val="FFFFFF"/>
                </a:solidFill>
              </a:rPr>
              <a:t>Metric</a:t>
            </a:r>
            <a:endParaRPr lang="en-US" sz="900" b="1">
              <a:solidFill>
                <a:srgbClr val="FFFFFF"/>
              </a:solidFill>
            </a:endParaRPr>
          </a:p>
        </p:txBody>
      </p:sp>
      <p:sp>
        <p:nvSpPr>
          <p:cNvPr id="17" name="Text Box 16"/>
          <p:cNvSpPr txBox="1"/>
          <p:nvPr/>
        </p:nvSpPr>
        <p:spPr>
          <a:xfrm>
            <a:off x="4114800" y="2794000"/>
            <a:ext cx="2438400" cy="229870"/>
          </a:xfrm>
          <a:prstGeom prst="rect">
            <a:avLst/>
          </a:prstGeom>
          <a:noFill/>
        </p:spPr>
        <p:txBody>
          <a:bodyPr wrap="square" rtlCol="0" anchor="ctr">
            <a:spAutoFit/>
          </a:bodyPr>
          <a:p>
            <a:pPr algn="l"/>
            <a:r>
              <a:rPr lang="en-US" sz="900" b="1">
                <a:solidFill>
                  <a:srgbClr val="FFFFFF"/>
                </a:solidFill>
              </a:rPr>
              <a:t>Month 1</a:t>
            </a:r>
            <a:endParaRPr lang="en-US" sz="900" b="1">
              <a:solidFill>
                <a:srgbClr val="FFFFFF"/>
              </a:solidFill>
            </a:endParaRPr>
          </a:p>
        </p:txBody>
      </p:sp>
      <p:sp>
        <p:nvSpPr>
          <p:cNvPr id="18" name="Text Box 17"/>
          <p:cNvSpPr txBox="1"/>
          <p:nvPr/>
        </p:nvSpPr>
        <p:spPr>
          <a:xfrm>
            <a:off x="6654800" y="2794000"/>
            <a:ext cx="2438400" cy="229870"/>
          </a:xfrm>
          <a:prstGeom prst="rect">
            <a:avLst/>
          </a:prstGeom>
          <a:noFill/>
        </p:spPr>
        <p:txBody>
          <a:bodyPr wrap="square" rtlCol="0" anchor="ctr">
            <a:spAutoFit/>
          </a:bodyPr>
          <a:p>
            <a:pPr algn="l"/>
            <a:r>
              <a:rPr lang="en-US" sz="900" b="1">
                <a:solidFill>
                  <a:srgbClr val="FFFFFF"/>
                </a:solidFill>
              </a:rPr>
              <a:t>Month 2</a:t>
            </a:r>
            <a:endParaRPr lang="en-US" sz="900" b="1">
              <a:solidFill>
                <a:srgbClr val="FFFFFF"/>
              </a:solidFill>
            </a:endParaRPr>
          </a:p>
        </p:txBody>
      </p:sp>
      <p:sp>
        <p:nvSpPr>
          <p:cNvPr id="19" name="Text Box 18"/>
          <p:cNvSpPr txBox="1"/>
          <p:nvPr/>
        </p:nvSpPr>
        <p:spPr>
          <a:xfrm>
            <a:off x="9194800" y="2794000"/>
            <a:ext cx="2743200" cy="229870"/>
          </a:xfrm>
          <a:prstGeom prst="rect">
            <a:avLst/>
          </a:prstGeom>
          <a:noFill/>
        </p:spPr>
        <p:txBody>
          <a:bodyPr wrap="square" rtlCol="0" anchor="ctr">
            <a:spAutoFit/>
          </a:bodyPr>
          <a:p>
            <a:pPr algn="l"/>
            <a:r>
              <a:rPr lang="en-US" sz="900" b="1">
                <a:solidFill>
                  <a:srgbClr val="FFFFFF"/>
                </a:solidFill>
              </a:rPr>
              <a:t>Month 3</a:t>
            </a:r>
            <a:endParaRPr lang="en-US" sz="900" b="1">
              <a:solidFill>
                <a:srgbClr val="FFFFFF"/>
              </a:solidFill>
            </a:endParaRPr>
          </a:p>
        </p:txBody>
      </p:sp>
      <p:sp>
        <p:nvSpPr>
          <p:cNvPr id="20" name="Rectangles 19"/>
          <p:cNvSpPr/>
          <p:nvPr/>
        </p:nvSpPr>
        <p:spPr>
          <a:xfrm>
            <a:off x="228600" y="31242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1" name="Rectangles 20"/>
          <p:cNvSpPr/>
          <p:nvPr/>
        </p:nvSpPr>
        <p:spPr>
          <a:xfrm>
            <a:off x="228600" y="35941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Text Box 21"/>
          <p:cNvSpPr txBox="1"/>
          <p:nvPr/>
        </p:nvSpPr>
        <p:spPr>
          <a:xfrm>
            <a:off x="304800" y="3162300"/>
            <a:ext cx="3708400" cy="245110"/>
          </a:xfrm>
          <a:prstGeom prst="rect">
            <a:avLst/>
          </a:prstGeom>
          <a:noFill/>
        </p:spPr>
        <p:txBody>
          <a:bodyPr wrap="square" rtlCol="0" anchor="ctr">
            <a:spAutoFit/>
          </a:bodyPr>
          <a:p>
            <a:pPr algn="l"/>
            <a:r>
              <a:rPr lang="en-US" sz="1000">
                <a:solidFill>
                  <a:srgbClr val="0D1B2A"/>
                </a:solidFill>
              </a:rPr>
              <a:t>Budget</a:t>
            </a:r>
            <a:endParaRPr lang="en-US" sz="1000">
              <a:solidFill>
                <a:srgbClr val="0D1B2A"/>
              </a:solidFill>
            </a:endParaRPr>
          </a:p>
        </p:txBody>
      </p:sp>
      <p:sp>
        <p:nvSpPr>
          <p:cNvPr id="23" name="Text Box 22"/>
          <p:cNvSpPr txBox="1"/>
          <p:nvPr/>
        </p:nvSpPr>
        <p:spPr>
          <a:xfrm>
            <a:off x="4114800" y="3162300"/>
            <a:ext cx="2438400" cy="245110"/>
          </a:xfrm>
          <a:prstGeom prst="rect">
            <a:avLst/>
          </a:prstGeom>
          <a:noFill/>
        </p:spPr>
        <p:txBody>
          <a:bodyPr wrap="square" rtlCol="0" anchor="ctr">
            <a:spAutoFit/>
          </a:bodyPr>
          <a:p>
            <a:pPr algn="l"/>
            <a:r>
              <a:rPr lang="en-US" sz="1000">
                <a:solidFill>
                  <a:srgbClr val="0D1B2A"/>
                </a:solidFill>
              </a:rPr>
              <a:t>$200</a:t>
            </a:r>
            <a:endParaRPr lang="en-US" sz="1000">
              <a:solidFill>
                <a:srgbClr val="0D1B2A"/>
              </a:solidFill>
            </a:endParaRPr>
          </a:p>
        </p:txBody>
      </p:sp>
      <p:sp>
        <p:nvSpPr>
          <p:cNvPr id="24" name="Text Box 23"/>
          <p:cNvSpPr txBox="1"/>
          <p:nvPr/>
        </p:nvSpPr>
        <p:spPr>
          <a:xfrm>
            <a:off x="6654800" y="3162300"/>
            <a:ext cx="2438400" cy="245110"/>
          </a:xfrm>
          <a:prstGeom prst="rect">
            <a:avLst/>
          </a:prstGeom>
          <a:noFill/>
        </p:spPr>
        <p:txBody>
          <a:bodyPr wrap="square" rtlCol="0" anchor="ctr">
            <a:spAutoFit/>
          </a:bodyPr>
          <a:p>
            <a:pPr algn="l"/>
            <a:r>
              <a:rPr lang="en-US" sz="1000">
                <a:solidFill>
                  <a:srgbClr val="0D1B2A"/>
                </a:solidFill>
              </a:rPr>
              <a:t>$200</a:t>
            </a:r>
            <a:endParaRPr lang="en-US" sz="1000">
              <a:solidFill>
                <a:srgbClr val="0D1B2A"/>
              </a:solidFill>
            </a:endParaRPr>
          </a:p>
        </p:txBody>
      </p:sp>
      <p:sp>
        <p:nvSpPr>
          <p:cNvPr id="25" name="Text Box 24"/>
          <p:cNvSpPr txBox="1"/>
          <p:nvPr/>
        </p:nvSpPr>
        <p:spPr>
          <a:xfrm>
            <a:off x="9194800" y="3162300"/>
            <a:ext cx="2743200" cy="245110"/>
          </a:xfrm>
          <a:prstGeom prst="rect">
            <a:avLst/>
          </a:prstGeom>
          <a:noFill/>
        </p:spPr>
        <p:txBody>
          <a:bodyPr wrap="square" rtlCol="0" anchor="ctr">
            <a:spAutoFit/>
          </a:bodyPr>
          <a:p>
            <a:pPr algn="l"/>
            <a:r>
              <a:rPr lang="en-US" sz="1000">
                <a:solidFill>
                  <a:srgbClr val="0D1B2A"/>
                </a:solidFill>
              </a:rPr>
              <a:t>$200</a:t>
            </a:r>
            <a:endParaRPr lang="en-US" sz="1000">
              <a:solidFill>
                <a:srgbClr val="0D1B2A"/>
              </a:solidFill>
            </a:endParaRPr>
          </a:p>
        </p:txBody>
      </p:sp>
      <p:sp>
        <p:nvSpPr>
          <p:cNvPr id="26" name="Rectangles 25"/>
          <p:cNvSpPr/>
          <p:nvPr/>
        </p:nvSpPr>
        <p:spPr>
          <a:xfrm>
            <a:off x="228600" y="36068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7" name="Rectangles 26"/>
          <p:cNvSpPr/>
          <p:nvPr/>
        </p:nvSpPr>
        <p:spPr>
          <a:xfrm>
            <a:off x="228600" y="40767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8" name="Text Box 27"/>
          <p:cNvSpPr txBox="1"/>
          <p:nvPr/>
        </p:nvSpPr>
        <p:spPr>
          <a:xfrm>
            <a:off x="304800" y="3644900"/>
            <a:ext cx="3708400" cy="245110"/>
          </a:xfrm>
          <a:prstGeom prst="rect">
            <a:avLst/>
          </a:prstGeom>
          <a:noFill/>
        </p:spPr>
        <p:txBody>
          <a:bodyPr wrap="square" rtlCol="0" anchor="ctr">
            <a:spAutoFit/>
          </a:bodyPr>
          <a:p>
            <a:pPr algn="l"/>
            <a:r>
              <a:rPr lang="en-US" sz="1000">
                <a:solidFill>
                  <a:srgbClr val="0D1B2A"/>
                </a:solidFill>
              </a:rPr>
              <a:t>InMail Sends / Month</a:t>
            </a:r>
            <a:endParaRPr lang="en-US" sz="1000">
              <a:solidFill>
                <a:srgbClr val="0D1B2A"/>
              </a:solidFill>
            </a:endParaRPr>
          </a:p>
        </p:txBody>
      </p:sp>
      <p:sp>
        <p:nvSpPr>
          <p:cNvPr id="29" name="Text Box 28"/>
          <p:cNvSpPr txBox="1"/>
          <p:nvPr/>
        </p:nvSpPr>
        <p:spPr>
          <a:xfrm>
            <a:off x="4114800" y="3644900"/>
            <a:ext cx="2438400" cy="245110"/>
          </a:xfrm>
          <a:prstGeom prst="rect">
            <a:avLst/>
          </a:prstGeom>
          <a:noFill/>
        </p:spPr>
        <p:txBody>
          <a:bodyPr wrap="square" rtlCol="0" anchor="ctr">
            <a:spAutoFit/>
          </a:bodyPr>
          <a:p>
            <a:pPr algn="l"/>
            <a:r>
              <a:rPr lang="en-US" sz="1000">
                <a:solidFill>
                  <a:srgbClr val="0D1B2A"/>
                </a:solidFill>
              </a:rPr>
              <a:t>500</a:t>
            </a:r>
            <a:endParaRPr lang="en-US" sz="1000">
              <a:solidFill>
                <a:srgbClr val="0D1B2A"/>
              </a:solidFill>
            </a:endParaRPr>
          </a:p>
        </p:txBody>
      </p:sp>
      <p:sp>
        <p:nvSpPr>
          <p:cNvPr id="30" name="Text Box 29"/>
          <p:cNvSpPr txBox="1"/>
          <p:nvPr/>
        </p:nvSpPr>
        <p:spPr>
          <a:xfrm>
            <a:off x="6654800" y="3644900"/>
            <a:ext cx="2438400" cy="245110"/>
          </a:xfrm>
          <a:prstGeom prst="rect">
            <a:avLst/>
          </a:prstGeom>
          <a:noFill/>
        </p:spPr>
        <p:txBody>
          <a:bodyPr wrap="square" rtlCol="0" anchor="ctr">
            <a:spAutoFit/>
          </a:bodyPr>
          <a:p>
            <a:pPr algn="l"/>
            <a:r>
              <a:rPr lang="en-US" sz="1000">
                <a:solidFill>
                  <a:srgbClr val="0D1B2A"/>
                </a:solidFill>
              </a:rPr>
              <a:t>500</a:t>
            </a:r>
            <a:endParaRPr lang="en-US" sz="1000">
              <a:solidFill>
                <a:srgbClr val="0D1B2A"/>
              </a:solidFill>
            </a:endParaRPr>
          </a:p>
        </p:txBody>
      </p:sp>
      <p:sp>
        <p:nvSpPr>
          <p:cNvPr id="31" name="Text Box 30"/>
          <p:cNvSpPr txBox="1"/>
          <p:nvPr/>
        </p:nvSpPr>
        <p:spPr>
          <a:xfrm>
            <a:off x="9194800" y="3644900"/>
            <a:ext cx="2743200" cy="245110"/>
          </a:xfrm>
          <a:prstGeom prst="rect">
            <a:avLst/>
          </a:prstGeom>
          <a:noFill/>
        </p:spPr>
        <p:txBody>
          <a:bodyPr wrap="square" rtlCol="0" anchor="ctr">
            <a:spAutoFit/>
          </a:bodyPr>
          <a:p>
            <a:pPr algn="l"/>
            <a:r>
              <a:rPr lang="en-US" sz="1000">
                <a:solidFill>
                  <a:srgbClr val="0D1B2A"/>
                </a:solidFill>
              </a:rPr>
              <a:t>500</a:t>
            </a:r>
            <a:endParaRPr lang="en-US" sz="1000">
              <a:solidFill>
                <a:srgbClr val="0D1B2A"/>
              </a:solidFill>
            </a:endParaRPr>
          </a:p>
        </p:txBody>
      </p:sp>
      <p:sp>
        <p:nvSpPr>
          <p:cNvPr id="32" name="Rectangles 31"/>
          <p:cNvSpPr/>
          <p:nvPr/>
        </p:nvSpPr>
        <p:spPr>
          <a:xfrm>
            <a:off x="228600" y="40894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3" name="Rectangles 32"/>
          <p:cNvSpPr/>
          <p:nvPr/>
        </p:nvSpPr>
        <p:spPr>
          <a:xfrm>
            <a:off x="228600" y="45593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4" name="Text Box 33"/>
          <p:cNvSpPr txBox="1"/>
          <p:nvPr/>
        </p:nvSpPr>
        <p:spPr>
          <a:xfrm>
            <a:off x="304800" y="4127500"/>
            <a:ext cx="3708400" cy="245110"/>
          </a:xfrm>
          <a:prstGeom prst="rect">
            <a:avLst/>
          </a:prstGeom>
          <a:noFill/>
        </p:spPr>
        <p:txBody>
          <a:bodyPr wrap="square" rtlCol="0" anchor="ctr">
            <a:spAutoFit/>
          </a:bodyPr>
          <a:p>
            <a:pPr algn="l"/>
            <a:r>
              <a:rPr lang="en-US" sz="1000">
                <a:solidFill>
                  <a:srgbClr val="0D1B2A"/>
                </a:solidFill>
              </a:rPr>
              <a:t>Estimated Opens (52%)</a:t>
            </a:r>
            <a:endParaRPr lang="en-US" sz="1000">
              <a:solidFill>
                <a:srgbClr val="0D1B2A"/>
              </a:solidFill>
            </a:endParaRPr>
          </a:p>
        </p:txBody>
      </p:sp>
      <p:sp>
        <p:nvSpPr>
          <p:cNvPr id="35" name="Text Box 34"/>
          <p:cNvSpPr txBox="1"/>
          <p:nvPr/>
        </p:nvSpPr>
        <p:spPr>
          <a:xfrm>
            <a:off x="4114800" y="4127500"/>
            <a:ext cx="2438400" cy="245110"/>
          </a:xfrm>
          <a:prstGeom prst="rect">
            <a:avLst/>
          </a:prstGeom>
          <a:noFill/>
        </p:spPr>
        <p:txBody>
          <a:bodyPr wrap="square" rtlCol="0" anchor="ctr">
            <a:spAutoFit/>
          </a:bodyPr>
          <a:p>
            <a:pPr algn="l"/>
            <a:r>
              <a:rPr lang="en-US" sz="1000">
                <a:solidFill>
                  <a:srgbClr val="0D1B2A"/>
                </a:solidFill>
              </a:rPr>
              <a:t>260</a:t>
            </a:r>
            <a:endParaRPr lang="en-US" sz="1000">
              <a:solidFill>
                <a:srgbClr val="0D1B2A"/>
              </a:solidFill>
            </a:endParaRPr>
          </a:p>
        </p:txBody>
      </p:sp>
      <p:sp>
        <p:nvSpPr>
          <p:cNvPr id="36" name="Text Box 35"/>
          <p:cNvSpPr txBox="1"/>
          <p:nvPr/>
        </p:nvSpPr>
        <p:spPr>
          <a:xfrm>
            <a:off x="6654800" y="4127500"/>
            <a:ext cx="2438400" cy="245110"/>
          </a:xfrm>
          <a:prstGeom prst="rect">
            <a:avLst/>
          </a:prstGeom>
          <a:noFill/>
        </p:spPr>
        <p:txBody>
          <a:bodyPr wrap="square" rtlCol="0" anchor="ctr">
            <a:spAutoFit/>
          </a:bodyPr>
          <a:p>
            <a:pPr algn="l"/>
            <a:r>
              <a:rPr lang="en-US" sz="1000">
                <a:solidFill>
                  <a:srgbClr val="0D1B2A"/>
                </a:solidFill>
              </a:rPr>
              <a:t>260</a:t>
            </a:r>
            <a:endParaRPr lang="en-US" sz="1000">
              <a:solidFill>
                <a:srgbClr val="0D1B2A"/>
              </a:solidFill>
            </a:endParaRPr>
          </a:p>
        </p:txBody>
      </p:sp>
      <p:sp>
        <p:nvSpPr>
          <p:cNvPr id="37" name="Text Box 36"/>
          <p:cNvSpPr txBox="1"/>
          <p:nvPr/>
        </p:nvSpPr>
        <p:spPr>
          <a:xfrm>
            <a:off x="9194800" y="4127500"/>
            <a:ext cx="2743200" cy="245110"/>
          </a:xfrm>
          <a:prstGeom prst="rect">
            <a:avLst/>
          </a:prstGeom>
          <a:noFill/>
        </p:spPr>
        <p:txBody>
          <a:bodyPr wrap="square" rtlCol="0" anchor="ctr">
            <a:spAutoFit/>
          </a:bodyPr>
          <a:p>
            <a:pPr algn="l"/>
            <a:r>
              <a:rPr lang="en-US" sz="1000">
                <a:solidFill>
                  <a:srgbClr val="0D1B2A"/>
                </a:solidFill>
              </a:rPr>
              <a:t>260</a:t>
            </a:r>
            <a:endParaRPr lang="en-US" sz="1000">
              <a:solidFill>
                <a:srgbClr val="0D1B2A"/>
              </a:solidFill>
            </a:endParaRPr>
          </a:p>
        </p:txBody>
      </p:sp>
      <p:sp>
        <p:nvSpPr>
          <p:cNvPr id="38" name="Rectangles 37"/>
          <p:cNvSpPr/>
          <p:nvPr/>
        </p:nvSpPr>
        <p:spPr>
          <a:xfrm>
            <a:off x="228600" y="45720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9" name="Rectangles 38"/>
          <p:cNvSpPr/>
          <p:nvPr/>
        </p:nvSpPr>
        <p:spPr>
          <a:xfrm>
            <a:off x="228600" y="50419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0" name="Text Box 39"/>
          <p:cNvSpPr txBox="1"/>
          <p:nvPr/>
        </p:nvSpPr>
        <p:spPr>
          <a:xfrm>
            <a:off x="304800" y="4610100"/>
            <a:ext cx="3708400" cy="245110"/>
          </a:xfrm>
          <a:prstGeom prst="rect">
            <a:avLst/>
          </a:prstGeom>
          <a:noFill/>
        </p:spPr>
        <p:txBody>
          <a:bodyPr wrap="square" rtlCol="0" anchor="ctr">
            <a:spAutoFit/>
          </a:bodyPr>
          <a:p>
            <a:pPr algn="l"/>
            <a:r>
              <a:rPr lang="en-US" sz="1000">
                <a:solidFill>
                  <a:srgbClr val="0D1B2A"/>
                </a:solidFill>
              </a:rPr>
              <a:t>Engaged Prospects (5-8%)</a:t>
            </a:r>
            <a:endParaRPr lang="en-US" sz="1000">
              <a:solidFill>
                <a:srgbClr val="0D1B2A"/>
              </a:solidFill>
            </a:endParaRPr>
          </a:p>
        </p:txBody>
      </p:sp>
      <p:sp>
        <p:nvSpPr>
          <p:cNvPr id="41" name="Text Box 40"/>
          <p:cNvSpPr txBox="1"/>
          <p:nvPr/>
        </p:nvSpPr>
        <p:spPr>
          <a:xfrm>
            <a:off x="4114800" y="4610100"/>
            <a:ext cx="2438400" cy="245110"/>
          </a:xfrm>
          <a:prstGeom prst="rect">
            <a:avLst/>
          </a:prstGeom>
          <a:noFill/>
        </p:spPr>
        <p:txBody>
          <a:bodyPr wrap="square" rtlCol="0" anchor="ctr">
            <a:spAutoFit/>
          </a:bodyPr>
          <a:p>
            <a:pPr algn="l"/>
            <a:r>
              <a:rPr lang="en-US" sz="1000">
                <a:solidFill>
                  <a:srgbClr val="0D1B2A"/>
                </a:solidFill>
              </a:rPr>
              <a:t>13-20</a:t>
            </a:r>
            <a:endParaRPr lang="en-US" sz="1000">
              <a:solidFill>
                <a:srgbClr val="0D1B2A"/>
              </a:solidFill>
            </a:endParaRPr>
          </a:p>
        </p:txBody>
      </p:sp>
      <p:sp>
        <p:nvSpPr>
          <p:cNvPr id="42" name="Text Box 41"/>
          <p:cNvSpPr txBox="1"/>
          <p:nvPr/>
        </p:nvSpPr>
        <p:spPr>
          <a:xfrm>
            <a:off x="6654800" y="4610100"/>
            <a:ext cx="2438400" cy="245110"/>
          </a:xfrm>
          <a:prstGeom prst="rect">
            <a:avLst/>
          </a:prstGeom>
          <a:noFill/>
        </p:spPr>
        <p:txBody>
          <a:bodyPr wrap="square" rtlCol="0" anchor="ctr">
            <a:spAutoFit/>
          </a:bodyPr>
          <a:p>
            <a:pPr algn="l"/>
            <a:r>
              <a:rPr lang="en-US" sz="1000">
                <a:solidFill>
                  <a:srgbClr val="0D1B2A"/>
                </a:solidFill>
              </a:rPr>
              <a:t>13-20</a:t>
            </a:r>
            <a:endParaRPr lang="en-US" sz="1000">
              <a:solidFill>
                <a:srgbClr val="0D1B2A"/>
              </a:solidFill>
            </a:endParaRPr>
          </a:p>
        </p:txBody>
      </p:sp>
      <p:sp>
        <p:nvSpPr>
          <p:cNvPr id="43" name="Text Box 42"/>
          <p:cNvSpPr txBox="1"/>
          <p:nvPr/>
        </p:nvSpPr>
        <p:spPr>
          <a:xfrm>
            <a:off x="9194800" y="4610100"/>
            <a:ext cx="2743200" cy="245110"/>
          </a:xfrm>
          <a:prstGeom prst="rect">
            <a:avLst/>
          </a:prstGeom>
          <a:noFill/>
        </p:spPr>
        <p:txBody>
          <a:bodyPr wrap="square" rtlCol="0" anchor="ctr">
            <a:spAutoFit/>
          </a:bodyPr>
          <a:p>
            <a:pPr algn="l"/>
            <a:r>
              <a:rPr lang="en-US" sz="1000">
                <a:solidFill>
                  <a:srgbClr val="0D1B2A"/>
                </a:solidFill>
              </a:rPr>
              <a:t>13-20</a:t>
            </a:r>
            <a:endParaRPr lang="en-US" sz="1000">
              <a:solidFill>
                <a:srgbClr val="0D1B2A"/>
              </a:solidFill>
            </a:endParaRPr>
          </a:p>
        </p:txBody>
      </p:sp>
      <p:sp>
        <p:nvSpPr>
          <p:cNvPr id="44" name="Rectangles 43"/>
          <p:cNvSpPr/>
          <p:nvPr/>
        </p:nvSpPr>
        <p:spPr>
          <a:xfrm>
            <a:off x="228600" y="50546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5" name="Rectangles 44"/>
          <p:cNvSpPr/>
          <p:nvPr/>
        </p:nvSpPr>
        <p:spPr>
          <a:xfrm>
            <a:off x="228600" y="55245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6" name="Text Box 45"/>
          <p:cNvSpPr txBox="1"/>
          <p:nvPr/>
        </p:nvSpPr>
        <p:spPr>
          <a:xfrm>
            <a:off x="304800" y="5092700"/>
            <a:ext cx="3708400" cy="245110"/>
          </a:xfrm>
          <a:prstGeom prst="rect">
            <a:avLst/>
          </a:prstGeom>
          <a:noFill/>
        </p:spPr>
        <p:txBody>
          <a:bodyPr wrap="square" rtlCol="0" anchor="ctr">
            <a:spAutoFit/>
          </a:bodyPr>
          <a:p>
            <a:pPr algn="l"/>
            <a:r>
              <a:rPr lang="en-US" sz="1000">
                <a:solidFill>
                  <a:srgbClr val="0D1B2A"/>
                </a:solidFill>
              </a:rPr>
              <a:t>Demo Leads Estimated</a:t>
            </a:r>
            <a:endParaRPr lang="en-US" sz="1000">
              <a:solidFill>
                <a:srgbClr val="0D1B2A"/>
              </a:solidFill>
            </a:endParaRPr>
          </a:p>
        </p:txBody>
      </p:sp>
      <p:sp>
        <p:nvSpPr>
          <p:cNvPr id="47" name="Text Box 46"/>
          <p:cNvSpPr txBox="1"/>
          <p:nvPr/>
        </p:nvSpPr>
        <p:spPr>
          <a:xfrm>
            <a:off x="4114800" y="5092700"/>
            <a:ext cx="2438400" cy="245110"/>
          </a:xfrm>
          <a:prstGeom prst="rect">
            <a:avLst/>
          </a:prstGeom>
          <a:noFill/>
        </p:spPr>
        <p:txBody>
          <a:bodyPr wrap="square" rtlCol="0" anchor="ctr">
            <a:spAutoFit/>
          </a:bodyPr>
          <a:p>
            <a:pPr algn="l"/>
            <a:r>
              <a:rPr lang="en-US" sz="1000" b="1">
                <a:solidFill>
                  <a:srgbClr val="16A34A"/>
                </a:solidFill>
              </a:rPr>
              <a:t>3-5</a:t>
            </a:r>
            <a:endParaRPr lang="en-US" sz="1000" b="1">
              <a:solidFill>
                <a:srgbClr val="16A34A"/>
              </a:solidFill>
            </a:endParaRPr>
          </a:p>
        </p:txBody>
      </p:sp>
      <p:sp>
        <p:nvSpPr>
          <p:cNvPr id="48" name="Text Box 47"/>
          <p:cNvSpPr txBox="1"/>
          <p:nvPr/>
        </p:nvSpPr>
        <p:spPr>
          <a:xfrm>
            <a:off x="6654800" y="5092700"/>
            <a:ext cx="2438400" cy="245110"/>
          </a:xfrm>
          <a:prstGeom prst="rect">
            <a:avLst/>
          </a:prstGeom>
          <a:noFill/>
        </p:spPr>
        <p:txBody>
          <a:bodyPr wrap="square" rtlCol="0" anchor="ctr">
            <a:spAutoFit/>
          </a:bodyPr>
          <a:p>
            <a:pPr algn="l"/>
            <a:r>
              <a:rPr lang="en-US" sz="1000" b="1">
                <a:solidFill>
                  <a:srgbClr val="16A34A"/>
                </a:solidFill>
              </a:rPr>
              <a:t>4-6</a:t>
            </a:r>
            <a:endParaRPr lang="en-US" sz="1000" b="1">
              <a:solidFill>
                <a:srgbClr val="16A34A"/>
              </a:solidFill>
            </a:endParaRPr>
          </a:p>
        </p:txBody>
      </p:sp>
      <p:sp>
        <p:nvSpPr>
          <p:cNvPr id="49" name="Text Box 48"/>
          <p:cNvSpPr txBox="1"/>
          <p:nvPr/>
        </p:nvSpPr>
        <p:spPr>
          <a:xfrm>
            <a:off x="9194800" y="5092700"/>
            <a:ext cx="2743200" cy="245110"/>
          </a:xfrm>
          <a:prstGeom prst="rect">
            <a:avLst/>
          </a:prstGeom>
          <a:noFill/>
        </p:spPr>
        <p:txBody>
          <a:bodyPr wrap="square" rtlCol="0" anchor="ctr">
            <a:spAutoFit/>
          </a:bodyPr>
          <a:p>
            <a:pPr algn="l"/>
            <a:r>
              <a:rPr lang="en-US" sz="1000" b="1">
                <a:solidFill>
                  <a:srgbClr val="16A34A"/>
                </a:solidFill>
              </a:rPr>
              <a:t>5-8</a:t>
            </a:r>
            <a:endParaRPr lang="en-US" sz="1000" b="1">
              <a:solidFill>
                <a:srgbClr val="16A34A"/>
              </a:solidFill>
            </a:endParaRPr>
          </a:p>
        </p:txBody>
      </p:sp>
      <p:sp>
        <p:nvSpPr>
          <p:cNvPr id="50" name="Rectangles 49"/>
          <p:cNvSpPr/>
          <p:nvPr/>
        </p:nvSpPr>
        <p:spPr>
          <a:xfrm>
            <a:off x="228600" y="55372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1" name="Rectangles 50"/>
          <p:cNvSpPr/>
          <p:nvPr/>
        </p:nvSpPr>
        <p:spPr>
          <a:xfrm>
            <a:off x="228600" y="60071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2" name="Text Box 51"/>
          <p:cNvSpPr txBox="1"/>
          <p:nvPr/>
        </p:nvSpPr>
        <p:spPr>
          <a:xfrm>
            <a:off x="304800" y="5575300"/>
            <a:ext cx="3708400" cy="245110"/>
          </a:xfrm>
          <a:prstGeom prst="rect">
            <a:avLst/>
          </a:prstGeom>
          <a:noFill/>
        </p:spPr>
        <p:txBody>
          <a:bodyPr wrap="square" rtlCol="0" anchor="ctr">
            <a:spAutoFit/>
          </a:bodyPr>
          <a:p>
            <a:pPr algn="l"/>
            <a:r>
              <a:rPr lang="en-US" sz="1000">
                <a:solidFill>
                  <a:srgbClr val="0D1B2A"/>
                </a:solidFill>
              </a:rPr>
              <a:t>Blended CPL</a:t>
            </a:r>
            <a:endParaRPr lang="en-US" sz="1000">
              <a:solidFill>
                <a:srgbClr val="0D1B2A"/>
              </a:solidFill>
            </a:endParaRPr>
          </a:p>
        </p:txBody>
      </p:sp>
      <p:sp>
        <p:nvSpPr>
          <p:cNvPr id="53" name="Text Box 52"/>
          <p:cNvSpPr txBox="1"/>
          <p:nvPr/>
        </p:nvSpPr>
        <p:spPr>
          <a:xfrm>
            <a:off x="4114800" y="5575300"/>
            <a:ext cx="2438400" cy="245110"/>
          </a:xfrm>
          <a:prstGeom prst="rect">
            <a:avLst/>
          </a:prstGeom>
          <a:noFill/>
        </p:spPr>
        <p:txBody>
          <a:bodyPr wrap="square" rtlCol="0" anchor="ctr">
            <a:spAutoFit/>
          </a:bodyPr>
          <a:p>
            <a:pPr algn="l"/>
            <a:r>
              <a:rPr lang="en-US" sz="1000" b="1">
                <a:solidFill>
                  <a:srgbClr val="1A6BB5"/>
                </a:solidFill>
              </a:rPr>
              <a:t>$40-67</a:t>
            </a:r>
            <a:endParaRPr lang="en-US" sz="1000" b="1">
              <a:solidFill>
                <a:srgbClr val="1A6BB5"/>
              </a:solidFill>
            </a:endParaRPr>
          </a:p>
        </p:txBody>
      </p:sp>
      <p:sp>
        <p:nvSpPr>
          <p:cNvPr id="54" name="Text Box 53"/>
          <p:cNvSpPr txBox="1"/>
          <p:nvPr/>
        </p:nvSpPr>
        <p:spPr>
          <a:xfrm>
            <a:off x="6654800" y="5575300"/>
            <a:ext cx="2438400" cy="245110"/>
          </a:xfrm>
          <a:prstGeom prst="rect">
            <a:avLst/>
          </a:prstGeom>
          <a:noFill/>
        </p:spPr>
        <p:txBody>
          <a:bodyPr wrap="square" rtlCol="0" anchor="ctr">
            <a:spAutoFit/>
          </a:bodyPr>
          <a:p>
            <a:pPr algn="l"/>
            <a:r>
              <a:rPr lang="en-US" sz="1000" b="1">
                <a:solidFill>
                  <a:srgbClr val="1A6BB5"/>
                </a:solidFill>
              </a:rPr>
              <a:t>$33-50</a:t>
            </a:r>
            <a:endParaRPr lang="en-US" sz="1000" b="1">
              <a:solidFill>
                <a:srgbClr val="1A6BB5"/>
              </a:solidFill>
            </a:endParaRPr>
          </a:p>
        </p:txBody>
      </p:sp>
      <p:sp>
        <p:nvSpPr>
          <p:cNvPr id="55" name="Text Box 54"/>
          <p:cNvSpPr txBox="1"/>
          <p:nvPr/>
        </p:nvSpPr>
        <p:spPr>
          <a:xfrm>
            <a:off x="9194800" y="5575300"/>
            <a:ext cx="2743200" cy="245110"/>
          </a:xfrm>
          <a:prstGeom prst="rect">
            <a:avLst/>
          </a:prstGeom>
          <a:noFill/>
        </p:spPr>
        <p:txBody>
          <a:bodyPr wrap="square" rtlCol="0" anchor="ctr">
            <a:spAutoFit/>
          </a:bodyPr>
          <a:p>
            <a:pPr algn="l"/>
            <a:r>
              <a:rPr lang="en-US" sz="1000" b="1">
                <a:solidFill>
                  <a:srgbClr val="1A6BB5"/>
                </a:solidFill>
              </a:rPr>
              <a:t>$25-40</a:t>
            </a:r>
            <a:endParaRPr lang="en-US" sz="1000" b="1">
              <a:solidFill>
                <a:srgbClr val="1A6BB5"/>
              </a:solidFill>
            </a:endParaRPr>
          </a:p>
        </p:txBody>
      </p:sp>
      <p:sp>
        <p:nvSpPr>
          <p:cNvPr id="56" name="Text Box 55"/>
          <p:cNvSpPr txBox="1"/>
          <p:nvPr/>
        </p:nvSpPr>
        <p:spPr>
          <a:xfrm>
            <a:off x="228600" y="6121400"/>
            <a:ext cx="11734800" cy="213995"/>
          </a:xfrm>
          <a:prstGeom prst="rect">
            <a:avLst/>
          </a:prstGeom>
          <a:noFill/>
        </p:spPr>
        <p:txBody>
          <a:bodyPr wrap="square" rtlCol="0" anchor="ctr">
            <a:spAutoFit/>
          </a:bodyPr>
          <a:p>
            <a:pPr algn="l"/>
            <a:r>
              <a:rPr lang="en-US" sz="800">
                <a:solidFill>
                  <a:srgbClr val="64748B"/>
                </a:solidFill>
              </a:rPr>
              <a:t>Note: CPL improves as message is refined based on Month 1 open-to-reply data. Subject line and opening sentence are the highest-leverage variables in InMail performance.</a:t>
            </a:r>
            <a:endParaRPr lang="en-US" sz="800">
              <a:solidFill>
                <a:srgbClr val="64748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$800/Month - Primary Growth Plan / LinkedIn InMail</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2 segments / Community Banking Ops + Credit Union C-Suite</a:t>
            </a:r>
            <a:endParaRPr lang="en-US" sz="800">
              <a:solidFill>
                <a:srgbClr val="A0B4D2"/>
              </a:solidFill>
            </a:endParaRPr>
          </a:p>
        </p:txBody>
      </p:sp>
      <p:sp>
        <p:nvSpPr>
          <p:cNvPr id="6" name="Rectangles 5"/>
          <p:cNvSpPr/>
          <p:nvPr/>
        </p:nvSpPr>
        <p:spPr>
          <a:xfrm>
            <a:off x="228600" y="711200"/>
            <a:ext cx="5740400" cy="17272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11200"/>
            <a:ext cx="5740400" cy="381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55600" y="812800"/>
            <a:ext cx="3810000" cy="213995"/>
          </a:xfrm>
          <a:prstGeom prst="rect">
            <a:avLst/>
          </a:prstGeom>
          <a:noFill/>
        </p:spPr>
        <p:txBody>
          <a:bodyPr wrap="square" rtlCol="0" anchor="ctr">
            <a:spAutoFit/>
          </a:bodyPr>
          <a:p>
            <a:pPr algn="l"/>
            <a:r>
              <a:rPr lang="en-US" sz="800" b="1">
                <a:solidFill>
                  <a:srgbClr val="0D1B2A"/>
                </a:solidFill>
              </a:rPr>
              <a:t>SEGMENT 1 - COMMUNITY BANKING OPS</a:t>
            </a:r>
            <a:endParaRPr lang="en-US" sz="800" b="1">
              <a:solidFill>
                <a:srgbClr val="0D1B2A"/>
              </a:solidFill>
            </a:endParaRPr>
          </a:p>
        </p:txBody>
      </p:sp>
      <p:sp>
        <p:nvSpPr>
          <p:cNvPr id="9" name="Rectangles 8"/>
          <p:cNvSpPr/>
          <p:nvPr/>
        </p:nvSpPr>
        <p:spPr>
          <a:xfrm>
            <a:off x="4241800" y="787400"/>
            <a:ext cx="1600200" cy="2794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0" name="Text Box 9"/>
          <p:cNvSpPr txBox="1"/>
          <p:nvPr/>
        </p:nvSpPr>
        <p:spPr>
          <a:xfrm>
            <a:off x="4241800" y="787400"/>
            <a:ext cx="1600200" cy="245110"/>
          </a:xfrm>
          <a:prstGeom prst="rect">
            <a:avLst/>
          </a:prstGeom>
          <a:noFill/>
        </p:spPr>
        <p:txBody>
          <a:bodyPr wrap="square" rtlCol="0" anchor="ctr">
            <a:spAutoFit/>
          </a:bodyPr>
          <a:p>
            <a:pPr algn="ctr"/>
            <a:r>
              <a:rPr lang="en-US" sz="1000" b="1">
                <a:solidFill>
                  <a:srgbClr val="FFFFFF"/>
                </a:solidFill>
              </a:rPr>
              <a:t>$500/month</a:t>
            </a:r>
            <a:endParaRPr lang="en-US" sz="1000" b="1">
              <a:solidFill>
                <a:srgbClr val="FFFFFF"/>
              </a:solidFill>
            </a:endParaRPr>
          </a:p>
        </p:txBody>
      </p:sp>
      <p:sp>
        <p:nvSpPr>
          <p:cNvPr id="11" name="Rectangles 10"/>
          <p:cNvSpPr/>
          <p:nvPr/>
        </p:nvSpPr>
        <p:spPr>
          <a:xfrm>
            <a:off x="355600" y="10922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355600" y="1193800"/>
            <a:ext cx="5486400" cy="229870"/>
          </a:xfrm>
          <a:prstGeom prst="rect">
            <a:avLst/>
          </a:prstGeom>
          <a:noFill/>
        </p:spPr>
        <p:txBody>
          <a:bodyPr wrap="square" rtlCol="0" anchor="t">
            <a:spAutoFit/>
          </a:bodyPr>
          <a:p>
            <a:pPr algn="l"/>
            <a:r>
              <a:rPr lang="en-US" sz="900">
                <a:solidFill>
                  <a:srgbClr val="23324B"/>
                </a:solidFill>
              </a:rPr>
              <a:t>* Titles: VP Operations / Director Operations / Head of Customer Service / COO / VP Customer Experience</a:t>
            </a:r>
            <a:endParaRPr lang="en-US" sz="900">
              <a:solidFill>
                <a:srgbClr val="23324B"/>
              </a:solidFill>
            </a:endParaRPr>
          </a:p>
        </p:txBody>
      </p:sp>
      <p:sp>
        <p:nvSpPr>
          <p:cNvPr id="13" name="Text Box 12"/>
          <p:cNvSpPr txBox="1"/>
          <p:nvPr/>
        </p:nvSpPr>
        <p:spPr>
          <a:xfrm>
            <a:off x="355600" y="1511300"/>
            <a:ext cx="5486400" cy="229870"/>
          </a:xfrm>
          <a:prstGeom prst="rect">
            <a:avLst/>
          </a:prstGeom>
          <a:noFill/>
        </p:spPr>
        <p:txBody>
          <a:bodyPr wrap="square" rtlCol="0" anchor="t">
            <a:spAutoFit/>
          </a:bodyPr>
          <a:p>
            <a:pPr algn="l"/>
            <a:r>
              <a:rPr lang="en-US" sz="900">
                <a:solidFill>
                  <a:srgbClr val="23324B"/>
                </a:solidFill>
              </a:rPr>
              <a:t>* Industry: Banking + Financial Services  /  Company size: 200-2,000 employees</a:t>
            </a:r>
            <a:endParaRPr lang="en-US" sz="900">
              <a:solidFill>
                <a:srgbClr val="23324B"/>
              </a:solidFill>
            </a:endParaRPr>
          </a:p>
        </p:txBody>
      </p:sp>
      <p:sp>
        <p:nvSpPr>
          <p:cNvPr id="14" name="Text Box 13"/>
          <p:cNvSpPr txBox="1"/>
          <p:nvPr/>
        </p:nvSpPr>
        <p:spPr>
          <a:xfrm>
            <a:off x="355600" y="1828800"/>
            <a:ext cx="5486400" cy="229870"/>
          </a:xfrm>
          <a:prstGeom prst="rect">
            <a:avLst/>
          </a:prstGeom>
          <a:noFill/>
        </p:spPr>
        <p:txBody>
          <a:bodyPr wrap="square" rtlCol="0" anchor="t">
            <a:spAutoFit/>
          </a:bodyPr>
          <a:p>
            <a:pPr algn="l"/>
            <a:r>
              <a:rPr lang="en-US" sz="900">
                <a:solidFill>
                  <a:srgbClr val="23324B"/>
                </a:solidFill>
              </a:rPr>
              <a:t>* Message angle: Operations pain - call volume, repeat queries, staff capacity</a:t>
            </a:r>
            <a:endParaRPr lang="en-US" sz="900">
              <a:solidFill>
                <a:srgbClr val="23324B"/>
              </a:solidFill>
            </a:endParaRPr>
          </a:p>
        </p:txBody>
      </p:sp>
      <p:sp>
        <p:nvSpPr>
          <p:cNvPr id="15" name="Text Box 14"/>
          <p:cNvSpPr txBox="1"/>
          <p:nvPr/>
        </p:nvSpPr>
        <p:spPr>
          <a:xfrm>
            <a:off x="355600" y="2146300"/>
            <a:ext cx="5486400" cy="229870"/>
          </a:xfrm>
          <a:prstGeom prst="rect">
            <a:avLst/>
          </a:prstGeom>
          <a:noFill/>
        </p:spPr>
        <p:txBody>
          <a:bodyPr wrap="square" rtlCol="0" anchor="t">
            <a:spAutoFit/>
          </a:bodyPr>
          <a:p>
            <a:pPr algn="l"/>
            <a:r>
              <a:rPr lang="en-US" sz="900">
                <a:solidFill>
                  <a:srgbClr val="23324B"/>
                </a:solidFill>
              </a:rPr>
              <a:t>* Sends: ~1,500/month  /  Opens: ~780</a:t>
            </a:r>
            <a:endParaRPr lang="en-US" sz="900">
              <a:solidFill>
                <a:srgbClr val="23324B"/>
              </a:solidFill>
            </a:endParaRPr>
          </a:p>
        </p:txBody>
      </p:sp>
      <p:sp>
        <p:nvSpPr>
          <p:cNvPr id="16" name="Rectangles 15"/>
          <p:cNvSpPr/>
          <p:nvPr/>
        </p:nvSpPr>
        <p:spPr>
          <a:xfrm>
            <a:off x="6223000" y="711200"/>
            <a:ext cx="5740400" cy="17272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7" name="Rectangles 16"/>
          <p:cNvSpPr/>
          <p:nvPr/>
        </p:nvSpPr>
        <p:spPr>
          <a:xfrm>
            <a:off x="6223000" y="711200"/>
            <a:ext cx="5740400" cy="381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8" name="Text Box 17"/>
          <p:cNvSpPr txBox="1"/>
          <p:nvPr/>
        </p:nvSpPr>
        <p:spPr>
          <a:xfrm>
            <a:off x="6350000" y="812800"/>
            <a:ext cx="3810000" cy="213995"/>
          </a:xfrm>
          <a:prstGeom prst="rect">
            <a:avLst/>
          </a:prstGeom>
          <a:noFill/>
        </p:spPr>
        <p:txBody>
          <a:bodyPr wrap="square" rtlCol="0" anchor="ctr">
            <a:spAutoFit/>
          </a:bodyPr>
          <a:p>
            <a:pPr algn="l"/>
            <a:r>
              <a:rPr lang="en-US" sz="800" b="1">
                <a:solidFill>
                  <a:srgbClr val="0D1B2A"/>
                </a:solidFill>
              </a:rPr>
              <a:t>SEGMENT 2 - CREDIT UNION C-SUITE</a:t>
            </a:r>
            <a:endParaRPr lang="en-US" sz="800" b="1">
              <a:solidFill>
                <a:srgbClr val="0D1B2A"/>
              </a:solidFill>
            </a:endParaRPr>
          </a:p>
        </p:txBody>
      </p:sp>
      <p:sp>
        <p:nvSpPr>
          <p:cNvPr id="19" name="Rectangles 18"/>
          <p:cNvSpPr/>
          <p:nvPr/>
        </p:nvSpPr>
        <p:spPr>
          <a:xfrm>
            <a:off x="10236200" y="787400"/>
            <a:ext cx="1600200" cy="2794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0" name="Text Box 19"/>
          <p:cNvSpPr txBox="1"/>
          <p:nvPr/>
        </p:nvSpPr>
        <p:spPr>
          <a:xfrm>
            <a:off x="10236200" y="787400"/>
            <a:ext cx="1600200" cy="245110"/>
          </a:xfrm>
          <a:prstGeom prst="rect">
            <a:avLst/>
          </a:prstGeom>
          <a:noFill/>
        </p:spPr>
        <p:txBody>
          <a:bodyPr wrap="square" rtlCol="0" anchor="ctr">
            <a:spAutoFit/>
          </a:bodyPr>
          <a:p>
            <a:pPr algn="ctr"/>
            <a:r>
              <a:rPr lang="en-US" sz="1000" b="1">
                <a:solidFill>
                  <a:srgbClr val="FFFFFF"/>
                </a:solidFill>
              </a:rPr>
              <a:t>$300/month</a:t>
            </a:r>
            <a:endParaRPr lang="en-US" sz="1000" b="1">
              <a:solidFill>
                <a:srgbClr val="FFFFFF"/>
              </a:solidFill>
            </a:endParaRPr>
          </a:p>
        </p:txBody>
      </p:sp>
      <p:sp>
        <p:nvSpPr>
          <p:cNvPr id="21" name="Rectangles 20"/>
          <p:cNvSpPr/>
          <p:nvPr/>
        </p:nvSpPr>
        <p:spPr>
          <a:xfrm>
            <a:off x="6350000" y="10922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Text Box 21"/>
          <p:cNvSpPr txBox="1"/>
          <p:nvPr/>
        </p:nvSpPr>
        <p:spPr>
          <a:xfrm>
            <a:off x="6350000" y="1193800"/>
            <a:ext cx="5486400" cy="229870"/>
          </a:xfrm>
          <a:prstGeom prst="rect">
            <a:avLst/>
          </a:prstGeom>
          <a:noFill/>
        </p:spPr>
        <p:txBody>
          <a:bodyPr wrap="square" rtlCol="0" anchor="t">
            <a:spAutoFit/>
          </a:bodyPr>
          <a:p>
            <a:pPr algn="l"/>
            <a:r>
              <a:rPr lang="en-US" sz="900">
                <a:solidFill>
                  <a:srgbClr val="23324B"/>
                </a:solidFill>
              </a:rPr>
              <a:t>* Titles: CEO / COO / CTO / Chief Digital Officer / VP Technology / VP Member Experience</a:t>
            </a:r>
            <a:endParaRPr lang="en-US" sz="900">
              <a:solidFill>
                <a:srgbClr val="23324B"/>
              </a:solidFill>
            </a:endParaRPr>
          </a:p>
        </p:txBody>
      </p:sp>
      <p:sp>
        <p:nvSpPr>
          <p:cNvPr id="23" name="Text Box 22"/>
          <p:cNvSpPr txBox="1"/>
          <p:nvPr/>
        </p:nvSpPr>
        <p:spPr>
          <a:xfrm>
            <a:off x="6350000" y="1511300"/>
            <a:ext cx="5486400" cy="229870"/>
          </a:xfrm>
          <a:prstGeom prst="rect">
            <a:avLst/>
          </a:prstGeom>
          <a:noFill/>
        </p:spPr>
        <p:txBody>
          <a:bodyPr wrap="square" rtlCol="0" anchor="t">
            <a:spAutoFit/>
          </a:bodyPr>
          <a:p>
            <a:pPr algn="l"/>
            <a:r>
              <a:rPr lang="en-US" sz="900">
                <a:solidFill>
                  <a:srgbClr val="23324B"/>
                </a:solidFill>
              </a:rPr>
              <a:t>* Industry: Financial Services (credit union filter)  /  Company size: 50-500 employees</a:t>
            </a:r>
            <a:endParaRPr lang="en-US" sz="900">
              <a:solidFill>
                <a:srgbClr val="23324B"/>
              </a:solidFill>
            </a:endParaRPr>
          </a:p>
        </p:txBody>
      </p:sp>
      <p:sp>
        <p:nvSpPr>
          <p:cNvPr id="24" name="Text Box 23"/>
          <p:cNvSpPr txBox="1"/>
          <p:nvPr/>
        </p:nvSpPr>
        <p:spPr>
          <a:xfrm>
            <a:off x="6350000" y="1828800"/>
            <a:ext cx="5486400" cy="229870"/>
          </a:xfrm>
          <a:prstGeom prst="rect">
            <a:avLst/>
          </a:prstGeom>
          <a:noFill/>
        </p:spPr>
        <p:txBody>
          <a:bodyPr wrap="square" rtlCol="0" anchor="t">
            <a:spAutoFit/>
          </a:bodyPr>
          <a:p>
            <a:pPr algn="l"/>
            <a:r>
              <a:rPr lang="en-US" sz="900">
                <a:solidFill>
                  <a:srgbClr val="23324B"/>
                </a:solidFill>
              </a:rPr>
              <a:t>* Message angle: Empathy + member service quality - mission alignment</a:t>
            </a:r>
            <a:endParaRPr lang="en-US" sz="900">
              <a:solidFill>
                <a:srgbClr val="23324B"/>
              </a:solidFill>
            </a:endParaRPr>
          </a:p>
        </p:txBody>
      </p:sp>
      <p:sp>
        <p:nvSpPr>
          <p:cNvPr id="25" name="Text Box 24"/>
          <p:cNvSpPr txBox="1"/>
          <p:nvPr/>
        </p:nvSpPr>
        <p:spPr>
          <a:xfrm>
            <a:off x="6350000" y="2146300"/>
            <a:ext cx="5486400" cy="229870"/>
          </a:xfrm>
          <a:prstGeom prst="rect">
            <a:avLst/>
          </a:prstGeom>
          <a:noFill/>
        </p:spPr>
        <p:txBody>
          <a:bodyPr wrap="square" rtlCol="0" anchor="t">
            <a:spAutoFit/>
          </a:bodyPr>
          <a:p>
            <a:pPr algn="l"/>
            <a:r>
              <a:rPr lang="en-US" sz="900">
                <a:solidFill>
                  <a:srgbClr val="23324B"/>
                </a:solidFill>
              </a:rPr>
              <a:t>* Sends: ~900/month  /  Opens: ~468</a:t>
            </a:r>
            <a:endParaRPr lang="en-US" sz="900">
              <a:solidFill>
                <a:srgbClr val="23324B"/>
              </a:solidFill>
            </a:endParaRPr>
          </a:p>
        </p:txBody>
      </p:sp>
      <p:sp>
        <p:nvSpPr>
          <p:cNvPr id="26" name="Text Box 25"/>
          <p:cNvSpPr txBox="1"/>
          <p:nvPr/>
        </p:nvSpPr>
        <p:spPr>
          <a:xfrm>
            <a:off x="228600" y="2540000"/>
            <a:ext cx="11684000" cy="245110"/>
          </a:xfrm>
          <a:prstGeom prst="rect">
            <a:avLst/>
          </a:prstGeom>
          <a:noFill/>
        </p:spPr>
        <p:txBody>
          <a:bodyPr wrap="square" rtlCol="0" anchor="ctr">
            <a:spAutoFit/>
          </a:bodyPr>
          <a:p>
            <a:pPr algn="l"/>
            <a:r>
              <a:rPr lang="en-US" sz="1000" b="1">
                <a:solidFill>
                  <a:srgbClr val="0D1B2A"/>
                </a:solidFill>
              </a:rPr>
              <a:t>3-MONTH PROJECTION - $800/MONTH</a:t>
            </a:r>
            <a:endParaRPr lang="en-US" sz="1000" b="1">
              <a:solidFill>
                <a:srgbClr val="0D1B2A"/>
              </a:solidFill>
            </a:endParaRPr>
          </a:p>
        </p:txBody>
      </p:sp>
      <p:sp>
        <p:nvSpPr>
          <p:cNvPr id="27" name="Rectangles 26"/>
          <p:cNvSpPr/>
          <p:nvPr/>
        </p:nvSpPr>
        <p:spPr>
          <a:xfrm>
            <a:off x="228600" y="2819400"/>
            <a:ext cx="11734800" cy="3556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8" name="Text Box 27"/>
          <p:cNvSpPr txBox="1"/>
          <p:nvPr/>
        </p:nvSpPr>
        <p:spPr>
          <a:xfrm>
            <a:off x="304800" y="2844800"/>
            <a:ext cx="3708400" cy="229870"/>
          </a:xfrm>
          <a:prstGeom prst="rect">
            <a:avLst/>
          </a:prstGeom>
          <a:noFill/>
        </p:spPr>
        <p:txBody>
          <a:bodyPr wrap="square" rtlCol="0" anchor="ctr">
            <a:spAutoFit/>
          </a:bodyPr>
          <a:p>
            <a:pPr algn="l"/>
            <a:r>
              <a:rPr lang="en-US" sz="900" b="1">
                <a:solidFill>
                  <a:srgbClr val="FFFFFF"/>
                </a:solidFill>
              </a:rPr>
              <a:t>Metric</a:t>
            </a:r>
            <a:endParaRPr lang="en-US" sz="900" b="1">
              <a:solidFill>
                <a:srgbClr val="FFFFFF"/>
              </a:solidFill>
            </a:endParaRPr>
          </a:p>
        </p:txBody>
      </p:sp>
      <p:sp>
        <p:nvSpPr>
          <p:cNvPr id="29" name="Text Box 28"/>
          <p:cNvSpPr txBox="1"/>
          <p:nvPr/>
        </p:nvSpPr>
        <p:spPr>
          <a:xfrm>
            <a:off x="4114800" y="2844800"/>
            <a:ext cx="2438400" cy="229870"/>
          </a:xfrm>
          <a:prstGeom prst="rect">
            <a:avLst/>
          </a:prstGeom>
          <a:noFill/>
        </p:spPr>
        <p:txBody>
          <a:bodyPr wrap="square" rtlCol="0" anchor="ctr">
            <a:spAutoFit/>
          </a:bodyPr>
          <a:p>
            <a:pPr algn="l"/>
            <a:r>
              <a:rPr lang="en-US" sz="900" b="1">
                <a:solidFill>
                  <a:srgbClr val="FFFFFF"/>
                </a:solidFill>
              </a:rPr>
              <a:t>Month 1</a:t>
            </a:r>
            <a:endParaRPr lang="en-US" sz="900" b="1">
              <a:solidFill>
                <a:srgbClr val="FFFFFF"/>
              </a:solidFill>
            </a:endParaRPr>
          </a:p>
        </p:txBody>
      </p:sp>
      <p:sp>
        <p:nvSpPr>
          <p:cNvPr id="30" name="Text Box 29"/>
          <p:cNvSpPr txBox="1"/>
          <p:nvPr/>
        </p:nvSpPr>
        <p:spPr>
          <a:xfrm>
            <a:off x="6654800" y="2844800"/>
            <a:ext cx="2438400" cy="229870"/>
          </a:xfrm>
          <a:prstGeom prst="rect">
            <a:avLst/>
          </a:prstGeom>
          <a:noFill/>
        </p:spPr>
        <p:txBody>
          <a:bodyPr wrap="square" rtlCol="0" anchor="ctr">
            <a:spAutoFit/>
          </a:bodyPr>
          <a:p>
            <a:pPr algn="l"/>
            <a:r>
              <a:rPr lang="en-US" sz="900" b="1">
                <a:solidFill>
                  <a:srgbClr val="FFFFFF"/>
                </a:solidFill>
              </a:rPr>
              <a:t>Month 2</a:t>
            </a:r>
            <a:endParaRPr lang="en-US" sz="900" b="1">
              <a:solidFill>
                <a:srgbClr val="FFFFFF"/>
              </a:solidFill>
            </a:endParaRPr>
          </a:p>
        </p:txBody>
      </p:sp>
      <p:sp>
        <p:nvSpPr>
          <p:cNvPr id="31" name="Text Box 30"/>
          <p:cNvSpPr txBox="1"/>
          <p:nvPr/>
        </p:nvSpPr>
        <p:spPr>
          <a:xfrm>
            <a:off x="9194800" y="2844800"/>
            <a:ext cx="2743200" cy="229870"/>
          </a:xfrm>
          <a:prstGeom prst="rect">
            <a:avLst/>
          </a:prstGeom>
          <a:noFill/>
        </p:spPr>
        <p:txBody>
          <a:bodyPr wrap="square" rtlCol="0" anchor="ctr">
            <a:spAutoFit/>
          </a:bodyPr>
          <a:p>
            <a:pPr algn="l"/>
            <a:r>
              <a:rPr lang="en-US" sz="900" b="1">
                <a:solidFill>
                  <a:srgbClr val="FFFFFF"/>
                </a:solidFill>
              </a:rPr>
              <a:t>Month 3</a:t>
            </a:r>
            <a:endParaRPr lang="en-US" sz="900" b="1">
              <a:solidFill>
                <a:srgbClr val="FFFFFF"/>
              </a:solidFill>
            </a:endParaRPr>
          </a:p>
        </p:txBody>
      </p:sp>
      <p:sp>
        <p:nvSpPr>
          <p:cNvPr id="32" name="Rectangles 31"/>
          <p:cNvSpPr/>
          <p:nvPr/>
        </p:nvSpPr>
        <p:spPr>
          <a:xfrm>
            <a:off x="228600" y="31750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3" name="Rectangles 32"/>
          <p:cNvSpPr/>
          <p:nvPr/>
        </p:nvSpPr>
        <p:spPr>
          <a:xfrm>
            <a:off x="228600" y="36449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4" name="Text Box 33"/>
          <p:cNvSpPr txBox="1"/>
          <p:nvPr/>
        </p:nvSpPr>
        <p:spPr>
          <a:xfrm>
            <a:off x="304800" y="3213100"/>
            <a:ext cx="3708400" cy="245110"/>
          </a:xfrm>
          <a:prstGeom prst="rect">
            <a:avLst/>
          </a:prstGeom>
          <a:noFill/>
        </p:spPr>
        <p:txBody>
          <a:bodyPr wrap="square" rtlCol="0" anchor="ctr">
            <a:spAutoFit/>
          </a:bodyPr>
          <a:p>
            <a:pPr algn="l"/>
            <a:r>
              <a:rPr lang="en-US" sz="1000">
                <a:solidFill>
                  <a:srgbClr val="0D1B2A"/>
                </a:solidFill>
              </a:rPr>
              <a:t>Total Budget</a:t>
            </a:r>
            <a:endParaRPr lang="en-US" sz="1000">
              <a:solidFill>
                <a:srgbClr val="0D1B2A"/>
              </a:solidFill>
            </a:endParaRPr>
          </a:p>
        </p:txBody>
      </p:sp>
      <p:sp>
        <p:nvSpPr>
          <p:cNvPr id="35" name="Text Box 34"/>
          <p:cNvSpPr txBox="1"/>
          <p:nvPr/>
        </p:nvSpPr>
        <p:spPr>
          <a:xfrm>
            <a:off x="4114800" y="3213100"/>
            <a:ext cx="2438400" cy="245110"/>
          </a:xfrm>
          <a:prstGeom prst="rect">
            <a:avLst/>
          </a:prstGeom>
          <a:noFill/>
        </p:spPr>
        <p:txBody>
          <a:bodyPr wrap="square" rtlCol="0" anchor="ctr">
            <a:spAutoFit/>
          </a:bodyPr>
          <a:p>
            <a:pPr algn="l"/>
            <a:r>
              <a:rPr lang="en-US" sz="1000">
                <a:solidFill>
                  <a:srgbClr val="0D1B2A"/>
                </a:solidFill>
              </a:rPr>
              <a:t>$800</a:t>
            </a:r>
            <a:endParaRPr lang="en-US" sz="1000">
              <a:solidFill>
                <a:srgbClr val="0D1B2A"/>
              </a:solidFill>
            </a:endParaRPr>
          </a:p>
        </p:txBody>
      </p:sp>
      <p:sp>
        <p:nvSpPr>
          <p:cNvPr id="36" name="Text Box 35"/>
          <p:cNvSpPr txBox="1"/>
          <p:nvPr/>
        </p:nvSpPr>
        <p:spPr>
          <a:xfrm>
            <a:off x="6654800" y="3213100"/>
            <a:ext cx="2438400" cy="245110"/>
          </a:xfrm>
          <a:prstGeom prst="rect">
            <a:avLst/>
          </a:prstGeom>
          <a:noFill/>
        </p:spPr>
        <p:txBody>
          <a:bodyPr wrap="square" rtlCol="0" anchor="ctr">
            <a:spAutoFit/>
          </a:bodyPr>
          <a:p>
            <a:pPr algn="l"/>
            <a:r>
              <a:rPr lang="en-US" sz="1000">
                <a:solidFill>
                  <a:srgbClr val="0D1B2A"/>
                </a:solidFill>
              </a:rPr>
              <a:t>$800</a:t>
            </a:r>
            <a:endParaRPr lang="en-US" sz="1000">
              <a:solidFill>
                <a:srgbClr val="0D1B2A"/>
              </a:solidFill>
            </a:endParaRPr>
          </a:p>
        </p:txBody>
      </p:sp>
      <p:sp>
        <p:nvSpPr>
          <p:cNvPr id="37" name="Text Box 36"/>
          <p:cNvSpPr txBox="1"/>
          <p:nvPr/>
        </p:nvSpPr>
        <p:spPr>
          <a:xfrm>
            <a:off x="9194800" y="3213100"/>
            <a:ext cx="2743200" cy="245110"/>
          </a:xfrm>
          <a:prstGeom prst="rect">
            <a:avLst/>
          </a:prstGeom>
          <a:noFill/>
        </p:spPr>
        <p:txBody>
          <a:bodyPr wrap="square" rtlCol="0" anchor="ctr">
            <a:spAutoFit/>
          </a:bodyPr>
          <a:p>
            <a:pPr algn="l"/>
            <a:r>
              <a:rPr lang="en-US" sz="1000">
                <a:solidFill>
                  <a:srgbClr val="0D1B2A"/>
                </a:solidFill>
              </a:rPr>
              <a:t>$800</a:t>
            </a:r>
            <a:endParaRPr lang="en-US" sz="1000">
              <a:solidFill>
                <a:srgbClr val="0D1B2A"/>
              </a:solidFill>
            </a:endParaRPr>
          </a:p>
        </p:txBody>
      </p:sp>
      <p:sp>
        <p:nvSpPr>
          <p:cNvPr id="38" name="Rectangles 37"/>
          <p:cNvSpPr/>
          <p:nvPr/>
        </p:nvSpPr>
        <p:spPr>
          <a:xfrm>
            <a:off x="228600" y="36576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9" name="Rectangles 38"/>
          <p:cNvSpPr/>
          <p:nvPr/>
        </p:nvSpPr>
        <p:spPr>
          <a:xfrm>
            <a:off x="228600" y="41275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0" name="Text Box 39"/>
          <p:cNvSpPr txBox="1"/>
          <p:nvPr/>
        </p:nvSpPr>
        <p:spPr>
          <a:xfrm>
            <a:off x="304800" y="3695700"/>
            <a:ext cx="3708400" cy="245110"/>
          </a:xfrm>
          <a:prstGeom prst="rect">
            <a:avLst/>
          </a:prstGeom>
          <a:noFill/>
        </p:spPr>
        <p:txBody>
          <a:bodyPr wrap="square" rtlCol="0" anchor="ctr">
            <a:spAutoFit/>
          </a:bodyPr>
          <a:p>
            <a:pPr algn="l"/>
            <a:r>
              <a:rPr lang="en-US" sz="1000">
                <a:solidFill>
                  <a:srgbClr val="0D1B2A"/>
                </a:solidFill>
              </a:rPr>
              <a:t>Total InMail Sends</a:t>
            </a:r>
            <a:endParaRPr lang="en-US" sz="1000">
              <a:solidFill>
                <a:srgbClr val="0D1B2A"/>
              </a:solidFill>
            </a:endParaRPr>
          </a:p>
        </p:txBody>
      </p:sp>
      <p:sp>
        <p:nvSpPr>
          <p:cNvPr id="41" name="Text Box 40"/>
          <p:cNvSpPr txBox="1"/>
          <p:nvPr/>
        </p:nvSpPr>
        <p:spPr>
          <a:xfrm>
            <a:off x="4114800" y="3695700"/>
            <a:ext cx="2438400" cy="245110"/>
          </a:xfrm>
          <a:prstGeom prst="rect">
            <a:avLst/>
          </a:prstGeom>
          <a:noFill/>
        </p:spPr>
        <p:txBody>
          <a:bodyPr wrap="square" rtlCol="0" anchor="ctr">
            <a:spAutoFit/>
          </a:bodyPr>
          <a:p>
            <a:pPr algn="l"/>
            <a:r>
              <a:rPr lang="en-US" sz="1000">
                <a:solidFill>
                  <a:srgbClr val="0D1B2A"/>
                </a:solidFill>
              </a:rPr>
              <a:t>2,400</a:t>
            </a:r>
            <a:endParaRPr lang="en-US" sz="1000">
              <a:solidFill>
                <a:srgbClr val="0D1B2A"/>
              </a:solidFill>
            </a:endParaRPr>
          </a:p>
        </p:txBody>
      </p:sp>
      <p:sp>
        <p:nvSpPr>
          <p:cNvPr id="42" name="Text Box 41"/>
          <p:cNvSpPr txBox="1"/>
          <p:nvPr/>
        </p:nvSpPr>
        <p:spPr>
          <a:xfrm>
            <a:off x="6654800" y="3695700"/>
            <a:ext cx="2438400" cy="245110"/>
          </a:xfrm>
          <a:prstGeom prst="rect">
            <a:avLst/>
          </a:prstGeom>
          <a:noFill/>
        </p:spPr>
        <p:txBody>
          <a:bodyPr wrap="square" rtlCol="0" anchor="ctr">
            <a:spAutoFit/>
          </a:bodyPr>
          <a:p>
            <a:pPr algn="l"/>
            <a:r>
              <a:rPr lang="en-US" sz="1000">
                <a:solidFill>
                  <a:srgbClr val="0D1B2A"/>
                </a:solidFill>
              </a:rPr>
              <a:t>2,400</a:t>
            </a:r>
            <a:endParaRPr lang="en-US" sz="1000">
              <a:solidFill>
                <a:srgbClr val="0D1B2A"/>
              </a:solidFill>
            </a:endParaRPr>
          </a:p>
        </p:txBody>
      </p:sp>
      <p:sp>
        <p:nvSpPr>
          <p:cNvPr id="43" name="Text Box 42"/>
          <p:cNvSpPr txBox="1"/>
          <p:nvPr/>
        </p:nvSpPr>
        <p:spPr>
          <a:xfrm>
            <a:off x="9194800" y="3695700"/>
            <a:ext cx="2743200" cy="245110"/>
          </a:xfrm>
          <a:prstGeom prst="rect">
            <a:avLst/>
          </a:prstGeom>
          <a:noFill/>
        </p:spPr>
        <p:txBody>
          <a:bodyPr wrap="square" rtlCol="0" anchor="ctr">
            <a:spAutoFit/>
          </a:bodyPr>
          <a:p>
            <a:pPr algn="l"/>
            <a:r>
              <a:rPr lang="en-US" sz="1000">
                <a:solidFill>
                  <a:srgbClr val="0D1B2A"/>
                </a:solidFill>
              </a:rPr>
              <a:t>2,400</a:t>
            </a:r>
            <a:endParaRPr lang="en-US" sz="1000">
              <a:solidFill>
                <a:srgbClr val="0D1B2A"/>
              </a:solidFill>
            </a:endParaRPr>
          </a:p>
        </p:txBody>
      </p:sp>
      <p:sp>
        <p:nvSpPr>
          <p:cNvPr id="44" name="Rectangles 43"/>
          <p:cNvSpPr/>
          <p:nvPr/>
        </p:nvSpPr>
        <p:spPr>
          <a:xfrm>
            <a:off x="228600" y="41402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5" name="Rectangles 44"/>
          <p:cNvSpPr/>
          <p:nvPr/>
        </p:nvSpPr>
        <p:spPr>
          <a:xfrm>
            <a:off x="228600" y="46101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6" name="Text Box 45"/>
          <p:cNvSpPr txBox="1"/>
          <p:nvPr/>
        </p:nvSpPr>
        <p:spPr>
          <a:xfrm>
            <a:off x="304800" y="4178300"/>
            <a:ext cx="3708400" cy="245110"/>
          </a:xfrm>
          <a:prstGeom prst="rect">
            <a:avLst/>
          </a:prstGeom>
          <a:noFill/>
        </p:spPr>
        <p:txBody>
          <a:bodyPr wrap="square" rtlCol="0" anchor="ctr">
            <a:spAutoFit/>
          </a:bodyPr>
          <a:p>
            <a:pPr algn="l"/>
            <a:r>
              <a:rPr lang="en-US" sz="1000">
                <a:solidFill>
                  <a:srgbClr val="0D1B2A"/>
                </a:solidFill>
              </a:rPr>
              <a:t>Total Opens (52%)</a:t>
            </a:r>
            <a:endParaRPr lang="en-US" sz="1000">
              <a:solidFill>
                <a:srgbClr val="0D1B2A"/>
              </a:solidFill>
            </a:endParaRPr>
          </a:p>
        </p:txBody>
      </p:sp>
      <p:sp>
        <p:nvSpPr>
          <p:cNvPr id="47" name="Text Box 46"/>
          <p:cNvSpPr txBox="1"/>
          <p:nvPr/>
        </p:nvSpPr>
        <p:spPr>
          <a:xfrm>
            <a:off x="4114800" y="4178300"/>
            <a:ext cx="2438400" cy="245110"/>
          </a:xfrm>
          <a:prstGeom prst="rect">
            <a:avLst/>
          </a:prstGeom>
          <a:noFill/>
        </p:spPr>
        <p:txBody>
          <a:bodyPr wrap="square" rtlCol="0" anchor="ctr">
            <a:spAutoFit/>
          </a:bodyPr>
          <a:p>
            <a:pPr algn="l"/>
            <a:r>
              <a:rPr lang="en-US" sz="1000">
                <a:solidFill>
                  <a:srgbClr val="0D1B2A"/>
                </a:solidFill>
              </a:rPr>
              <a:t>1,248</a:t>
            </a:r>
            <a:endParaRPr lang="en-US" sz="1000">
              <a:solidFill>
                <a:srgbClr val="0D1B2A"/>
              </a:solidFill>
            </a:endParaRPr>
          </a:p>
        </p:txBody>
      </p:sp>
      <p:sp>
        <p:nvSpPr>
          <p:cNvPr id="48" name="Text Box 47"/>
          <p:cNvSpPr txBox="1"/>
          <p:nvPr/>
        </p:nvSpPr>
        <p:spPr>
          <a:xfrm>
            <a:off x="6654800" y="4178300"/>
            <a:ext cx="2438400" cy="245110"/>
          </a:xfrm>
          <a:prstGeom prst="rect">
            <a:avLst/>
          </a:prstGeom>
          <a:noFill/>
        </p:spPr>
        <p:txBody>
          <a:bodyPr wrap="square" rtlCol="0" anchor="ctr">
            <a:spAutoFit/>
          </a:bodyPr>
          <a:p>
            <a:pPr algn="l"/>
            <a:r>
              <a:rPr lang="en-US" sz="1000">
                <a:solidFill>
                  <a:srgbClr val="0D1B2A"/>
                </a:solidFill>
              </a:rPr>
              <a:t>1,248</a:t>
            </a:r>
            <a:endParaRPr lang="en-US" sz="1000">
              <a:solidFill>
                <a:srgbClr val="0D1B2A"/>
              </a:solidFill>
            </a:endParaRPr>
          </a:p>
        </p:txBody>
      </p:sp>
      <p:sp>
        <p:nvSpPr>
          <p:cNvPr id="49" name="Text Box 48"/>
          <p:cNvSpPr txBox="1"/>
          <p:nvPr/>
        </p:nvSpPr>
        <p:spPr>
          <a:xfrm>
            <a:off x="9194800" y="4178300"/>
            <a:ext cx="2743200" cy="245110"/>
          </a:xfrm>
          <a:prstGeom prst="rect">
            <a:avLst/>
          </a:prstGeom>
          <a:noFill/>
        </p:spPr>
        <p:txBody>
          <a:bodyPr wrap="square" rtlCol="0" anchor="ctr">
            <a:spAutoFit/>
          </a:bodyPr>
          <a:p>
            <a:pPr algn="l"/>
            <a:r>
              <a:rPr lang="en-US" sz="1000">
                <a:solidFill>
                  <a:srgbClr val="0D1B2A"/>
                </a:solidFill>
              </a:rPr>
              <a:t>1,248</a:t>
            </a:r>
            <a:endParaRPr lang="en-US" sz="1000">
              <a:solidFill>
                <a:srgbClr val="0D1B2A"/>
              </a:solidFill>
            </a:endParaRPr>
          </a:p>
        </p:txBody>
      </p:sp>
      <p:sp>
        <p:nvSpPr>
          <p:cNvPr id="50" name="Rectangles 49"/>
          <p:cNvSpPr/>
          <p:nvPr/>
        </p:nvSpPr>
        <p:spPr>
          <a:xfrm>
            <a:off x="228600" y="46228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1" name="Rectangles 50"/>
          <p:cNvSpPr/>
          <p:nvPr/>
        </p:nvSpPr>
        <p:spPr>
          <a:xfrm>
            <a:off x="228600" y="50927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2" name="Text Box 51"/>
          <p:cNvSpPr txBox="1"/>
          <p:nvPr/>
        </p:nvSpPr>
        <p:spPr>
          <a:xfrm>
            <a:off x="304800" y="4660900"/>
            <a:ext cx="3708400" cy="245110"/>
          </a:xfrm>
          <a:prstGeom prst="rect">
            <a:avLst/>
          </a:prstGeom>
          <a:noFill/>
        </p:spPr>
        <p:txBody>
          <a:bodyPr wrap="square" rtlCol="0" anchor="ctr">
            <a:spAutoFit/>
          </a:bodyPr>
          <a:p>
            <a:pPr algn="l"/>
            <a:r>
              <a:rPr lang="en-US" sz="1000">
                <a:solidFill>
                  <a:srgbClr val="0D1B2A"/>
                </a:solidFill>
              </a:rPr>
              <a:t>Engaged Prospects (5-8%)</a:t>
            </a:r>
            <a:endParaRPr lang="en-US" sz="1000">
              <a:solidFill>
                <a:srgbClr val="0D1B2A"/>
              </a:solidFill>
            </a:endParaRPr>
          </a:p>
        </p:txBody>
      </p:sp>
      <p:sp>
        <p:nvSpPr>
          <p:cNvPr id="53" name="Text Box 52"/>
          <p:cNvSpPr txBox="1"/>
          <p:nvPr/>
        </p:nvSpPr>
        <p:spPr>
          <a:xfrm>
            <a:off x="4114800" y="4660900"/>
            <a:ext cx="2438400" cy="245110"/>
          </a:xfrm>
          <a:prstGeom prst="rect">
            <a:avLst/>
          </a:prstGeom>
          <a:noFill/>
        </p:spPr>
        <p:txBody>
          <a:bodyPr wrap="square" rtlCol="0" anchor="ctr">
            <a:spAutoFit/>
          </a:bodyPr>
          <a:p>
            <a:pPr algn="l"/>
            <a:r>
              <a:rPr lang="en-US" sz="1000">
                <a:solidFill>
                  <a:srgbClr val="0D1B2A"/>
                </a:solidFill>
              </a:rPr>
              <a:t>62-100</a:t>
            </a:r>
            <a:endParaRPr lang="en-US" sz="1000">
              <a:solidFill>
                <a:srgbClr val="0D1B2A"/>
              </a:solidFill>
            </a:endParaRPr>
          </a:p>
        </p:txBody>
      </p:sp>
      <p:sp>
        <p:nvSpPr>
          <p:cNvPr id="54" name="Text Box 53"/>
          <p:cNvSpPr txBox="1"/>
          <p:nvPr/>
        </p:nvSpPr>
        <p:spPr>
          <a:xfrm>
            <a:off x="6654800" y="4660900"/>
            <a:ext cx="2438400" cy="245110"/>
          </a:xfrm>
          <a:prstGeom prst="rect">
            <a:avLst/>
          </a:prstGeom>
          <a:noFill/>
        </p:spPr>
        <p:txBody>
          <a:bodyPr wrap="square" rtlCol="0" anchor="ctr">
            <a:spAutoFit/>
          </a:bodyPr>
          <a:p>
            <a:pPr algn="l"/>
            <a:r>
              <a:rPr lang="en-US" sz="1000">
                <a:solidFill>
                  <a:srgbClr val="0D1B2A"/>
                </a:solidFill>
              </a:rPr>
              <a:t>62-100</a:t>
            </a:r>
            <a:endParaRPr lang="en-US" sz="1000">
              <a:solidFill>
                <a:srgbClr val="0D1B2A"/>
              </a:solidFill>
            </a:endParaRPr>
          </a:p>
        </p:txBody>
      </p:sp>
      <p:sp>
        <p:nvSpPr>
          <p:cNvPr id="55" name="Text Box 54"/>
          <p:cNvSpPr txBox="1"/>
          <p:nvPr/>
        </p:nvSpPr>
        <p:spPr>
          <a:xfrm>
            <a:off x="9194800" y="4660900"/>
            <a:ext cx="2743200" cy="245110"/>
          </a:xfrm>
          <a:prstGeom prst="rect">
            <a:avLst/>
          </a:prstGeom>
          <a:noFill/>
        </p:spPr>
        <p:txBody>
          <a:bodyPr wrap="square" rtlCol="0" anchor="ctr">
            <a:spAutoFit/>
          </a:bodyPr>
          <a:p>
            <a:pPr algn="l"/>
            <a:r>
              <a:rPr lang="en-US" sz="1000">
                <a:solidFill>
                  <a:srgbClr val="0D1B2A"/>
                </a:solidFill>
              </a:rPr>
              <a:t>62-100</a:t>
            </a:r>
            <a:endParaRPr lang="en-US" sz="1000">
              <a:solidFill>
                <a:srgbClr val="0D1B2A"/>
              </a:solidFill>
            </a:endParaRPr>
          </a:p>
        </p:txBody>
      </p:sp>
      <p:sp>
        <p:nvSpPr>
          <p:cNvPr id="56" name="Rectangles 55"/>
          <p:cNvSpPr/>
          <p:nvPr/>
        </p:nvSpPr>
        <p:spPr>
          <a:xfrm>
            <a:off x="228600" y="51054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7" name="Rectangles 56"/>
          <p:cNvSpPr/>
          <p:nvPr/>
        </p:nvSpPr>
        <p:spPr>
          <a:xfrm>
            <a:off x="228600" y="55753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8" name="Text Box 57"/>
          <p:cNvSpPr txBox="1"/>
          <p:nvPr/>
        </p:nvSpPr>
        <p:spPr>
          <a:xfrm>
            <a:off x="304800" y="5143500"/>
            <a:ext cx="3708400" cy="245110"/>
          </a:xfrm>
          <a:prstGeom prst="rect">
            <a:avLst/>
          </a:prstGeom>
          <a:noFill/>
        </p:spPr>
        <p:txBody>
          <a:bodyPr wrap="square" rtlCol="0" anchor="ctr">
            <a:spAutoFit/>
          </a:bodyPr>
          <a:p>
            <a:pPr algn="l"/>
            <a:r>
              <a:rPr lang="en-US" sz="1000">
                <a:solidFill>
                  <a:srgbClr val="0D1B2A"/>
                </a:solidFill>
              </a:rPr>
              <a:t>Demo Leads Estimated</a:t>
            </a:r>
            <a:endParaRPr lang="en-US" sz="1000">
              <a:solidFill>
                <a:srgbClr val="0D1B2A"/>
              </a:solidFill>
            </a:endParaRPr>
          </a:p>
        </p:txBody>
      </p:sp>
      <p:sp>
        <p:nvSpPr>
          <p:cNvPr id="59" name="Text Box 58"/>
          <p:cNvSpPr txBox="1"/>
          <p:nvPr/>
        </p:nvSpPr>
        <p:spPr>
          <a:xfrm>
            <a:off x="4114800" y="5143500"/>
            <a:ext cx="2438400" cy="245110"/>
          </a:xfrm>
          <a:prstGeom prst="rect">
            <a:avLst/>
          </a:prstGeom>
          <a:noFill/>
        </p:spPr>
        <p:txBody>
          <a:bodyPr wrap="square" rtlCol="0" anchor="ctr">
            <a:spAutoFit/>
          </a:bodyPr>
          <a:p>
            <a:pPr algn="l"/>
            <a:r>
              <a:rPr lang="en-US" sz="1000" b="1">
                <a:solidFill>
                  <a:srgbClr val="16A34A"/>
                </a:solidFill>
              </a:rPr>
              <a:t>15-22</a:t>
            </a:r>
            <a:endParaRPr lang="en-US" sz="1000" b="1">
              <a:solidFill>
                <a:srgbClr val="16A34A"/>
              </a:solidFill>
            </a:endParaRPr>
          </a:p>
        </p:txBody>
      </p:sp>
      <p:sp>
        <p:nvSpPr>
          <p:cNvPr id="60" name="Text Box 59"/>
          <p:cNvSpPr txBox="1"/>
          <p:nvPr/>
        </p:nvSpPr>
        <p:spPr>
          <a:xfrm>
            <a:off x="6654800" y="5143500"/>
            <a:ext cx="2438400" cy="245110"/>
          </a:xfrm>
          <a:prstGeom prst="rect">
            <a:avLst/>
          </a:prstGeom>
          <a:noFill/>
        </p:spPr>
        <p:txBody>
          <a:bodyPr wrap="square" rtlCol="0" anchor="ctr">
            <a:spAutoFit/>
          </a:bodyPr>
          <a:p>
            <a:pPr algn="l"/>
            <a:r>
              <a:rPr lang="en-US" sz="1000" b="1">
                <a:solidFill>
                  <a:srgbClr val="16A34A"/>
                </a:solidFill>
              </a:rPr>
              <a:t>18-26</a:t>
            </a:r>
            <a:endParaRPr lang="en-US" sz="1000" b="1">
              <a:solidFill>
                <a:srgbClr val="16A34A"/>
              </a:solidFill>
            </a:endParaRPr>
          </a:p>
        </p:txBody>
      </p:sp>
      <p:sp>
        <p:nvSpPr>
          <p:cNvPr id="61" name="Text Box 60"/>
          <p:cNvSpPr txBox="1"/>
          <p:nvPr/>
        </p:nvSpPr>
        <p:spPr>
          <a:xfrm>
            <a:off x="9194800" y="5143500"/>
            <a:ext cx="2743200" cy="245110"/>
          </a:xfrm>
          <a:prstGeom prst="rect">
            <a:avLst/>
          </a:prstGeom>
          <a:noFill/>
        </p:spPr>
        <p:txBody>
          <a:bodyPr wrap="square" rtlCol="0" anchor="ctr">
            <a:spAutoFit/>
          </a:bodyPr>
          <a:p>
            <a:pPr algn="l"/>
            <a:r>
              <a:rPr lang="en-US" sz="1000" b="1">
                <a:solidFill>
                  <a:srgbClr val="16A34A"/>
                </a:solidFill>
              </a:rPr>
              <a:t>20-30</a:t>
            </a:r>
            <a:endParaRPr lang="en-US" sz="1000" b="1">
              <a:solidFill>
                <a:srgbClr val="16A34A"/>
              </a:solidFill>
            </a:endParaRPr>
          </a:p>
        </p:txBody>
      </p:sp>
      <p:sp>
        <p:nvSpPr>
          <p:cNvPr id="62" name="Rectangles 61"/>
          <p:cNvSpPr/>
          <p:nvPr/>
        </p:nvSpPr>
        <p:spPr>
          <a:xfrm>
            <a:off x="228600" y="55880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3" name="Rectangles 62"/>
          <p:cNvSpPr/>
          <p:nvPr/>
        </p:nvSpPr>
        <p:spPr>
          <a:xfrm>
            <a:off x="228600" y="60579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4" name="Text Box 63"/>
          <p:cNvSpPr txBox="1"/>
          <p:nvPr/>
        </p:nvSpPr>
        <p:spPr>
          <a:xfrm>
            <a:off x="304800" y="5626100"/>
            <a:ext cx="3708400" cy="245110"/>
          </a:xfrm>
          <a:prstGeom prst="rect">
            <a:avLst/>
          </a:prstGeom>
          <a:noFill/>
        </p:spPr>
        <p:txBody>
          <a:bodyPr wrap="square" rtlCol="0" anchor="ctr">
            <a:spAutoFit/>
          </a:bodyPr>
          <a:p>
            <a:pPr algn="l"/>
            <a:r>
              <a:rPr lang="en-US" sz="1000">
                <a:solidFill>
                  <a:srgbClr val="0D1B2A"/>
                </a:solidFill>
              </a:rPr>
              <a:t>Blended CPL</a:t>
            </a:r>
            <a:endParaRPr lang="en-US" sz="1000">
              <a:solidFill>
                <a:srgbClr val="0D1B2A"/>
              </a:solidFill>
            </a:endParaRPr>
          </a:p>
        </p:txBody>
      </p:sp>
      <p:sp>
        <p:nvSpPr>
          <p:cNvPr id="65" name="Text Box 64"/>
          <p:cNvSpPr txBox="1"/>
          <p:nvPr/>
        </p:nvSpPr>
        <p:spPr>
          <a:xfrm>
            <a:off x="4114800" y="5626100"/>
            <a:ext cx="2438400" cy="245110"/>
          </a:xfrm>
          <a:prstGeom prst="rect">
            <a:avLst/>
          </a:prstGeom>
          <a:noFill/>
        </p:spPr>
        <p:txBody>
          <a:bodyPr wrap="square" rtlCol="0" anchor="ctr">
            <a:spAutoFit/>
          </a:bodyPr>
          <a:p>
            <a:pPr algn="l"/>
            <a:r>
              <a:rPr lang="en-US" sz="1000" b="1">
                <a:solidFill>
                  <a:srgbClr val="1A6BB5"/>
                </a:solidFill>
              </a:rPr>
              <a:t>$36-53</a:t>
            </a:r>
            <a:endParaRPr lang="en-US" sz="1000" b="1">
              <a:solidFill>
                <a:srgbClr val="1A6BB5"/>
              </a:solidFill>
            </a:endParaRPr>
          </a:p>
        </p:txBody>
      </p:sp>
      <p:sp>
        <p:nvSpPr>
          <p:cNvPr id="66" name="Text Box 65"/>
          <p:cNvSpPr txBox="1"/>
          <p:nvPr/>
        </p:nvSpPr>
        <p:spPr>
          <a:xfrm>
            <a:off x="6654800" y="5626100"/>
            <a:ext cx="2438400" cy="245110"/>
          </a:xfrm>
          <a:prstGeom prst="rect">
            <a:avLst/>
          </a:prstGeom>
          <a:noFill/>
        </p:spPr>
        <p:txBody>
          <a:bodyPr wrap="square" rtlCol="0" anchor="ctr">
            <a:spAutoFit/>
          </a:bodyPr>
          <a:p>
            <a:pPr algn="l"/>
            <a:r>
              <a:rPr lang="en-US" sz="1000" b="1">
                <a:solidFill>
                  <a:srgbClr val="1A6BB5"/>
                </a:solidFill>
              </a:rPr>
              <a:t>$31-44</a:t>
            </a:r>
            <a:endParaRPr lang="en-US" sz="1000" b="1">
              <a:solidFill>
                <a:srgbClr val="1A6BB5"/>
              </a:solidFill>
            </a:endParaRPr>
          </a:p>
        </p:txBody>
      </p:sp>
      <p:sp>
        <p:nvSpPr>
          <p:cNvPr id="67" name="Text Box 66"/>
          <p:cNvSpPr txBox="1"/>
          <p:nvPr/>
        </p:nvSpPr>
        <p:spPr>
          <a:xfrm>
            <a:off x="9194800" y="5626100"/>
            <a:ext cx="2743200" cy="245110"/>
          </a:xfrm>
          <a:prstGeom prst="rect">
            <a:avLst/>
          </a:prstGeom>
          <a:noFill/>
        </p:spPr>
        <p:txBody>
          <a:bodyPr wrap="square" rtlCol="0" anchor="ctr">
            <a:spAutoFit/>
          </a:bodyPr>
          <a:p>
            <a:pPr algn="l"/>
            <a:r>
              <a:rPr lang="en-US" sz="1000" b="1">
                <a:solidFill>
                  <a:srgbClr val="1A6BB5"/>
                </a:solidFill>
              </a:rPr>
              <a:t>$27-40</a:t>
            </a:r>
            <a:endParaRPr lang="en-US" sz="1000" b="1">
              <a:solidFill>
                <a:srgbClr val="1A6BB5"/>
              </a:solidFill>
            </a:endParaRPr>
          </a:p>
        </p:txBody>
      </p:sp>
      <p:sp>
        <p:nvSpPr>
          <p:cNvPr id="68" name="Text Box 67"/>
          <p:cNvSpPr txBox="1"/>
          <p:nvPr/>
        </p:nvSpPr>
        <p:spPr>
          <a:xfrm>
            <a:off x="228600" y="6146800"/>
            <a:ext cx="11734800" cy="213995"/>
          </a:xfrm>
          <a:prstGeom prst="rect">
            <a:avLst/>
          </a:prstGeom>
          <a:noFill/>
        </p:spPr>
        <p:txBody>
          <a:bodyPr wrap="square" rtlCol="0" anchor="ctr">
            <a:spAutoFit/>
          </a:bodyPr>
          <a:p>
            <a:pPr algn="l"/>
            <a:r>
              <a:rPr lang="en-US" sz="800">
                <a:solidFill>
                  <a:srgbClr val="64748B"/>
                </a:solidFill>
              </a:rPr>
              <a:t>Both segments run simultaneously. Month 2 adjustment: review open-to-reply rate per segment. If Segment 1 reply rate exceeds Segment 2, reallocate $100 from Segment 2 to Segment 1.</a:t>
            </a:r>
            <a:endParaRPr lang="en-US" sz="800">
              <a:solidFill>
                <a:srgbClr val="64748B"/>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$2,000/Month - Full-Funnel Approach / InMail + Google Ads</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LinkedIn InMail $800 + Google Ads $1,200</a:t>
            </a:r>
            <a:endParaRPr lang="en-US" sz="800">
              <a:solidFill>
                <a:srgbClr val="A0B4D2"/>
              </a:solidFill>
            </a:endParaRPr>
          </a:p>
        </p:txBody>
      </p:sp>
      <p:sp>
        <p:nvSpPr>
          <p:cNvPr id="6" name="Rectangles 5"/>
          <p:cNvSpPr/>
          <p:nvPr/>
        </p:nvSpPr>
        <p:spPr>
          <a:xfrm>
            <a:off x="228600" y="711200"/>
            <a:ext cx="2794000" cy="12700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11200"/>
            <a:ext cx="2794000" cy="381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Text Box 7"/>
          <p:cNvSpPr txBox="1"/>
          <p:nvPr/>
        </p:nvSpPr>
        <p:spPr>
          <a:xfrm>
            <a:off x="330200" y="812800"/>
            <a:ext cx="2590800" cy="229870"/>
          </a:xfrm>
          <a:prstGeom prst="rect">
            <a:avLst/>
          </a:prstGeom>
          <a:noFill/>
        </p:spPr>
        <p:txBody>
          <a:bodyPr wrap="square" rtlCol="0" anchor="t">
            <a:spAutoFit/>
          </a:bodyPr>
          <a:p>
            <a:pPr algn="l"/>
            <a:r>
              <a:rPr lang="en-US" sz="900" b="1">
                <a:solidFill>
                  <a:srgbClr val="0D1B2A"/>
                </a:solidFill>
              </a:rPr>
              <a:t>LinkedIn InMail</a:t>
            </a:r>
            <a:endParaRPr lang="en-US" sz="900" b="1">
              <a:solidFill>
                <a:srgbClr val="0D1B2A"/>
              </a:solidFill>
            </a:endParaRPr>
          </a:p>
        </p:txBody>
      </p:sp>
      <p:sp>
        <p:nvSpPr>
          <p:cNvPr id="9" name="Text Box 8"/>
          <p:cNvSpPr txBox="1"/>
          <p:nvPr/>
        </p:nvSpPr>
        <p:spPr>
          <a:xfrm>
            <a:off x="330200" y="1219200"/>
            <a:ext cx="2590800" cy="213995"/>
          </a:xfrm>
          <a:prstGeom prst="rect">
            <a:avLst/>
          </a:prstGeom>
          <a:noFill/>
        </p:spPr>
        <p:txBody>
          <a:bodyPr wrap="square" rtlCol="0" anchor="t">
            <a:spAutoFit/>
          </a:bodyPr>
          <a:p>
            <a:pPr algn="l"/>
            <a:r>
              <a:rPr lang="en-US" sz="800">
                <a:solidFill>
                  <a:srgbClr val="64748B"/>
                </a:solidFill>
              </a:rPr>
              <a:t>Both Segments</a:t>
            </a:r>
            <a:endParaRPr lang="en-US" sz="800">
              <a:solidFill>
                <a:srgbClr val="64748B"/>
              </a:solidFill>
            </a:endParaRPr>
          </a:p>
        </p:txBody>
      </p:sp>
      <p:sp>
        <p:nvSpPr>
          <p:cNvPr id="10" name="Text Box 9"/>
          <p:cNvSpPr txBox="1"/>
          <p:nvPr/>
        </p:nvSpPr>
        <p:spPr>
          <a:xfrm>
            <a:off x="330200" y="1447800"/>
            <a:ext cx="2590800" cy="460375"/>
          </a:xfrm>
          <a:prstGeom prst="rect">
            <a:avLst/>
          </a:prstGeom>
          <a:noFill/>
        </p:spPr>
        <p:txBody>
          <a:bodyPr wrap="square" rtlCol="0" anchor="ctr">
            <a:spAutoFit/>
          </a:bodyPr>
          <a:p>
            <a:pPr algn="ctr"/>
            <a:r>
              <a:rPr lang="en-US" sz="2400" b="1">
                <a:solidFill>
                  <a:srgbClr val="1A6BB5"/>
                </a:solidFill>
              </a:rPr>
              <a:t>$800</a:t>
            </a:r>
            <a:endParaRPr lang="en-US" sz="2400" b="1">
              <a:solidFill>
                <a:srgbClr val="1A6BB5"/>
              </a:solidFill>
            </a:endParaRPr>
          </a:p>
        </p:txBody>
      </p:sp>
      <p:sp>
        <p:nvSpPr>
          <p:cNvPr id="11" name="Rectangles 10"/>
          <p:cNvSpPr/>
          <p:nvPr/>
        </p:nvSpPr>
        <p:spPr>
          <a:xfrm>
            <a:off x="3149600" y="711200"/>
            <a:ext cx="2794000" cy="1270000"/>
          </a:xfrm>
          <a:prstGeom prst="rect">
            <a:avLst/>
          </a:prstGeom>
          <a:solidFill>
            <a:srgbClr val="FEE2E2"/>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Rectangles 11"/>
          <p:cNvSpPr/>
          <p:nvPr/>
        </p:nvSpPr>
        <p:spPr>
          <a:xfrm>
            <a:off x="3149600" y="711200"/>
            <a:ext cx="2794000" cy="381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3" name="Text Box 12"/>
          <p:cNvSpPr txBox="1"/>
          <p:nvPr/>
        </p:nvSpPr>
        <p:spPr>
          <a:xfrm>
            <a:off x="3251200" y="812800"/>
            <a:ext cx="2590800" cy="229870"/>
          </a:xfrm>
          <a:prstGeom prst="rect">
            <a:avLst/>
          </a:prstGeom>
          <a:noFill/>
        </p:spPr>
        <p:txBody>
          <a:bodyPr wrap="square" rtlCol="0" anchor="t">
            <a:spAutoFit/>
          </a:bodyPr>
          <a:p>
            <a:pPr algn="l"/>
            <a:r>
              <a:rPr lang="en-US" sz="900" b="1">
                <a:solidFill>
                  <a:srgbClr val="0D1B2A"/>
                </a:solidFill>
              </a:rPr>
              <a:t>Google - Competitor Conquesting</a:t>
            </a:r>
            <a:endParaRPr lang="en-US" sz="900" b="1">
              <a:solidFill>
                <a:srgbClr val="0D1B2A"/>
              </a:solidFill>
            </a:endParaRPr>
          </a:p>
        </p:txBody>
      </p:sp>
      <p:sp>
        <p:nvSpPr>
          <p:cNvPr id="14" name="Text Box 13"/>
          <p:cNvSpPr txBox="1"/>
          <p:nvPr/>
        </p:nvSpPr>
        <p:spPr>
          <a:xfrm>
            <a:off x="3251200" y="1219200"/>
            <a:ext cx="2590800" cy="213995"/>
          </a:xfrm>
          <a:prstGeom prst="rect">
            <a:avLst/>
          </a:prstGeom>
          <a:noFill/>
        </p:spPr>
        <p:txBody>
          <a:bodyPr wrap="square" rtlCol="0" anchor="t">
            <a:spAutoFit/>
          </a:bodyPr>
          <a:p>
            <a:pPr algn="l"/>
            <a:r>
              <a:rPr lang="en-US" sz="800">
                <a:solidFill>
                  <a:srgbClr val="64748B"/>
                </a:solidFill>
              </a:rPr>
              <a:t>Eltropy + Kasisto keywords</a:t>
            </a:r>
            <a:endParaRPr lang="en-US" sz="800">
              <a:solidFill>
                <a:srgbClr val="64748B"/>
              </a:solidFill>
            </a:endParaRPr>
          </a:p>
        </p:txBody>
      </p:sp>
      <p:sp>
        <p:nvSpPr>
          <p:cNvPr id="15" name="Text Box 14"/>
          <p:cNvSpPr txBox="1"/>
          <p:nvPr/>
        </p:nvSpPr>
        <p:spPr>
          <a:xfrm>
            <a:off x="3251200" y="1447800"/>
            <a:ext cx="2590800" cy="460375"/>
          </a:xfrm>
          <a:prstGeom prst="rect">
            <a:avLst/>
          </a:prstGeom>
          <a:noFill/>
        </p:spPr>
        <p:txBody>
          <a:bodyPr wrap="square" rtlCol="0" anchor="ctr">
            <a:spAutoFit/>
          </a:bodyPr>
          <a:p>
            <a:pPr algn="ctr"/>
            <a:r>
              <a:rPr lang="en-US" sz="2400" b="1">
                <a:solidFill>
                  <a:srgbClr val="DC2626"/>
                </a:solidFill>
              </a:rPr>
              <a:t>$800</a:t>
            </a:r>
            <a:endParaRPr lang="en-US" sz="2400" b="1">
              <a:solidFill>
                <a:srgbClr val="DC2626"/>
              </a:solidFill>
            </a:endParaRPr>
          </a:p>
        </p:txBody>
      </p:sp>
      <p:sp>
        <p:nvSpPr>
          <p:cNvPr id="16" name="Rectangles 15"/>
          <p:cNvSpPr/>
          <p:nvPr/>
        </p:nvSpPr>
        <p:spPr>
          <a:xfrm>
            <a:off x="6070600" y="711200"/>
            <a:ext cx="2794000" cy="1270000"/>
          </a:xfrm>
          <a:prstGeom prst="rect">
            <a:avLst/>
          </a:prstGeom>
          <a:solidFill>
            <a:srgbClr val="E6F8F8"/>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7" name="Rectangles 16"/>
          <p:cNvSpPr/>
          <p:nvPr/>
        </p:nvSpPr>
        <p:spPr>
          <a:xfrm>
            <a:off x="6070600" y="711200"/>
            <a:ext cx="2794000" cy="38100"/>
          </a:xfrm>
          <a:prstGeom prst="rect">
            <a:avLst/>
          </a:prstGeom>
          <a:solidFill>
            <a:srgbClr val="1A8A8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8" name="Text Box 17"/>
          <p:cNvSpPr txBox="1"/>
          <p:nvPr/>
        </p:nvSpPr>
        <p:spPr>
          <a:xfrm>
            <a:off x="6172200" y="812800"/>
            <a:ext cx="2590800" cy="229870"/>
          </a:xfrm>
          <a:prstGeom prst="rect">
            <a:avLst/>
          </a:prstGeom>
          <a:noFill/>
        </p:spPr>
        <p:txBody>
          <a:bodyPr wrap="square" rtlCol="0" anchor="t">
            <a:spAutoFit/>
          </a:bodyPr>
          <a:p>
            <a:pPr algn="l"/>
            <a:r>
              <a:rPr lang="en-US" sz="900" b="1">
                <a:solidFill>
                  <a:srgbClr val="0D1B2A"/>
                </a:solidFill>
              </a:rPr>
              <a:t>Google - Banking AI Category</a:t>
            </a:r>
            <a:endParaRPr lang="en-US" sz="900" b="1">
              <a:solidFill>
                <a:srgbClr val="0D1B2A"/>
              </a:solidFill>
            </a:endParaRPr>
          </a:p>
        </p:txBody>
      </p:sp>
      <p:sp>
        <p:nvSpPr>
          <p:cNvPr id="19" name="Text Box 18"/>
          <p:cNvSpPr txBox="1"/>
          <p:nvPr/>
        </p:nvSpPr>
        <p:spPr>
          <a:xfrm>
            <a:off x="6172200" y="1219200"/>
            <a:ext cx="2590800" cy="213995"/>
          </a:xfrm>
          <a:prstGeom prst="rect">
            <a:avLst/>
          </a:prstGeom>
          <a:noFill/>
        </p:spPr>
        <p:txBody>
          <a:bodyPr wrap="square" rtlCol="0" anchor="t">
            <a:spAutoFit/>
          </a:bodyPr>
          <a:p>
            <a:pPr algn="l"/>
            <a:r>
              <a:rPr lang="en-US" sz="800">
                <a:solidFill>
                  <a:srgbClr val="64748B"/>
                </a:solidFill>
              </a:rPr>
              <a:t>Conversational AI banking</a:t>
            </a:r>
            <a:endParaRPr lang="en-US" sz="800">
              <a:solidFill>
                <a:srgbClr val="64748B"/>
              </a:solidFill>
            </a:endParaRPr>
          </a:p>
        </p:txBody>
      </p:sp>
      <p:sp>
        <p:nvSpPr>
          <p:cNvPr id="20" name="Text Box 19"/>
          <p:cNvSpPr txBox="1"/>
          <p:nvPr/>
        </p:nvSpPr>
        <p:spPr>
          <a:xfrm>
            <a:off x="6172200" y="1447800"/>
            <a:ext cx="2590800" cy="460375"/>
          </a:xfrm>
          <a:prstGeom prst="rect">
            <a:avLst/>
          </a:prstGeom>
          <a:noFill/>
        </p:spPr>
        <p:txBody>
          <a:bodyPr wrap="square" rtlCol="0" anchor="ctr">
            <a:spAutoFit/>
          </a:bodyPr>
          <a:p>
            <a:pPr algn="ctr"/>
            <a:r>
              <a:rPr lang="en-US" sz="2400" b="1">
                <a:solidFill>
                  <a:srgbClr val="1A8A8A"/>
                </a:solidFill>
              </a:rPr>
              <a:t>$400</a:t>
            </a:r>
            <a:endParaRPr lang="en-US" sz="2400" b="1">
              <a:solidFill>
                <a:srgbClr val="1A8A8A"/>
              </a:solidFill>
            </a:endParaRPr>
          </a:p>
        </p:txBody>
      </p:sp>
      <p:sp>
        <p:nvSpPr>
          <p:cNvPr id="21" name="Rectangles 20"/>
          <p:cNvSpPr/>
          <p:nvPr/>
        </p:nvSpPr>
        <p:spPr>
          <a:xfrm>
            <a:off x="8991600" y="711200"/>
            <a:ext cx="2794000" cy="1270000"/>
          </a:xfrm>
          <a:prstGeom prst="rect">
            <a:avLst/>
          </a:prstGeom>
          <a:solidFill>
            <a:srgbClr val="F1F5F9"/>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Rectangles 21"/>
          <p:cNvSpPr/>
          <p:nvPr/>
        </p:nvSpPr>
        <p:spPr>
          <a:xfrm>
            <a:off x="8991600" y="711200"/>
            <a:ext cx="2794000" cy="381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3" name="Text Box 22"/>
          <p:cNvSpPr txBox="1"/>
          <p:nvPr/>
        </p:nvSpPr>
        <p:spPr>
          <a:xfrm>
            <a:off x="9093200" y="812800"/>
            <a:ext cx="2590800" cy="229870"/>
          </a:xfrm>
          <a:prstGeom prst="rect">
            <a:avLst/>
          </a:prstGeom>
          <a:noFill/>
        </p:spPr>
        <p:txBody>
          <a:bodyPr wrap="square" rtlCol="0" anchor="t">
            <a:spAutoFit/>
          </a:bodyPr>
          <a:p>
            <a:pPr algn="l"/>
            <a:r>
              <a:rPr lang="en-US" sz="900" b="1">
                <a:solidFill>
                  <a:srgbClr val="0D1B2A"/>
                </a:solidFill>
              </a:rPr>
              <a:t>Total Monthly Budget</a:t>
            </a:r>
            <a:endParaRPr lang="en-US" sz="900" b="1">
              <a:solidFill>
                <a:srgbClr val="0D1B2A"/>
              </a:solidFill>
            </a:endParaRPr>
          </a:p>
        </p:txBody>
      </p:sp>
      <p:sp>
        <p:nvSpPr>
          <p:cNvPr id="24" name="Text Box 23"/>
          <p:cNvSpPr txBox="1"/>
          <p:nvPr/>
        </p:nvSpPr>
        <p:spPr>
          <a:xfrm>
            <a:off x="9093200" y="1219200"/>
            <a:ext cx="2590800" cy="213995"/>
          </a:xfrm>
          <a:prstGeom prst="rect">
            <a:avLst/>
          </a:prstGeom>
          <a:noFill/>
        </p:spPr>
        <p:txBody>
          <a:bodyPr wrap="square" rtlCol="0" anchor="t">
            <a:spAutoFit/>
          </a:bodyPr>
          <a:p>
            <a:pPr algn="l"/>
            <a:r>
              <a:rPr lang="en-US" sz="800">
                <a:solidFill>
                  <a:srgbClr val="64748B"/>
                </a:solidFill>
              </a:rPr>
              <a:t>All channels combined</a:t>
            </a:r>
            <a:endParaRPr lang="en-US" sz="800">
              <a:solidFill>
                <a:srgbClr val="64748B"/>
              </a:solidFill>
            </a:endParaRPr>
          </a:p>
        </p:txBody>
      </p:sp>
      <p:sp>
        <p:nvSpPr>
          <p:cNvPr id="25" name="Text Box 24"/>
          <p:cNvSpPr txBox="1"/>
          <p:nvPr/>
        </p:nvSpPr>
        <p:spPr>
          <a:xfrm>
            <a:off x="9093200" y="1447800"/>
            <a:ext cx="2590800" cy="460375"/>
          </a:xfrm>
          <a:prstGeom prst="rect">
            <a:avLst/>
          </a:prstGeom>
          <a:noFill/>
        </p:spPr>
        <p:txBody>
          <a:bodyPr wrap="square" rtlCol="0" anchor="ctr">
            <a:spAutoFit/>
          </a:bodyPr>
          <a:p>
            <a:pPr algn="ctr"/>
            <a:r>
              <a:rPr lang="en-US" sz="2400" b="1">
                <a:solidFill>
                  <a:srgbClr val="0D1B2A"/>
                </a:solidFill>
              </a:rPr>
              <a:t>$2,000</a:t>
            </a:r>
            <a:endParaRPr lang="en-US" sz="2400" b="1">
              <a:solidFill>
                <a:srgbClr val="0D1B2A"/>
              </a:solidFill>
            </a:endParaRPr>
          </a:p>
        </p:txBody>
      </p:sp>
      <p:sp>
        <p:nvSpPr>
          <p:cNvPr id="26" name="Text Box 25"/>
          <p:cNvSpPr txBox="1"/>
          <p:nvPr/>
        </p:nvSpPr>
        <p:spPr>
          <a:xfrm>
            <a:off x="228600" y="2082800"/>
            <a:ext cx="11684000" cy="229870"/>
          </a:xfrm>
          <a:prstGeom prst="rect">
            <a:avLst/>
          </a:prstGeom>
          <a:noFill/>
        </p:spPr>
        <p:txBody>
          <a:bodyPr wrap="square" rtlCol="0" anchor="ctr">
            <a:spAutoFit/>
          </a:bodyPr>
          <a:p>
            <a:pPr algn="l"/>
            <a:r>
              <a:rPr lang="en-US" sz="900" b="1">
                <a:solidFill>
                  <a:srgbClr val="0D1B2A"/>
                </a:solidFill>
              </a:rPr>
              <a:t>GOOGLE ADS - CAMPAIGN KEYWORDS (Phrase + Exact match only / No broad match)</a:t>
            </a:r>
            <a:endParaRPr lang="en-US" sz="900" b="1">
              <a:solidFill>
                <a:srgbClr val="0D1B2A"/>
              </a:solidFill>
            </a:endParaRPr>
          </a:p>
        </p:txBody>
      </p:sp>
      <p:sp>
        <p:nvSpPr>
          <p:cNvPr id="27" name="Rectangles 26"/>
          <p:cNvSpPr/>
          <p:nvPr/>
        </p:nvSpPr>
        <p:spPr>
          <a:xfrm>
            <a:off x="228600" y="2311400"/>
            <a:ext cx="5740400" cy="1219200"/>
          </a:xfrm>
          <a:prstGeom prst="rect">
            <a:avLst/>
          </a:prstGeom>
          <a:solidFill>
            <a:srgbClr val="FEE2E2"/>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8" name="Rectangles 27"/>
          <p:cNvSpPr/>
          <p:nvPr/>
        </p:nvSpPr>
        <p:spPr>
          <a:xfrm>
            <a:off x="228600" y="2311400"/>
            <a:ext cx="5740400" cy="381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9" name="Text Box 28"/>
          <p:cNvSpPr txBox="1"/>
          <p:nvPr/>
        </p:nvSpPr>
        <p:spPr>
          <a:xfrm>
            <a:off x="330200" y="2387600"/>
            <a:ext cx="5537200" cy="213995"/>
          </a:xfrm>
          <a:prstGeom prst="rect">
            <a:avLst/>
          </a:prstGeom>
          <a:noFill/>
        </p:spPr>
        <p:txBody>
          <a:bodyPr wrap="square" rtlCol="0" anchor="ctr">
            <a:spAutoFit/>
          </a:bodyPr>
          <a:p>
            <a:pPr algn="l"/>
            <a:r>
              <a:rPr lang="en-US" sz="800" b="1">
                <a:solidFill>
                  <a:srgbClr val="0D1B2A"/>
                </a:solidFill>
              </a:rPr>
              <a:t>Competitor Conquesting ($800/mo)</a:t>
            </a:r>
            <a:endParaRPr lang="en-US" sz="800" b="1">
              <a:solidFill>
                <a:srgbClr val="0D1B2A"/>
              </a:solidFill>
            </a:endParaRPr>
          </a:p>
        </p:txBody>
      </p:sp>
      <p:sp>
        <p:nvSpPr>
          <p:cNvPr id="30" name="Text Box 29"/>
          <p:cNvSpPr txBox="1"/>
          <p:nvPr/>
        </p:nvSpPr>
        <p:spPr>
          <a:xfrm>
            <a:off x="330200" y="2641600"/>
            <a:ext cx="5537200" cy="213995"/>
          </a:xfrm>
          <a:prstGeom prst="rect">
            <a:avLst/>
          </a:prstGeom>
          <a:noFill/>
        </p:spPr>
        <p:txBody>
          <a:bodyPr wrap="square" rtlCol="0" anchor="t">
            <a:spAutoFit/>
          </a:bodyPr>
          <a:p>
            <a:pPr algn="l"/>
            <a:r>
              <a:rPr lang="en-US" sz="800">
                <a:solidFill>
                  <a:srgbClr val="233250"/>
                </a:solidFill>
              </a:rPr>
              <a:t>"eltropy"  /  "kasisto"  /  "kasisto ai"  /  "kasisto competitors"  /  "glia banking"</a:t>
            </a:r>
            <a:endParaRPr lang="en-US" sz="800">
              <a:solidFill>
                <a:srgbClr val="233250"/>
              </a:solidFill>
            </a:endParaRPr>
          </a:p>
        </p:txBody>
      </p:sp>
      <p:sp>
        <p:nvSpPr>
          <p:cNvPr id="31" name="Rectangles 30"/>
          <p:cNvSpPr/>
          <p:nvPr/>
        </p:nvSpPr>
        <p:spPr>
          <a:xfrm>
            <a:off x="6223000" y="2311400"/>
            <a:ext cx="5740400" cy="1219200"/>
          </a:xfrm>
          <a:prstGeom prst="rect">
            <a:avLst/>
          </a:prstGeom>
          <a:solidFill>
            <a:srgbClr val="E6F8F8"/>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2" name="Rectangles 31"/>
          <p:cNvSpPr/>
          <p:nvPr/>
        </p:nvSpPr>
        <p:spPr>
          <a:xfrm>
            <a:off x="6223000" y="2311400"/>
            <a:ext cx="5740400" cy="38100"/>
          </a:xfrm>
          <a:prstGeom prst="rect">
            <a:avLst/>
          </a:prstGeom>
          <a:solidFill>
            <a:srgbClr val="1A8A8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3" name="Text Box 32"/>
          <p:cNvSpPr txBox="1"/>
          <p:nvPr/>
        </p:nvSpPr>
        <p:spPr>
          <a:xfrm>
            <a:off x="6324600" y="2387600"/>
            <a:ext cx="5537200" cy="213995"/>
          </a:xfrm>
          <a:prstGeom prst="rect">
            <a:avLst/>
          </a:prstGeom>
          <a:noFill/>
        </p:spPr>
        <p:txBody>
          <a:bodyPr wrap="square" rtlCol="0" anchor="ctr">
            <a:spAutoFit/>
          </a:bodyPr>
          <a:p>
            <a:pPr algn="l"/>
            <a:r>
              <a:rPr lang="en-US" sz="800" b="1">
                <a:solidFill>
                  <a:srgbClr val="0D1B2A"/>
                </a:solidFill>
              </a:rPr>
              <a:t>Banking AI Category ($400/mo)</a:t>
            </a:r>
            <a:endParaRPr lang="en-US" sz="800" b="1">
              <a:solidFill>
                <a:srgbClr val="0D1B2A"/>
              </a:solidFill>
            </a:endParaRPr>
          </a:p>
        </p:txBody>
      </p:sp>
      <p:sp>
        <p:nvSpPr>
          <p:cNvPr id="34" name="Text Box 33"/>
          <p:cNvSpPr txBox="1"/>
          <p:nvPr/>
        </p:nvSpPr>
        <p:spPr>
          <a:xfrm>
            <a:off x="6324600" y="2641600"/>
            <a:ext cx="5537200" cy="337185"/>
          </a:xfrm>
          <a:prstGeom prst="rect">
            <a:avLst/>
          </a:prstGeom>
          <a:noFill/>
        </p:spPr>
        <p:txBody>
          <a:bodyPr wrap="square" rtlCol="0" anchor="t">
            <a:spAutoFit/>
          </a:bodyPr>
          <a:p>
            <a:pPr algn="l"/>
            <a:r>
              <a:rPr lang="en-US" sz="800">
                <a:solidFill>
                  <a:srgbClr val="233250"/>
                </a:solidFill>
              </a:rPr>
              <a:t>"conversational ai for banking"  /  "conversational ai in banking"  /  "banking virtual assistant"  /  "conversational banking"  /  "conversational ai banking"</a:t>
            </a:r>
            <a:endParaRPr lang="en-US" sz="800">
              <a:solidFill>
                <a:srgbClr val="233250"/>
              </a:solidFill>
            </a:endParaRPr>
          </a:p>
        </p:txBody>
      </p:sp>
      <p:sp>
        <p:nvSpPr>
          <p:cNvPr id="35" name="Text Box 34"/>
          <p:cNvSpPr txBox="1"/>
          <p:nvPr/>
        </p:nvSpPr>
        <p:spPr>
          <a:xfrm>
            <a:off x="228600" y="3632200"/>
            <a:ext cx="11684000" cy="245110"/>
          </a:xfrm>
          <a:prstGeom prst="rect">
            <a:avLst/>
          </a:prstGeom>
          <a:noFill/>
        </p:spPr>
        <p:txBody>
          <a:bodyPr wrap="square" rtlCol="0" anchor="ctr">
            <a:spAutoFit/>
          </a:bodyPr>
          <a:p>
            <a:pPr algn="l"/>
            <a:r>
              <a:rPr lang="en-US" sz="1000" b="1">
                <a:solidFill>
                  <a:srgbClr val="0D1B2A"/>
                </a:solidFill>
              </a:rPr>
              <a:t>3-MONTH PROJECTION - $2,000/MONTH</a:t>
            </a:r>
            <a:endParaRPr lang="en-US" sz="1000" b="1">
              <a:solidFill>
                <a:srgbClr val="0D1B2A"/>
              </a:solidFill>
            </a:endParaRPr>
          </a:p>
        </p:txBody>
      </p:sp>
      <p:sp>
        <p:nvSpPr>
          <p:cNvPr id="36" name="Rectangles 35"/>
          <p:cNvSpPr/>
          <p:nvPr/>
        </p:nvSpPr>
        <p:spPr>
          <a:xfrm>
            <a:off x="228600" y="3860800"/>
            <a:ext cx="11734800" cy="3556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7" name="Text Box 36"/>
          <p:cNvSpPr txBox="1"/>
          <p:nvPr/>
        </p:nvSpPr>
        <p:spPr>
          <a:xfrm>
            <a:off x="304800" y="3886200"/>
            <a:ext cx="3708400" cy="229870"/>
          </a:xfrm>
          <a:prstGeom prst="rect">
            <a:avLst/>
          </a:prstGeom>
          <a:noFill/>
        </p:spPr>
        <p:txBody>
          <a:bodyPr wrap="square" rtlCol="0" anchor="ctr">
            <a:spAutoFit/>
          </a:bodyPr>
          <a:p>
            <a:pPr algn="l"/>
            <a:r>
              <a:rPr lang="en-US" sz="900" b="1">
                <a:solidFill>
                  <a:srgbClr val="FFFFFF"/>
                </a:solidFill>
              </a:rPr>
              <a:t>Channel</a:t>
            </a:r>
            <a:endParaRPr lang="en-US" sz="900" b="1">
              <a:solidFill>
                <a:srgbClr val="FFFFFF"/>
              </a:solidFill>
            </a:endParaRPr>
          </a:p>
        </p:txBody>
      </p:sp>
      <p:sp>
        <p:nvSpPr>
          <p:cNvPr id="38" name="Text Box 37"/>
          <p:cNvSpPr txBox="1"/>
          <p:nvPr/>
        </p:nvSpPr>
        <p:spPr>
          <a:xfrm>
            <a:off x="4114800" y="3886200"/>
            <a:ext cx="3073400" cy="229870"/>
          </a:xfrm>
          <a:prstGeom prst="rect">
            <a:avLst/>
          </a:prstGeom>
          <a:noFill/>
        </p:spPr>
        <p:txBody>
          <a:bodyPr wrap="square" rtlCol="0" anchor="ctr">
            <a:spAutoFit/>
          </a:bodyPr>
          <a:p>
            <a:pPr algn="l"/>
            <a:r>
              <a:rPr lang="en-US" sz="900" b="1">
                <a:solidFill>
                  <a:srgbClr val="FFFFFF"/>
                </a:solidFill>
              </a:rPr>
              <a:t>Monthly Budget</a:t>
            </a:r>
            <a:endParaRPr lang="en-US" sz="900" b="1">
              <a:solidFill>
                <a:srgbClr val="FFFFFF"/>
              </a:solidFill>
            </a:endParaRPr>
          </a:p>
        </p:txBody>
      </p:sp>
      <p:sp>
        <p:nvSpPr>
          <p:cNvPr id="39" name="Text Box 38"/>
          <p:cNvSpPr txBox="1"/>
          <p:nvPr/>
        </p:nvSpPr>
        <p:spPr>
          <a:xfrm>
            <a:off x="7289800" y="3886200"/>
            <a:ext cx="2438400" cy="229870"/>
          </a:xfrm>
          <a:prstGeom prst="rect">
            <a:avLst/>
          </a:prstGeom>
          <a:noFill/>
        </p:spPr>
        <p:txBody>
          <a:bodyPr wrap="square" rtlCol="0" anchor="ctr">
            <a:spAutoFit/>
          </a:bodyPr>
          <a:p>
            <a:pPr algn="l"/>
            <a:r>
              <a:rPr lang="en-US" sz="900" b="1">
                <a:solidFill>
                  <a:srgbClr val="FFFFFF"/>
                </a:solidFill>
              </a:rPr>
              <a:t>Est. Leads / Month</a:t>
            </a:r>
            <a:endParaRPr lang="en-US" sz="900" b="1">
              <a:solidFill>
                <a:srgbClr val="FFFFFF"/>
              </a:solidFill>
            </a:endParaRPr>
          </a:p>
        </p:txBody>
      </p:sp>
      <p:sp>
        <p:nvSpPr>
          <p:cNvPr id="40" name="Text Box 39"/>
          <p:cNvSpPr txBox="1"/>
          <p:nvPr/>
        </p:nvSpPr>
        <p:spPr>
          <a:xfrm>
            <a:off x="9829800" y="3886200"/>
            <a:ext cx="1879600" cy="229870"/>
          </a:xfrm>
          <a:prstGeom prst="rect">
            <a:avLst/>
          </a:prstGeom>
          <a:noFill/>
        </p:spPr>
        <p:txBody>
          <a:bodyPr wrap="square" rtlCol="0" anchor="ctr">
            <a:spAutoFit/>
          </a:bodyPr>
          <a:p>
            <a:pPr algn="l"/>
            <a:r>
              <a:rPr lang="en-US" sz="900" b="1">
                <a:solidFill>
                  <a:srgbClr val="FFFFFF"/>
                </a:solidFill>
              </a:rPr>
              <a:t>Blended CPL</a:t>
            </a:r>
            <a:endParaRPr lang="en-US" sz="900" b="1">
              <a:solidFill>
                <a:srgbClr val="FFFFFF"/>
              </a:solidFill>
            </a:endParaRPr>
          </a:p>
        </p:txBody>
      </p:sp>
      <p:sp>
        <p:nvSpPr>
          <p:cNvPr id="41" name="Rectangles 40"/>
          <p:cNvSpPr/>
          <p:nvPr/>
        </p:nvSpPr>
        <p:spPr>
          <a:xfrm>
            <a:off x="228600" y="42164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2" name="Rectangles 41"/>
          <p:cNvSpPr/>
          <p:nvPr/>
        </p:nvSpPr>
        <p:spPr>
          <a:xfrm>
            <a:off x="228600" y="46863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3" name="Text Box 42"/>
          <p:cNvSpPr txBox="1"/>
          <p:nvPr/>
        </p:nvSpPr>
        <p:spPr>
          <a:xfrm>
            <a:off x="304800" y="4254500"/>
            <a:ext cx="3708400" cy="245110"/>
          </a:xfrm>
          <a:prstGeom prst="rect">
            <a:avLst/>
          </a:prstGeom>
          <a:noFill/>
        </p:spPr>
        <p:txBody>
          <a:bodyPr wrap="square" rtlCol="0" anchor="ctr">
            <a:spAutoFit/>
          </a:bodyPr>
          <a:p>
            <a:pPr algn="l"/>
            <a:r>
              <a:rPr lang="en-US" sz="1000">
                <a:solidFill>
                  <a:srgbClr val="0D1B2A"/>
                </a:solidFill>
              </a:rPr>
              <a:t>LinkedIn InMail (both segments)</a:t>
            </a:r>
            <a:endParaRPr lang="en-US" sz="1000">
              <a:solidFill>
                <a:srgbClr val="0D1B2A"/>
              </a:solidFill>
            </a:endParaRPr>
          </a:p>
        </p:txBody>
      </p:sp>
      <p:sp>
        <p:nvSpPr>
          <p:cNvPr id="44" name="Text Box 43"/>
          <p:cNvSpPr txBox="1"/>
          <p:nvPr/>
        </p:nvSpPr>
        <p:spPr>
          <a:xfrm>
            <a:off x="4114800" y="4254500"/>
            <a:ext cx="3073400" cy="245110"/>
          </a:xfrm>
          <a:prstGeom prst="rect">
            <a:avLst/>
          </a:prstGeom>
          <a:noFill/>
        </p:spPr>
        <p:txBody>
          <a:bodyPr wrap="square" rtlCol="0" anchor="ctr">
            <a:spAutoFit/>
          </a:bodyPr>
          <a:p>
            <a:pPr algn="l"/>
            <a:r>
              <a:rPr lang="en-US" sz="1000">
                <a:solidFill>
                  <a:srgbClr val="0D1B2A"/>
                </a:solidFill>
              </a:rPr>
              <a:t>$800</a:t>
            </a:r>
            <a:endParaRPr lang="en-US" sz="1000">
              <a:solidFill>
                <a:srgbClr val="0D1B2A"/>
              </a:solidFill>
            </a:endParaRPr>
          </a:p>
        </p:txBody>
      </p:sp>
      <p:sp>
        <p:nvSpPr>
          <p:cNvPr id="45" name="Text Box 44"/>
          <p:cNvSpPr txBox="1"/>
          <p:nvPr/>
        </p:nvSpPr>
        <p:spPr>
          <a:xfrm>
            <a:off x="7289800" y="4254500"/>
            <a:ext cx="2438400" cy="245110"/>
          </a:xfrm>
          <a:prstGeom prst="rect">
            <a:avLst/>
          </a:prstGeom>
          <a:noFill/>
        </p:spPr>
        <p:txBody>
          <a:bodyPr wrap="square" rtlCol="0" anchor="ctr">
            <a:spAutoFit/>
          </a:bodyPr>
          <a:p>
            <a:pPr algn="l"/>
            <a:r>
              <a:rPr lang="en-US" sz="1000">
                <a:solidFill>
                  <a:srgbClr val="16A34A"/>
                </a:solidFill>
              </a:rPr>
              <a:t>15-22</a:t>
            </a:r>
            <a:endParaRPr lang="en-US" sz="1000">
              <a:solidFill>
                <a:srgbClr val="16A34A"/>
              </a:solidFill>
            </a:endParaRPr>
          </a:p>
        </p:txBody>
      </p:sp>
      <p:sp>
        <p:nvSpPr>
          <p:cNvPr id="46" name="Text Box 45"/>
          <p:cNvSpPr txBox="1"/>
          <p:nvPr/>
        </p:nvSpPr>
        <p:spPr>
          <a:xfrm>
            <a:off x="9829800" y="4254500"/>
            <a:ext cx="1879600" cy="245110"/>
          </a:xfrm>
          <a:prstGeom prst="rect">
            <a:avLst/>
          </a:prstGeom>
          <a:noFill/>
        </p:spPr>
        <p:txBody>
          <a:bodyPr wrap="square" rtlCol="0" anchor="ctr">
            <a:spAutoFit/>
          </a:bodyPr>
          <a:p>
            <a:pPr algn="l"/>
            <a:r>
              <a:rPr lang="en-US" sz="1000">
                <a:solidFill>
                  <a:srgbClr val="1A6BB5"/>
                </a:solidFill>
              </a:rPr>
              <a:t>$36-53</a:t>
            </a:r>
            <a:endParaRPr lang="en-US" sz="1000">
              <a:solidFill>
                <a:srgbClr val="1A6BB5"/>
              </a:solidFill>
            </a:endParaRPr>
          </a:p>
        </p:txBody>
      </p:sp>
      <p:sp>
        <p:nvSpPr>
          <p:cNvPr id="47" name="Rectangles 46"/>
          <p:cNvSpPr/>
          <p:nvPr/>
        </p:nvSpPr>
        <p:spPr>
          <a:xfrm>
            <a:off x="228600" y="4699000"/>
            <a:ext cx="11734800" cy="4826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8" name="Rectangles 47"/>
          <p:cNvSpPr/>
          <p:nvPr/>
        </p:nvSpPr>
        <p:spPr>
          <a:xfrm>
            <a:off x="228600" y="51689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9" name="Text Box 48"/>
          <p:cNvSpPr txBox="1"/>
          <p:nvPr/>
        </p:nvSpPr>
        <p:spPr>
          <a:xfrm>
            <a:off x="304800" y="4737100"/>
            <a:ext cx="3708400" cy="245110"/>
          </a:xfrm>
          <a:prstGeom prst="rect">
            <a:avLst/>
          </a:prstGeom>
          <a:noFill/>
        </p:spPr>
        <p:txBody>
          <a:bodyPr wrap="square" rtlCol="0" anchor="ctr">
            <a:spAutoFit/>
          </a:bodyPr>
          <a:p>
            <a:pPr algn="l"/>
            <a:r>
              <a:rPr lang="en-US" sz="1000">
                <a:solidFill>
                  <a:srgbClr val="0D1B2A"/>
                </a:solidFill>
              </a:rPr>
              <a:t>Google - Competitor Conquesting</a:t>
            </a:r>
            <a:endParaRPr lang="en-US" sz="1000">
              <a:solidFill>
                <a:srgbClr val="0D1B2A"/>
              </a:solidFill>
            </a:endParaRPr>
          </a:p>
        </p:txBody>
      </p:sp>
      <p:sp>
        <p:nvSpPr>
          <p:cNvPr id="50" name="Text Box 49"/>
          <p:cNvSpPr txBox="1"/>
          <p:nvPr/>
        </p:nvSpPr>
        <p:spPr>
          <a:xfrm>
            <a:off x="4114800" y="4737100"/>
            <a:ext cx="3073400" cy="245110"/>
          </a:xfrm>
          <a:prstGeom prst="rect">
            <a:avLst/>
          </a:prstGeom>
          <a:noFill/>
        </p:spPr>
        <p:txBody>
          <a:bodyPr wrap="square" rtlCol="0" anchor="ctr">
            <a:spAutoFit/>
          </a:bodyPr>
          <a:p>
            <a:pPr algn="l"/>
            <a:r>
              <a:rPr lang="en-US" sz="1000">
                <a:solidFill>
                  <a:srgbClr val="0D1B2A"/>
                </a:solidFill>
              </a:rPr>
              <a:t>$800</a:t>
            </a:r>
            <a:endParaRPr lang="en-US" sz="1000">
              <a:solidFill>
                <a:srgbClr val="0D1B2A"/>
              </a:solidFill>
            </a:endParaRPr>
          </a:p>
        </p:txBody>
      </p:sp>
      <p:sp>
        <p:nvSpPr>
          <p:cNvPr id="51" name="Text Box 50"/>
          <p:cNvSpPr txBox="1"/>
          <p:nvPr/>
        </p:nvSpPr>
        <p:spPr>
          <a:xfrm>
            <a:off x="7289800" y="4737100"/>
            <a:ext cx="2438400" cy="245110"/>
          </a:xfrm>
          <a:prstGeom prst="rect">
            <a:avLst/>
          </a:prstGeom>
          <a:noFill/>
        </p:spPr>
        <p:txBody>
          <a:bodyPr wrap="square" rtlCol="0" anchor="ctr">
            <a:spAutoFit/>
          </a:bodyPr>
          <a:p>
            <a:pPr algn="l"/>
            <a:r>
              <a:rPr lang="en-US" sz="1000">
                <a:solidFill>
                  <a:srgbClr val="16A34A"/>
                </a:solidFill>
              </a:rPr>
              <a:t>5-8</a:t>
            </a:r>
            <a:endParaRPr lang="en-US" sz="1000">
              <a:solidFill>
                <a:srgbClr val="16A34A"/>
              </a:solidFill>
            </a:endParaRPr>
          </a:p>
        </p:txBody>
      </p:sp>
      <p:sp>
        <p:nvSpPr>
          <p:cNvPr id="52" name="Text Box 51"/>
          <p:cNvSpPr txBox="1"/>
          <p:nvPr/>
        </p:nvSpPr>
        <p:spPr>
          <a:xfrm>
            <a:off x="9829800" y="4737100"/>
            <a:ext cx="1879600" cy="245110"/>
          </a:xfrm>
          <a:prstGeom prst="rect">
            <a:avLst/>
          </a:prstGeom>
          <a:noFill/>
        </p:spPr>
        <p:txBody>
          <a:bodyPr wrap="square" rtlCol="0" anchor="ctr">
            <a:spAutoFit/>
          </a:bodyPr>
          <a:p>
            <a:pPr algn="l"/>
            <a:r>
              <a:rPr lang="en-US" sz="1000">
                <a:solidFill>
                  <a:srgbClr val="1A6BB5"/>
                </a:solidFill>
              </a:rPr>
              <a:t>$100-160</a:t>
            </a:r>
            <a:endParaRPr lang="en-US" sz="1000">
              <a:solidFill>
                <a:srgbClr val="1A6BB5"/>
              </a:solidFill>
            </a:endParaRPr>
          </a:p>
        </p:txBody>
      </p:sp>
      <p:sp>
        <p:nvSpPr>
          <p:cNvPr id="53" name="Rectangles 52"/>
          <p:cNvSpPr/>
          <p:nvPr/>
        </p:nvSpPr>
        <p:spPr>
          <a:xfrm>
            <a:off x="228600" y="5181600"/>
            <a:ext cx="11734800" cy="4826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4" name="Rectangles 53"/>
          <p:cNvSpPr/>
          <p:nvPr/>
        </p:nvSpPr>
        <p:spPr>
          <a:xfrm>
            <a:off x="228600" y="56515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5" name="Text Box 54"/>
          <p:cNvSpPr txBox="1"/>
          <p:nvPr/>
        </p:nvSpPr>
        <p:spPr>
          <a:xfrm>
            <a:off x="304800" y="5219700"/>
            <a:ext cx="3708400" cy="245110"/>
          </a:xfrm>
          <a:prstGeom prst="rect">
            <a:avLst/>
          </a:prstGeom>
          <a:noFill/>
        </p:spPr>
        <p:txBody>
          <a:bodyPr wrap="square" rtlCol="0" anchor="ctr">
            <a:spAutoFit/>
          </a:bodyPr>
          <a:p>
            <a:pPr algn="l"/>
            <a:r>
              <a:rPr lang="en-US" sz="1000">
                <a:solidFill>
                  <a:srgbClr val="0D1B2A"/>
                </a:solidFill>
              </a:rPr>
              <a:t>Google - Banking AI Category</a:t>
            </a:r>
            <a:endParaRPr lang="en-US" sz="1000">
              <a:solidFill>
                <a:srgbClr val="0D1B2A"/>
              </a:solidFill>
            </a:endParaRPr>
          </a:p>
        </p:txBody>
      </p:sp>
      <p:sp>
        <p:nvSpPr>
          <p:cNvPr id="56" name="Text Box 55"/>
          <p:cNvSpPr txBox="1"/>
          <p:nvPr/>
        </p:nvSpPr>
        <p:spPr>
          <a:xfrm>
            <a:off x="4114800" y="5219700"/>
            <a:ext cx="3073400" cy="245110"/>
          </a:xfrm>
          <a:prstGeom prst="rect">
            <a:avLst/>
          </a:prstGeom>
          <a:noFill/>
        </p:spPr>
        <p:txBody>
          <a:bodyPr wrap="square" rtlCol="0" anchor="ctr">
            <a:spAutoFit/>
          </a:bodyPr>
          <a:p>
            <a:pPr algn="l"/>
            <a:r>
              <a:rPr lang="en-US" sz="1000">
                <a:solidFill>
                  <a:srgbClr val="0D1B2A"/>
                </a:solidFill>
              </a:rPr>
              <a:t>$400</a:t>
            </a:r>
            <a:endParaRPr lang="en-US" sz="1000">
              <a:solidFill>
                <a:srgbClr val="0D1B2A"/>
              </a:solidFill>
            </a:endParaRPr>
          </a:p>
        </p:txBody>
      </p:sp>
      <p:sp>
        <p:nvSpPr>
          <p:cNvPr id="57" name="Text Box 56"/>
          <p:cNvSpPr txBox="1"/>
          <p:nvPr/>
        </p:nvSpPr>
        <p:spPr>
          <a:xfrm>
            <a:off x="7289800" y="5219700"/>
            <a:ext cx="2438400" cy="245110"/>
          </a:xfrm>
          <a:prstGeom prst="rect">
            <a:avLst/>
          </a:prstGeom>
          <a:noFill/>
        </p:spPr>
        <p:txBody>
          <a:bodyPr wrap="square" rtlCol="0" anchor="ctr">
            <a:spAutoFit/>
          </a:bodyPr>
          <a:p>
            <a:pPr algn="l"/>
            <a:r>
              <a:rPr lang="en-US" sz="1000">
                <a:solidFill>
                  <a:srgbClr val="16A34A"/>
                </a:solidFill>
              </a:rPr>
              <a:t>2-4</a:t>
            </a:r>
            <a:endParaRPr lang="en-US" sz="1000">
              <a:solidFill>
                <a:srgbClr val="16A34A"/>
              </a:solidFill>
            </a:endParaRPr>
          </a:p>
        </p:txBody>
      </p:sp>
      <p:sp>
        <p:nvSpPr>
          <p:cNvPr id="58" name="Text Box 57"/>
          <p:cNvSpPr txBox="1"/>
          <p:nvPr/>
        </p:nvSpPr>
        <p:spPr>
          <a:xfrm>
            <a:off x="9829800" y="5219700"/>
            <a:ext cx="1879600" cy="245110"/>
          </a:xfrm>
          <a:prstGeom prst="rect">
            <a:avLst/>
          </a:prstGeom>
          <a:noFill/>
        </p:spPr>
        <p:txBody>
          <a:bodyPr wrap="square" rtlCol="0" anchor="ctr">
            <a:spAutoFit/>
          </a:bodyPr>
          <a:p>
            <a:pPr algn="l"/>
            <a:r>
              <a:rPr lang="en-US" sz="1000">
                <a:solidFill>
                  <a:srgbClr val="1A6BB5"/>
                </a:solidFill>
              </a:rPr>
              <a:t>$100-200</a:t>
            </a:r>
            <a:endParaRPr lang="en-US" sz="1000">
              <a:solidFill>
                <a:srgbClr val="1A6BB5"/>
              </a:solidFill>
            </a:endParaRPr>
          </a:p>
        </p:txBody>
      </p:sp>
      <p:sp>
        <p:nvSpPr>
          <p:cNvPr id="59" name="Rectangles 58"/>
          <p:cNvSpPr/>
          <p:nvPr/>
        </p:nvSpPr>
        <p:spPr>
          <a:xfrm>
            <a:off x="228600" y="5664200"/>
            <a:ext cx="11734800" cy="4826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0" name="Rectangles 59"/>
          <p:cNvSpPr/>
          <p:nvPr/>
        </p:nvSpPr>
        <p:spPr>
          <a:xfrm>
            <a:off x="228600" y="61341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1" name="Text Box 60"/>
          <p:cNvSpPr txBox="1"/>
          <p:nvPr/>
        </p:nvSpPr>
        <p:spPr>
          <a:xfrm>
            <a:off x="304800" y="5702300"/>
            <a:ext cx="3708400" cy="245110"/>
          </a:xfrm>
          <a:prstGeom prst="rect">
            <a:avLst/>
          </a:prstGeom>
          <a:noFill/>
        </p:spPr>
        <p:txBody>
          <a:bodyPr wrap="square" rtlCol="0" anchor="ctr">
            <a:spAutoFit/>
          </a:bodyPr>
          <a:p>
            <a:pPr algn="l"/>
            <a:r>
              <a:rPr lang="en-US" sz="1000" b="1">
                <a:solidFill>
                  <a:srgbClr val="FFFFFF"/>
                </a:solidFill>
              </a:rPr>
              <a:t>TOTAL</a:t>
            </a:r>
            <a:endParaRPr lang="en-US" sz="1000" b="1">
              <a:solidFill>
                <a:srgbClr val="FFFFFF"/>
              </a:solidFill>
            </a:endParaRPr>
          </a:p>
        </p:txBody>
      </p:sp>
      <p:sp>
        <p:nvSpPr>
          <p:cNvPr id="62" name="Text Box 61"/>
          <p:cNvSpPr txBox="1"/>
          <p:nvPr/>
        </p:nvSpPr>
        <p:spPr>
          <a:xfrm>
            <a:off x="4114800" y="5702300"/>
            <a:ext cx="3073400" cy="245110"/>
          </a:xfrm>
          <a:prstGeom prst="rect">
            <a:avLst/>
          </a:prstGeom>
          <a:noFill/>
        </p:spPr>
        <p:txBody>
          <a:bodyPr wrap="square" rtlCol="0" anchor="ctr">
            <a:spAutoFit/>
          </a:bodyPr>
          <a:p>
            <a:pPr algn="l"/>
            <a:r>
              <a:rPr lang="en-US" sz="1000" b="1">
                <a:solidFill>
                  <a:srgbClr val="FFFFFF"/>
                </a:solidFill>
              </a:rPr>
              <a:t>$2,000</a:t>
            </a:r>
            <a:endParaRPr lang="en-US" sz="1000" b="1">
              <a:solidFill>
                <a:srgbClr val="FFFFFF"/>
              </a:solidFill>
            </a:endParaRPr>
          </a:p>
        </p:txBody>
      </p:sp>
      <p:sp>
        <p:nvSpPr>
          <p:cNvPr id="63" name="Text Box 62"/>
          <p:cNvSpPr txBox="1"/>
          <p:nvPr/>
        </p:nvSpPr>
        <p:spPr>
          <a:xfrm>
            <a:off x="7289800" y="5702300"/>
            <a:ext cx="2438400" cy="245110"/>
          </a:xfrm>
          <a:prstGeom prst="rect">
            <a:avLst/>
          </a:prstGeom>
          <a:noFill/>
        </p:spPr>
        <p:txBody>
          <a:bodyPr wrap="square" rtlCol="0" anchor="ctr">
            <a:spAutoFit/>
          </a:bodyPr>
          <a:p>
            <a:pPr algn="l"/>
            <a:r>
              <a:rPr lang="en-US" sz="1000" b="1">
                <a:solidFill>
                  <a:srgbClr val="FFFFFF"/>
                </a:solidFill>
              </a:rPr>
              <a:t>22-34</a:t>
            </a:r>
            <a:endParaRPr lang="en-US" sz="1000" b="1">
              <a:solidFill>
                <a:srgbClr val="FFFFFF"/>
              </a:solidFill>
            </a:endParaRPr>
          </a:p>
        </p:txBody>
      </p:sp>
      <p:sp>
        <p:nvSpPr>
          <p:cNvPr id="64" name="Text Box 63"/>
          <p:cNvSpPr txBox="1"/>
          <p:nvPr/>
        </p:nvSpPr>
        <p:spPr>
          <a:xfrm>
            <a:off x="9829800" y="5702300"/>
            <a:ext cx="1879600" cy="245110"/>
          </a:xfrm>
          <a:prstGeom prst="rect">
            <a:avLst/>
          </a:prstGeom>
          <a:noFill/>
        </p:spPr>
        <p:txBody>
          <a:bodyPr wrap="square" rtlCol="0" anchor="ctr">
            <a:spAutoFit/>
          </a:bodyPr>
          <a:p>
            <a:pPr algn="l"/>
            <a:r>
              <a:rPr lang="en-US" sz="1000" b="1">
                <a:solidFill>
                  <a:srgbClr val="FFFFFF"/>
                </a:solidFill>
              </a:rPr>
              <a:t>$59-91</a:t>
            </a:r>
            <a:endParaRPr lang="en-US" sz="1000" b="1">
              <a:solidFill>
                <a:srgbClr val="FFFFFF"/>
              </a:solidFill>
            </a:endParaRPr>
          </a:p>
        </p:txBody>
      </p:sp>
      <p:sp>
        <p:nvSpPr>
          <p:cNvPr id="65" name="Text Box 64"/>
          <p:cNvSpPr txBox="1"/>
          <p:nvPr/>
        </p:nvSpPr>
        <p:spPr>
          <a:xfrm>
            <a:off x="228600" y="6248400"/>
            <a:ext cx="11734800" cy="213995"/>
          </a:xfrm>
          <a:prstGeom prst="rect">
            <a:avLst/>
          </a:prstGeom>
          <a:noFill/>
        </p:spPr>
        <p:txBody>
          <a:bodyPr wrap="square" rtlCol="0" anchor="ctr">
            <a:spAutoFit/>
          </a:bodyPr>
          <a:p>
            <a:pPr algn="l"/>
            <a:r>
              <a:rPr lang="en-US" sz="800">
                <a:solidFill>
                  <a:srgbClr val="64748B"/>
                </a:solidFill>
              </a:rPr>
              <a:t>CPL trajectory: Month 1 ~$91 blended  -&gt;  Month 2 ~$74 (QS builds, negatives mature)  -&gt;  Month 3 ~$60 (optimised). Google CPL improves fastest once Quality Score is established.</a:t>
            </a:r>
            <a:endParaRPr lang="en-US" sz="800">
              <a:solidFill>
                <a:srgbClr val="64748B"/>
              </a:solidFill>
            </a:endParaRPr>
          </a:p>
        </p:txBody>
      </p:sp>
      <p:sp>
        <p:nvSpPr>
          <p:cNvPr id="66" name="Text Box 65"/>
          <p:cNvSpPr txBox="1"/>
          <p:nvPr/>
        </p:nvSpPr>
        <p:spPr>
          <a:xfrm>
            <a:off x="228600" y="6502400"/>
            <a:ext cx="11734800" cy="213995"/>
          </a:xfrm>
          <a:prstGeom prst="rect">
            <a:avLst/>
          </a:prstGeom>
          <a:noFill/>
        </p:spPr>
        <p:txBody>
          <a:bodyPr wrap="square" rtlCol="0" anchor="ctr">
            <a:spAutoFit/>
          </a:bodyPr>
          <a:p>
            <a:pPr algn="l"/>
            <a:r>
              <a:rPr lang="en-US" sz="800" b="1">
                <a:solidFill>
                  <a:srgbClr val="D97706"/>
                </a:solidFill>
              </a:rPr>
              <a:t>Note: Only launch Google Ads at $2,000 after InMail has produced at least one demo conversion. Use that proof to write higher-converting Google ad copy.</a:t>
            </a:r>
            <a:endParaRPr lang="en-US" sz="800" b="1">
              <a:solidFill>
                <a:srgbClr val="D9770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3-Month Performance Comparison - All Budget Options</a:t>
            </a:r>
            <a:endParaRPr lang="en-US" sz="1400" b="1">
              <a:solidFill>
                <a:srgbClr val="FFFFFF"/>
              </a:solidFill>
            </a:endParaRPr>
          </a:p>
        </p:txBody>
      </p:sp>
      <p:sp>
        <p:nvSpPr>
          <p:cNvPr id="5" name="Text Box 4"/>
          <p:cNvSpPr txBox="1"/>
          <p:nvPr/>
        </p:nvSpPr>
        <p:spPr>
          <a:xfrm>
            <a:off x="8890000" y="177800"/>
            <a:ext cx="3048000" cy="213995"/>
          </a:xfrm>
          <a:prstGeom prst="rect">
            <a:avLst/>
          </a:prstGeom>
          <a:noFill/>
        </p:spPr>
        <p:txBody>
          <a:bodyPr wrap="square" rtlCol="0" anchor="ctr">
            <a:spAutoFit/>
          </a:bodyPr>
          <a:p>
            <a:pPr algn="r"/>
            <a:r>
              <a:rPr lang="en-US" sz="800">
                <a:solidFill>
                  <a:srgbClr val="A0B4D2"/>
                </a:solidFill>
              </a:rPr>
              <a:t>Select the right entry point for CSXAI's stage</a:t>
            </a:r>
            <a:endParaRPr lang="en-US" sz="800">
              <a:solidFill>
                <a:srgbClr val="A0B4D2"/>
              </a:solidFill>
            </a:endParaRPr>
          </a:p>
        </p:txBody>
      </p:sp>
      <p:sp>
        <p:nvSpPr>
          <p:cNvPr id="6" name="Rectangles 5"/>
          <p:cNvSpPr/>
          <p:nvPr/>
        </p:nvSpPr>
        <p:spPr>
          <a:xfrm>
            <a:off x="228600" y="711200"/>
            <a:ext cx="11734800" cy="3556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Text Box 6"/>
          <p:cNvSpPr txBox="1"/>
          <p:nvPr/>
        </p:nvSpPr>
        <p:spPr>
          <a:xfrm>
            <a:off x="304800" y="736600"/>
            <a:ext cx="3073400" cy="229870"/>
          </a:xfrm>
          <a:prstGeom prst="rect">
            <a:avLst/>
          </a:prstGeom>
          <a:noFill/>
        </p:spPr>
        <p:txBody>
          <a:bodyPr wrap="square" rtlCol="0" anchor="ctr">
            <a:spAutoFit/>
          </a:bodyPr>
          <a:p>
            <a:pPr algn="l"/>
            <a:r>
              <a:rPr lang="en-US" sz="900" b="1">
                <a:solidFill>
                  <a:srgbClr val="FFFFFF"/>
                </a:solidFill>
              </a:rPr>
              <a:t>Metric</a:t>
            </a:r>
            <a:endParaRPr lang="en-US" sz="900" b="1">
              <a:solidFill>
                <a:srgbClr val="FFFFFF"/>
              </a:solidFill>
            </a:endParaRPr>
          </a:p>
        </p:txBody>
      </p:sp>
      <p:sp>
        <p:nvSpPr>
          <p:cNvPr id="8" name="Text Box 7"/>
          <p:cNvSpPr txBox="1"/>
          <p:nvPr/>
        </p:nvSpPr>
        <p:spPr>
          <a:xfrm>
            <a:off x="3479800" y="736600"/>
            <a:ext cx="3073400" cy="229870"/>
          </a:xfrm>
          <a:prstGeom prst="rect">
            <a:avLst/>
          </a:prstGeom>
          <a:noFill/>
        </p:spPr>
        <p:txBody>
          <a:bodyPr wrap="square" rtlCol="0" anchor="ctr">
            <a:spAutoFit/>
          </a:bodyPr>
          <a:p>
            <a:pPr algn="l"/>
            <a:r>
              <a:rPr lang="en-US" sz="900" b="1">
                <a:solidFill>
                  <a:srgbClr val="FFFFFF"/>
                </a:solidFill>
              </a:rPr>
              <a:t>$200/Month</a:t>
            </a:r>
            <a:endParaRPr lang="en-US" sz="900" b="1">
              <a:solidFill>
                <a:srgbClr val="FFFFFF"/>
              </a:solidFill>
            </a:endParaRPr>
          </a:p>
        </p:txBody>
      </p:sp>
      <p:sp>
        <p:nvSpPr>
          <p:cNvPr id="9" name="Text Box 8"/>
          <p:cNvSpPr txBox="1"/>
          <p:nvPr/>
        </p:nvSpPr>
        <p:spPr>
          <a:xfrm>
            <a:off x="6654800" y="736600"/>
            <a:ext cx="3073400" cy="229870"/>
          </a:xfrm>
          <a:prstGeom prst="rect">
            <a:avLst/>
          </a:prstGeom>
          <a:noFill/>
        </p:spPr>
        <p:txBody>
          <a:bodyPr wrap="square" rtlCol="0" anchor="ctr">
            <a:spAutoFit/>
          </a:bodyPr>
          <a:p>
            <a:pPr algn="l"/>
            <a:r>
              <a:rPr lang="en-US" sz="900" b="1">
                <a:solidFill>
                  <a:srgbClr val="FFFFFF"/>
                </a:solidFill>
              </a:rPr>
              <a:t>$800/Month</a:t>
            </a:r>
            <a:endParaRPr lang="en-US" sz="900" b="1">
              <a:solidFill>
                <a:srgbClr val="FFFFFF"/>
              </a:solidFill>
            </a:endParaRPr>
          </a:p>
        </p:txBody>
      </p:sp>
      <p:sp>
        <p:nvSpPr>
          <p:cNvPr id="10" name="Text Box 9"/>
          <p:cNvSpPr txBox="1"/>
          <p:nvPr/>
        </p:nvSpPr>
        <p:spPr>
          <a:xfrm>
            <a:off x="9829800" y="736600"/>
            <a:ext cx="2133600" cy="229870"/>
          </a:xfrm>
          <a:prstGeom prst="rect">
            <a:avLst/>
          </a:prstGeom>
          <a:noFill/>
        </p:spPr>
        <p:txBody>
          <a:bodyPr wrap="square" rtlCol="0" anchor="ctr">
            <a:spAutoFit/>
          </a:bodyPr>
          <a:p>
            <a:pPr algn="l"/>
            <a:r>
              <a:rPr lang="en-US" sz="900" b="1">
                <a:solidFill>
                  <a:srgbClr val="FFFFFF"/>
                </a:solidFill>
              </a:rPr>
              <a:t>$2,000/Month</a:t>
            </a:r>
            <a:endParaRPr lang="en-US" sz="900" b="1">
              <a:solidFill>
                <a:srgbClr val="FFFFFF"/>
              </a:solidFill>
            </a:endParaRPr>
          </a:p>
        </p:txBody>
      </p:sp>
      <p:sp>
        <p:nvSpPr>
          <p:cNvPr id="11" name="Rectangles 10"/>
          <p:cNvSpPr/>
          <p:nvPr/>
        </p:nvSpPr>
        <p:spPr>
          <a:xfrm>
            <a:off x="228600" y="1066800"/>
            <a:ext cx="11734800" cy="5334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Rectangles 11"/>
          <p:cNvSpPr/>
          <p:nvPr/>
        </p:nvSpPr>
        <p:spPr>
          <a:xfrm>
            <a:off x="228600" y="15875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3" name="Text Box 12"/>
          <p:cNvSpPr txBox="1"/>
          <p:nvPr/>
        </p:nvSpPr>
        <p:spPr>
          <a:xfrm>
            <a:off x="304800" y="1117600"/>
            <a:ext cx="3073400" cy="229870"/>
          </a:xfrm>
          <a:prstGeom prst="rect">
            <a:avLst/>
          </a:prstGeom>
          <a:noFill/>
        </p:spPr>
        <p:txBody>
          <a:bodyPr wrap="square" rtlCol="0" anchor="t">
            <a:spAutoFit/>
          </a:bodyPr>
          <a:p>
            <a:pPr algn="l"/>
            <a:r>
              <a:rPr lang="en-US" sz="900" b="1">
                <a:solidFill>
                  <a:srgbClr val="0D1B2A"/>
                </a:solidFill>
              </a:rPr>
              <a:t>Platform</a:t>
            </a:r>
            <a:endParaRPr lang="en-US" sz="900" b="1">
              <a:solidFill>
                <a:srgbClr val="0D1B2A"/>
              </a:solidFill>
            </a:endParaRPr>
          </a:p>
        </p:txBody>
      </p:sp>
      <p:sp>
        <p:nvSpPr>
          <p:cNvPr id="14" name="Text Box 13"/>
          <p:cNvSpPr txBox="1"/>
          <p:nvPr/>
        </p:nvSpPr>
        <p:spPr>
          <a:xfrm>
            <a:off x="3479800" y="1117600"/>
            <a:ext cx="3073400" cy="229870"/>
          </a:xfrm>
          <a:prstGeom prst="rect">
            <a:avLst/>
          </a:prstGeom>
          <a:noFill/>
        </p:spPr>
        <p:txBody>
          <a:bodyPr wrap="square" rtlCol="0" anchor="t">
            <a:spAutoFit/>
          </a:bodyPr>
          <a:p>
            <a:pPr algn="l"/>
            <a:r>
              <a:rPr lang="en-US" sz="900">
                <a:solidFill>
                  <a:srgbClr val="0D1B2A"/>
                </a:solidFill>
              </a:rPr>
              <a:t>LinkedIn InMail only</a:t>
            </a:r>
            <a:endParaRPr lang="en-US" sz="900">
              <a:solidFill>
                <a:srgbClr val="0D1B2A"/>
              </a:solidFill>
            </a:endParaRPr>
          </a:p>
        </p:txBody>
      </p:sp>
      <p:sp>
        <p:nvSpPr>
          <p:cNvPr id="15" name="Text Box 14"/>
          <p:cNvSpPr txBox="1"/>
          <p:nvPr/>
        </p:nvSpPr>
        <p:spPr>
          <a:xfrm>
            <a:off x="6654800" y="1117600"/>
            <a:ext cx="3073400" cy="229870"/>
          </a:xfrm>
          <a:prstGeom prst="rect">
            <a:avLst/>
          </a:prstGeom>
          <a:noFill/>
        </p:spPr>
        <p:txBody>
          <a:bodyPr wrap="square" rtlCol="0" anchor="t">
            <a:spAutoFit/>
          </a:bodyPr>
          <a:p>
            <a:pPr algn="l"/>
            <a:r>
              <a:rPr lang="en-US" sz="900">
                <a:solidFill>
                  <a:srgbClr val="0D1B2A"/>
                </a:solidFill>
              </a:rPr>
              <a:t>LinkedIn InMail only</a:t>
            </a:r>
            <a:endParaRPr lang="en-US" sz="900">
              <a:solidFill>
                <a:srgbClr val="0D1B2A"/>
              </a:solidFill>
            </a:endParaRPr>
          </a:p>
        </p:txBody>
      </p:sp>
      <p:sp>
        <p:nvSpPr>
          <p:cNvPr id="16" name="Text Box 15"/>
          <p:cNvSpPr txBox="1"/>
          <p:nvPr/>
        </p:nvSpPr>
        <p:spPr>
          <a:xfrm>
            <a:off x="9829800" y="1117600"/>
            <a:ext cx="2133600" cy="229870"/>
          </a:xfrm>
          <a:prstGeom prst="rect">
            <a:avLst/>
          </a:prstGeom>
          <a:noFill/>
        </p:spPr>
        <p:txBody>
          <a:bodyPr wrap="square" rtlCol="0" anchor="t">
            <a:spAutoFit/>
          </a:bodyPr>
          <a:p>
            <a:pPr algn="l"/>
            <a:r>
              <a:rPr lang="en-US" sz="900">
                <a:solidFill>
                  <a:srgbClr val="0D1B2A"/>
                </a:solidFill>
              </a:rPr>
              <a:t>InMail + Google Ads</a:t>
            </a:r>
            <a:endParaRPr lang="en-US" sz="900">
              <a:solidFill>
                <a:srgbClr val="0D1B2A"/>
              </a:solidFill>
            </a:endParaRPr>
          </a:p>
        </p:txBody>
      </p:sp>
      <p:sp>
        <p:nvSpPr>
          <p:cNvPr id="17" name="Rectangles 16"/>
          <p:cNvSpPr/>
          <p:nvPr/>
        </p:nvSpPr>
        <p:spPr>
          <a:xfrm>
            <a:off x="228600" y="1600200"/>
            <a:ext cx="11734800" cy="5334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8" name="Rectangles 17"/>
          <p:cNvSpPr/>
          <p:nvPr/>
        </p:nvSpPr>
        <p:spPr>
          <a:xfrm>
            <a:off x="228600" y="21209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9" name="Text Box 18"/>
          <p:cNvSpPr txBox="1"/>
          <p:nvPr/>
        </p:nvSpPr>
        <p:spPr>
          <a:xfrm>
            <a:off x="304800" y="1651000"/>
            <a:ext cx="3073400" cy="229870"/>
          </a:xfrm>
          <a:prstGeom prst="rect">
            <a:avLst/>
          </a:prstGeom>
          <a:noFill/>
        </p:spPr>
        <p:txBody>
          <a:bodyPr wrap="square" rtlCol="0" anchor="t">
            <a:spAutoFit/>
          </a:bodyPr>
          <a:p>
            <a:pPr algn="l"/>
            <a:r>
              <a:rPr lang="en-US" sz="900" b="1">
                <a:solidFill>
                  <a:srgbClr val="0D1B2A"/>
                </a:solidFill>
              </a:rPr>
              <a:t>Active Segments / Campaigns</a:t>
            </a:r>
            <a:endParaRPr lang="en-US" sz="900" b="1">
              <a:solidFill>
                <a:srgbClr val="0D1B2A"/>
              </a:solidFill>
            </a:endParaRPr>
          </a:p>
        </p:txBody>
      </p:sp>
      <p:sp>
        <p:nvSpPr>
          <p:cNvPr id="20" name="Text Box 19"/>
          <p:cNvSpPr txBox="1"/>
          <p:nvPr/>
        </p:nvSpPr>
        <p:spPr>
          <a:xfrm>
            <a:off x="3479800" y="1651000"/>
            <a:ext cx="3073400" cy="229870"/>
          </a:xfrm>
          <a:prstGeom prst="rect">
            <a:avLst/>
          </a:prstGeom>
          <a:noFill/>
        </p:spPr>
        <p:txBody>
          <a:bodyPr wrap="square" rtlCol="0" anchor="t">
            <a:spAutoFit/>
          </a:bodyPr>
          <a:p>
            <a:pPr algn="l"/>
            <a:r>
              <a:rPr lang="en-US" sz="900">
                <a:solidFill>
                  <a:srgbClr val="0D1B2A"/>
                </a:solidFill>
              </a:rPr>
              <a:t>1 (Credit Union C-Suite)</a:t>
            </a:r>
            <a:endParaRPr lang="en-US" sz="900">
              <a:solidFill>
                <a:srgbClr val="0D1B2A"/>
              </a:solidFill>
            </a:endParaRPr>
          </a:p>
        </p:txBody>
      </p:sp>
      <p:sp>
        <p:nvSpPr>
          <p:cNvPr id="21" name="Text Box 20"/>
          <p:cNvSpPr txBox="1"/>
          <p:nvPr/>
        </p:nvSpPr>
        <p:spPr>
          <a:xfrm>
            <a:off x="6654800" y="1651000"/>
            <a:ext cx="3073400" cy="229870"/>
          </a:xfrm>
          <a:prstGeom prst="rect">
            <a:avLst/>
          </a:prstGeom>
          <a:noFill/>
        </p:spPr>
        <p:txBody>
          <a:bodyPr wrap="square" rtlCol="0" anchor="t">
            <a:spAutoFit/>
          </a:bodyPr>
          <a:p>
            <a:pPr algn="l"/>
            <a:r>
              <a:rPr lang="en-US" sz="900">
                <a:solidFill>
                  <a:srgbClr val="0D1B2A"/>
                </a:solidFill>
              </a:rPr>
              <a:t>2 (Banking Ops + Credit Union)</a:t>
            </a:r>
            <a:endParaRPr lang="en-US" sz="900">
              <a:solidFill>
                <a:srgbClr val="0D1B2A"/>
              </a:solidFill>
            </a:endParaRPr>
          </a:p>
        </p:txBody>
      </p:sp>
      <p:sp>
        <p:nvSpPr>
          <p:cNvPr id="22" name="Text Box 21"/>
          <p:cNvSpPr txBox="1"/>
          <p:nvPr/>
        </p:nvSpPr>
        <p:spPr>
          <a:xfrm>
            <a:off x="9829800" y="1651000"/>
            <a:ext cx="2133600" cy="229870"/>
          </a:xfrm>
          <a:prstGeom prst="rect">
            <a:avLst/>
          </a:prstGeom>
          <a:noFill/>
        </p:spPr>
        <p:txBody>
          <a:bodyPr wrap="square" rtlCol="0" anchor="t">
            <a:spAutoFit/>
          </a:bodyPr>
          <a:p>
            <a:pPr algn="l"/>
            <a:r>
              <a:rPr lang="en-US" sz="900">
                <a:solidFill>
                  <a:srgbClr val="0D1B2A"/>
                </a:solidFill>
              </a:rPr>
              <a:t>2 InMail + 2 Google campaigns</a:t>
            </a:r>
            <a:endParaRPr lang="en-US" sz="900">
              <a:solidFill>
                <a:srgbClr val="0D1B2A"/>
              </a:solidFill>
            </a:endParaRPr>
          </a:p>
        </p:txBody>
      </p:sp>
      <p:sp>
        <p:nvSpPr>
          <p:cNvPr id="23" name="Rectangles 22"/>
          <p:cNvSpPr/>
          <p:nvPr/>
        </p:nvSpPr>
        <p:spPr>
          <a:xfrm>
            <a:off x="228600" y="2133600"/>
            <a:ext cx="11734800" cy="5334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4" name="Rectangles 23"/>
          <p:cNvSpPr/>
          <p:nvPr/>
        </p:nvSpPr>
        <p:spPr>
          <a:xfrm>
            <a:off x="228600" y="26543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5" name="Text Box 24"/>
          <p:cNvSpPr txBox="1"/>
          <p:nvPr/>
        </p:nvSpPr>
        <p:spPr>
          <a:xfrm>
            <a:off x="304800" y="2184400"/>
            <a:ext cx="3073400" cy="229870"/>
          </a:xfrm>
          <a:prstGeom prst="rect">
            <a:avLst/>
          </a:prstGeom>
          <a:noFill/>
        </p:spPr>
        <p:txBody>
          <a:bodyPr wrap="square" rtlCol="0" anchor="t">
            <a:spAutoFit/>
          </a:bodyPr>
          <a:p>
            <a:pPr algn="l"/>
            <a:r>
              <a:rPr lang="en-US" sz="900" b="1">
                <a:solidFill>
                  <a:srgbClr val="0D1B2A"/>
                </a:solidFill>
              </a:rPr>
              <a:t>Monthly Sends / Impressions</a:t>
            </a:r>
            <a:endParaRPr lang="en-US" sz="900" b="1">
              <a:solidFill>
                <a:srgbClr val="0D1B2A"/>
              </a:solidFill>
            </a:endParaRPr>
          </a:p>
        </p:txBody>
      </p:sp>
      <p:sp>
        <p:nvSpPr>
          <p:cNvPr id="26" name="Text Box 25"/>
          <p:cNvSpPr txBox="1"/>
          <p:nvPr/>
        </p:nvSpPr>
        <p:spPr>
          <a:xfrm>
            <a:off x="3479800" y="2184400"/>
            <a:ext cx="3073400" cy="229870"/>
          </a:xfrm>
          <a:prstGeom prst="rect">
            <a:avLst/>
          </a:prstGeom>
          <a:noFill/>
        </p:spPr>
        <p:txBody>
          <a:bodyPr wrap="square" rtlCol="0" anchor="t">
            <a:spAutoFit/>
          </a:bodyPr>
          <a:p>
            <a:pPr algn="l"/>
            <a:r>
              <a:rPr lang="en-US" sz="900">
                <a:solidFill>
                  <a:srgbClr val="0D1B2A"/>
                </a:solidFill>
              </a:rPr>
              <a:t>~500 sends</a:t>
            </a:r>
            <a:endParaRPr lang="en-US" sz="900">
              <a:solidFill>
                <a:srgbClr val="0D1B2A"/>
              </a:solidFill>
            </a:endParaRPr>
          </a:p>
        </p:txBody>
      </p:sp>
      <p:sp>
        <p:nvSpPr>
          <p:cNvPr id="27" name="Text Box 26"/>
          <p:cNvSpPr txBox="1"/>
          <p:nvPr/>
        </p:nvSpPr>
        <p:spPr>
          <a:xfrm>
            <a:off x="6654800" y="2184400"/>
            <a:ext cx="3073400" cy="229870"/>
          </a:xfrm>
          <a:prstGeom prst="rect">
            <a:avLst/>
          </a:prstGeom>
          <a:noFill/>
        </p:spPr>
        <p:txBody>
          <a:bodyPr wrap="square" rtlCol="0" anchor="t">
            <a:spAutoFit/>
          </a:bodyPr>
          <a:p>
            <a:pPr algn="l"/>
            <a:r>
              <a:rPr lang="en-US" sz="900">
                <a:solidFill>
                  <a:srgbClr val="0D1B2A"/>
                </a:solidFill>
              </a:rPr>
              <a:t>~2,400 sends</a:t>
            </a:r>
            <a:endParaRPr lang="en-US" sz="900">
              <a:solidFill>
                <a:srgbClr val="0D1B2A"/>
              </a:solidFill>
            </a:endParaRPr>
          </a:p>
        </p:txBody>
      </p:sp>
      <p:sp>
        <p:nvSpPr>
          <p:cNvPr id="28" name="Text Box 27"/>
          <p:cNvSpPr txBox="1"/>
          <p:nvPr/>
        </p:nvSpPr>
        <p:spPr>
          <a:xfrm>
            <a:off x="9829800" y="2184400"/>
            <a:ext cx="2133600" cy="229870"/>
          </a:xfrm>
          <a:prstGeom prst="rect">
            <a:avLst/>
          </a:prstGeom>
          <a:noFill/>
        </p:spPr>
        <p:txBody>
          <a:bodyPr wrap="square" rtlCol="0" anchor="t">
            <a:spAutoFit/>
          </a:bodyPr>
          <a:p>
            <a:pPr algn="l"/>
            <a:r>
              <a:rPr lang="en-US" sz="900">
                <a:solidFill>
                  <a:srgbClr val="0D1B2A"/>
                </a:solidFill>
              </a:rPr>
              <a:t>~2,400 sends + 8,000+ impressions</a:t>
            </a:r>
            <a:endParaRPr lang="en-US" sz="900">
              <a:solidFill>
                <a:srgbClr val="0D1B2A"/>
              </a:solidFill>
            </a:endParaRPr>
          </a:p>
        </p:txBody>
      </p:sp>
      <p:sp>
        <p:nvSpPr>
          <p:cNvPr id="29" name="Rectangles 28"/>
          <p:cNvSpPr/>
          <p:nvPr/>
        </p:nvSpPr>
        <p:spPr>
          <a:xfrm>
            <a:off x="228600" y="2667000"/>
            <a:ext cx="11734800" cy="5334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0" name="Rectangles 29"/>
          <p:cNvSpPr/>
          <p:nvPr/>
        </p:nvSpPr>
        <p:spPr>
          <a:xfrm>
            <a:off x="228600" y="31877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1" name="Text Box 30"/>
          <p:cNvSpPr txBox="1"/>
          <p:nvPr/>
        </p:nvSpPr>
        <p:spPr>
          <a:xfrm>
            <a:off x="304800" y="2717800"/>
            <a:ext cx="3073400" cy="229870"/>
          </a:xfrm>
          <a:prstGeom prst="rect">
            <a:avLst/>
          </a:prstGeom>
          <a:noFill/>
        </p:spPr>
        <p:txBody>
          <a:bodyPr wrap="square" rtlCol="0" anchor="t">
            <a:spAutoFit/>
          </a:bodyPr>
          <a:p>
            <a:pPr algn="l"/>
            <a:r>
              <a:rPr lang="en-US" sz="900" b="1">
                <a:solidFill>
                  <a:srgbClr val="0D1B2A"/>
                </a:solidFill>
              </a:rPr>
              <a:t>Leads - Month 1</a:t>
            </a:r>
            <a:endParaRPr lang="en-US" sz="900" b="1">
              <a:solidFill>
                <a:srgbClr val="0D1B2A"/>
              </a:solidFill>
            </a:endParaRPr>
          </a:p>
        </p:txBody>
      </p:sp>
      <p:sp>
        <p:nvSpPr>
          <p:cNvPr id="32" name="Text Box 31"/>
          <p:cNvSpPr txBox="1"/>
          <p:nvPr/>
        </p:nvSpPr>
        <p:spPr>
          <a:xfrm>
            <a:off x="3479800" y="2717800"/>
            <a:ext cx="3073400" cy="229870"/>
          </a:xfrm>
          <a:prstGeom prst="rect">
            <a:avLst/>
          </a:prstGeom>
          <a:noFill/>
        </p:spPr>
        <p:txBody>
          <a:bodyPr wrap="square" rtlCol="0" anchor="t">
            <a:spAutoFit/>
          </a:bodyPr>
          <a:p>
            <a:pPr algn="l"/>
            <a:r>
              <a:rPr lang="en-US" sz="900" b="1">
                <a:solidFill>
                  <a:srgbClr val="16A34A"/>
                </a:solidFill>
              </a:rPr>
              <a:t>3-5</a:t>
            </a:r>
            <a:endParaRPr lang="en-US" sz="900" b="1">
              <a:solidFill>
                <a:srgbClr val="16A34A"/>
              </a:solidFill>
            </a:endParaRPr>
          </a:p>
        </p:txBody>
      </p:sp>
      <p:sp>
        <p:nvSpPr>
          <p:cNvPr id="33" name="Text Box 32"/>
          <p:cNvSpPr txBox="1"/>
          <p:nvPr/>
        </p:nvSpPr>
        <p:spPr>
          <a:xfrm>
            <a:off x="6654800" y="2717800"/>
            <a:ext cx="3073400" cy="229870"/>
          </a:xfrm>
          <a:prstGeom prst="rect">
            <a:avLst/>
          </a:prstGeom>
          <a:noFill/>
        </p:spPr>
        <p:txBody>
          <a:bodyPr wrap="square" rtlCol="0" anchor="t">
            <a:spAutoFit/>
          </a:bodyPr>
          <a:p>
            <a:pPr algn="l"/>
            <a:r>
              <a:rPr lang="en-US" sz="900" b="1">
                <a:solidFill>
                  <a:srgbClr val="16A34A"/>
                </a:solidFill>
              </a:rPr>
              <a:t>15-22</a:t>
            </a:r>
            <a:endParaRPr lang="en-US" sz="900" b="1">
              <a:solidFill>
                <a:srgbClr val="16A34A"/>
              </a:solidFill>
            </a:endParaRPr>
          </a:p>
        </p:txBody>
      </p:sp>
      <p:sp>
        <p:nvSpPr>
          <p:cNvPr id="34" name="Text Box 33"/>
          <p:cNvSpPr txBox="1"/>
          <p:nvPr/>
        </p:nvSpPr>
        <p:spPr>
          <a:xfrm>
            <a:off x="9829800" y="2717800"/>
            <a:ext cx="2133600" cy="229870"/>
          </a:xfrm>
          <a:prstGeom prst="rect">
            <a:avLst/>
          </a:prstGeom>
          <a:noFill/>
        </p:spPr>
        <p:txBody>
          <a:bodyPr wrap="square" rtlCol="0" anchor="t">
            <a:spAutoFit/>
          </a:bodyPr>
          <a:p>
            <a:pPr algn="l"/>
            <a:r>
              <a:rPr lang="en-US" sz="900" b="1">
                <a:solidFill>
                  <a:srgbClr val="16A34A"/>
                </a:solidFill>
              </a:rPr>
              <a:t>22-34</a:t>
            </a:r>
            <a:endParaRPr lang="en-US" sz="900" b="1">
              <a:solidFill>
                <a:srgbClr val="16A34A"/>
              </a:solidFill>
            </a:endParaRPr>
          </a:p>
        </p:txBody>
      </p:sp>
      <p:sp>
        <p:nvSpPr>
          <p:cNvPr id="35" name="Rectangles 34"/>
          <p:cNvSpPr/>
          <p:nvPr/>
        </p:nvSpPr>
        <p:spPr>
          <a:xfrm>
            <a:off x="228600" y="3200400"/>
            <a:ext cx="11734800" cy="5334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6" name="Rectangles 35"/>
          <p:cNvSpPr/>
          <p:nvPr/>
        </p:nvSpPr>
        <p:spPr>
          <a:xfrm>
            <a:off x="228600" y="37211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7" name="Text Box 36"/>
          <p:cNvSpPr txBox="1"/>
          <p:nvPr/>
        </p:nvSpPr>
        <p:spPr>
          <a:xfrm>
            <a:off x="304800" y="3251200"/>
            <a:ext cx="3073400" cy="229870"/>
          </a:xfrm>
          <a:prstGeom prst="rect">
            <a:avLst/>
          </a:prstGeom>
          <a:noFill/>
        </p:spPr>
        <p:txBody>
          <a:bodyPr wrap="square" rtlCol="0" anchor="t">
            <a:spAutoFit/>
          </a:bodyPr>
          <a:p>
            <a:pPr algn="l"/>
            <a:r>
              <a:rPr lang="en-US" sz="900" b="1">
                <a:solidFill>
                  <a:srgbClr val="0D1B2A"/>
                </a:solidFill>
              </a:rPr>
              <a:t>Leads - Month 3</a:t>
            </a:r>
            <a:endParaRPr lang="en-US" sz="900" b="1">
              <a:solidFill>
                <a:srgbClr val="0D1B2A"/>
              </a:solidFill>
            </a:endParaRPr>
          </a:p>
        </p:txBody>
      </p:sp>
      <p:sp>
        <p:nvSpPr>
          <p:cNvPr id="38" name="Text Box 37"/>
          <p:cNvSpPr txBox="1"/>
          <p:nvPr/>
        </p:nvSpPr>
        <p:spPr>
          <a:xfrm>
            <a:off x="3479800" y="3251200"/>
            <a:ext cx="3073400" cy="229870"/>
          </a:xfrm>
          <a:prstGeom prst="rect">
            <a:avLst/>
          </a:prstGeom>
          <a:noFill/>
        </p:spPr>
        <p:txBody>
          <a:bodyPr wrap="square" rtlCol="0" anchor="t">
            <a:spAutoFit/>
          </a:bodyPr>
          <a:p>
            <a:pPr algn="l"/>
            <a:r>
              <a:rPr lang="en-US" sz="900" b="1">
                <a:solidFill>
                  <a:srgbClr val="16A34A"/>
                </a:solidFill>
              </a:rPr>
              <a:t>5-8</a:t>
            </a:r>
            <a:endParaRPr lang="en-US" sz="900" b="1">
              <a:solidFill>
                <a:srgbClr val="16A34A"/>
              </a:solidFill>
            </a:endParaRPr>
          </a:p>
        </p:txBody>
      </p:sp>
      <p:sp>
        <p:nvSpPr>
          <p:cNvPr id="39" name="Text Box 38"/>
          <p:cNvSpPr txBox="1"/>
          <p:nvPr/>
        </p:nvSpPr>
        <p:spPr>
          <a:xfrm>
            <a:off x="6654800" y="3251200"/>
            <a:ext cx="3073400" cy="229870"/>
          </a:xfrm>
          <a:prstGeom prst="rect">
            <a:avLst/>
          </a:prstGeom>
          <a:noFill/>
        </p:spPr>
        <p:txBody>
          <a:bodyPr wrap="square" rtlCol="0" anchor="t">
            <a:spAutoFit/>
          </a:bodyPr>
          <a:p>
            <a:pPr algn="l"/>
            <a:r>
              <a:rPr lang="en-US" sz="900" b="1">
                <a:solidFill>
                  <a:srgbClr val="16A34A"/>
                </a:solidFill>
              </a:rPr>
              <a:t>20-30</a:t>
            </a:r>
            <a:endParaRPr lang="en-US" sz="900" b="1">
              <a:solidFill>
                <a:srgbClr val="16A34A"/>
              </a:solidFill>
            </a:endParaRPr>
          </a:p>
        </p:txBody>
      </p:sp>
      <p:sp>
        <p:nvSpPr>
          <p:cNvPr id="40" name="Text Box 39"/>
          <p:cNvSpPr txBox="1"/>
          <p:nvPr/>
        </p:nvSpPr>
        <p:spPr>
          <a:xfrm>
            <a:off x="9829800" y="3251200"/>
            <a:ext cx="2133600" cy="229870"/>
          </a:xfrm>
          <a:prstGeom prst="rect">
            <a:avLst/>
          </a:prstGeom>
          <a:noFill/>
        </p:spPr>
        <p:txBody>
          <a:bodyPr wrap="square" rtlCol="0" anchor="t">
            <a:spAutoFit/>
          </a:bodyPr>
          <a:p>
            <a:pPr algn="l"/>
            <a:r>
              <a:rPr lang="en-US" sz="900" b="1">
                <a:solidFill>
                  <a:srgbClr val="16A34A"/>
                </a:solidFill>
              </a:rPr>
              <a:t>30-40</a:t>
            </a:r>
            <a:endParaRPr lang="en-US" sz="900" b="1">
              <a:solidFill>
                <a:srgbClr val="16A34A"/>
              </a:solidFill>
            </a:endParaRPr>
          </a:p>
        </p:txBody>
      </p:sp>
      <p:sp>
        <p:nvSpPr>
          <p:cNvPr id="41" name="Rectangles 40"/>
          <p:cNvSpPr/>
          <p:nvPr/>
        </p:nvSpPr>
        <p:spPr>
          <a:xfrm>
            <a:off x="228600" y="3733800"/>
            <a:ext cx="11734800" cy="5334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2" name="Rectangles 41"/>
          <p:cNvSpPr/>
          <p:nvPr/>
        </p:nvSpPr>
        <p:spPr>
          <a:xfrm>
            <a:off x="228600" y="42545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3" name="Text Box 42"/>
          <p:cNvSpPr txBox="1"/>
          <p:nvPr/>
        </p:nvSpPr>
        <p:spPr>
          <a:xfrm>
            <a:off x="304800" y="3784600"/>
            <a:ext cx="3073400" cy="229870"/>
          </a:xfrm>
          <a:prstGeom prst="rect">
            <a:avLst/>
          </a:prstGeom>
          <a:noFill/>
        </p:spPr>
        <p:txBody>
          <a:bodyPr wrap="square" rtlCol="0" anchor="t">
            <a:spAutoFit/>
          </a:bodyPr>
          <a:p>
            <a:pPr algn="l"/>
            <a:r>
              <a:rPr lang="en-US" sz="900" b="1">
                <a:solidFill>
                  <a:srgbClr val="0D1B2A"/>
                </a:solidFill>
              </a:rPr>
              <a:t>CPL - Month 1</a:t>
            </a:r>
            <a:endParaRPr lang="en-US" sz="900" b="1">
              <a:solidFill>
                <a:srgbClr val="0D1B2A"/>
              </a:solidFill>
            </a:endParaRPr>
          </a:p>
        </p:txBody>
      </p:sp>
      <p:sp>
        <p:nvSpPr>
          <p:cNvPr id="44" name="Text Box 43"/>
          <p:cNvSpPr txBox="1"/>
          <p:nvPr/>
        </p:nvSpPr>
        <p:spPr>
          <a:xfrm>
            <a:off x="3479800" y="3784600"/>
            <a:ext cx="3073400" cy="229870"/>
          </a:xfrm>
          <a:prstGeom prst="rect">
            <a:avLst/>
          </a:prstGeom>
          <a:noFill/>
        </p:spPr>
        <p:txBody>
          <a:bodyPr wrap="square" rtlCol="0" anchor="t">
            <a:spAutoFit/>
          </a:bodyPr>
          <a:p>
            <a:pPr algn="l"/>
            <a:r>
              <a:rPr lang="en-US" sz="900">
                <a:solidFill>
                  <a:srgbClr val="1A6BB5"/>
                </a:solidFill>
              </a:rPr>
              <a:t>$40-67</a:t>
            </a:r>
            <a:endParaRPr lang="en-US" sz="900">
              <a:solidFill>
                <a:srgbClr val="1A6BB5"/>
              </a:solidFill>
            </a:endParaRPr>
          </a:p>
        </p:txBody>
      </p:sp>
      <p:sp>
        <p:nvSpPr>
          <p:cNvPr id="45" name="Text Box 44"/>
          <p:cNvSpPr txBox="1"/>
          <p:nvPr/>
        </p:nvSpPr>
        <p:spPr>
          <a:xfrm>
            <a:off x="6654800" y="3784600"/>
            <a:ext cx="3073400" cy="229870"/>
          </a:xfrm>
          <a:prstGeom prst="rect">
            <a:avLst/>
          </a:prstGeom>
          <a:noFill/>
        </p:spPr>
        <p:txBody>
          <a:bodyPr wrap="square" rtlCol="0" anchor="t">
            <a:spAutoFit/>
          </a:bodyPr>
          <a:p>
            <a:pPr algn="l"/>
            <a:r>
              <a:rPr lang="en-US" sz="900">
                <a:solidFill>
                  <a:srgbClr val="1A6BB5"/>
                </a:solidFill>
              </a:rPr>
              <a:t>$36-53</a:t>
            </a:r>
            <a:endParaRPr lang="en-US" sz="900">
              <a:solidFill>
                <a:srgbClr val="1A6BB5"/>
              </a:solidFill>
            </a:endParaRPr>
          </a:p>
        </p:txBody>
      </p:sp>
      <p:sp>
        <p:nvSpPr>
          <p:cNvPr id="46" name="Text Box 45"/>
          <p:cNvSpPr txBox="1"/>
          <p:nvPr/>
        </p:nvSpPr>
        <p:spPr>
          <a:xfrm>
            <a:off x="9829800" y="3784600"/>
            <a:ext cx="2133600" cy="229870"/>
          </a:xfrm>
          <a:prstGeom prst="rect">
            <a:avLst/>
          </a:prstGeom>
          <a:noFill/>
        </p:spPr>
        <p:txBody>
          <a:bodyPr wrap="square" rtlCol="0" anchor="t">
            <a:spAutoFit/>
          </a:bodyPr>
          <a:p>
            <a:pPr algn="l"/>
            <a:r>
              <a:rPr lang="en-US" sz="900">
                <a:solidFill>
                  <a:srgbClr val="1A6BB5"/>
                </a:solidFill>
              </a:rPr>
              <a:t>$59-91</a:t>
            </a:r>
            <a:endParaRPr lang="en-US" sz="900">
              <a:solidFill>
                <a:srgbClr val="1A6BB5"/>
              </a:solidFill>
            </a:endParaRPr>
          </a:p>
        </p:txBody>
      </p:sp>
      <p:sp>
        <p:nvSpPr>
          <p:cNvPr id="47" name="Rectangles 46"/>
          <p:cNvSpPr/>
          <p:nvPr/>
        </p:nvSpPr>
        <p:spPr>
          <a:xfrm>
            <a:off x="228600" y="4267200"/>
            <a:ext cx="11734800" cy="533400"/>
          </a:xfrm>
          <a:prstGeom prst="rect">
            <a:avLst/>
          </a:prstGeom>
          <a:solidFill>
            <a:srgbClr val="FFFF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8" name="Rectangles 47"/>
          <p:cNvSpPr/>
          <p:nvPr/>
        </p:nvSpPr>
        <p:spPr>
          <a:xfrm>
            <a:off x="228600" y="47879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9" name="Text Box 48"/>
          <p:cNvSpPr txBox="1"/>
          <p:nvPr/>
        </p:nvSpPr>
        <p:spPr>
          <a:xfrm>
            <a:off x="304800" y="4318000"/>
            <a:ext cx="3073400" cy="229870"/>
          </a:xfrm>
          <a:prstGeom prst="rect">
            <a:avLst/>
          </a:prstGeom>
          <a:noFill/>
        </p:spPr>
        <p:txBody>
          <a:bodyPr wrap="square" rtlCol="0" anchor="t">
            <a:spAutoFit/>
          </a:bodyPr>
          <a:p>
            <a:pPr algn="l"/>
            <a:r>
              <a:rPr lang="en-US" sz="900" b="1">
                <a:solidFill>
                  <a:srgbClr val="0D1B2A"/>
                </a:solidFill>
              </a:rPr>
              <a:t>CPL - Month 3 (optimised)</a:t>
            </a:r>
            <a:endParaRPr lang="en-US" sz="900" b="1">
              <a:solidFill>
                <a:srgbClr val="0D1B2A"/>
              </a:solidFill>
            </a:endParaRPr>
          </a:p>
        </p:txBody>
      </p:sp>
      <p:sp>
        <p:nvSpPr>
          <p:cNvPr id="50" name="Text Box 49"/>
          <p:cNvSpPr txBox="1"/>
          <p:nvPr/>
        </p:nvSpPr>
        <p:spPr>
          <a:xfrm>
            <a:off x="3479800" y="4318000"/>
            <a:ext cx="3073400" cy="229870"/>
          </a:xfrm>
          <a:prstGeom prst="rect">
            <a:avLst/>
          </a:prstGeom>
          <a:noFill/>
        </p:spPr>
        <p:txBody>
          <a:bodyPr wrap="square" rtlCol="0" anchor="t">
            <a:spAutoFit/>
          </a:bodyPr>
          <a:p>
            <a:pPr algn="l"/>
            <a:r>
              <a:rPr lang="en-US" sz="900">
                <a:solidFill>
                  <a:srgbClr val="1A6BB5"/>
                </a:solidFill>
              </a:rPr>
              <a:t>$25-40</a:t>
            </a:r>
            <a:endParaRPr lang="en-US" sz="900">
              <a:solidFill>
                <a:srgbClr val="1A6BB5"/>
              </a:solidFill>
            </a:endParaRPr>
          </a:p>
        </p:txBody>
      </p:sp>
      <p:sp>
        <p:nvSpPr>
          <p:cNvPr id="51" name="Text Box 50"/>
          <p:cNvSpPr txBox="1"/>
          <p:nvPr/>
        </p:nvSpPr>
        <p:spPr>
          <a:xfrm>
            <a:off x="6654800" y="4318000"/>
            <a:ext cx="3073400" cy="229870"/>
          </a:xfrm>
          <a:prstGeom prst="rect">
            <a:avLst/>
          </a:prstGeom>
          <a:noFill/>
        </p:spPr>
        <p:txBody>
          <a:bodyPr wrap="square" rtlCol="0" anchor="t">
            <a:spAutoFit/>
          </a:bodyPr>
          <a:p>
            <a:pPr algn="l"/>
            <a:r>
              <a:rPr lang="en-US" sz="900">
                <a:solidFill>
                  <a:srgbClr val="1A6BB5"/>
                </a:solidFill>
              </a:rPr>
              <a:t>$27-40</a:t>
            </a:r>
            <a:endParaRPr lang="en-US" sz="900">
              <a:solidFill>
                <a:srgbClr val="1A6BB5"/>
              </a:solidFill>
            </a:endParaRPr>
          </a:p>
        </p:txBody>
      </p:sp>
      <p:sp>
        <p:nvSpPr>
          <p:cNvPr id="52" name="Text Box 51"/>
          <p:cNvSpPr txBox="1"/>
          <p:nvPr/>
        </p:nvSpPr>
        <p:spPr>
          <a:xfrm>
            <a:off x="9829800" y="4318000"/>
            <a:ext cx="2133600" cy="229870"/>
          </a:xfrm>
          <a:prstGeom prst="rect">
            <a:avLst/>
          </a:prstGeom>
          <a:noFill/>
        </p:spPr>
        <p:txBody>
          <a:bodyPr wrap="square" rtlCol="0" anchor="t">
            <a:spAutoFit/>
          </a:bodyPr>
          <a:p>
            <a:pPr algn="l"/>
            <a:r>
              <a:rPr lang="en-US" sz="900">
                <a:solidFill>
                  <a:srgbClr val="1A6BB5"/>
                </a:solidFill>
              </a:rPr>
              <a:t>$50-67</a:t>
            </a:r>
            <a:endParaRPr lang="en-US" sz="900">
              <a:solidFill>
                <a:srgbClr val="1A6BB5"/>
              </a:solidFill>
            </a:endParaRPr>
          </a:p>
        </p:txBody>
      </p:sp>
      <p:sp>
        <p:nvSpPr>
          <p:cNvPr id="53" name="Rectangles 52"/>
          <p:cNvSpPr/>
          <p:nvPr/>
        </p:nvSpPr>
        <p:spPr>
          <a:xfrm>
            <a:off x="228600" y="4800600"/>
            <a:ext cx="11734800" cy="533400"/>
          </a:xfrm>
          <a:prstGeom prst="rect">
            <a:avLst/>
          </a:prstGeom>
          <a:solidFill>
            <a:srgbClr val="EBF4FF"/>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4" name="Rectangles 53"/>
          <p:cNvSpPr/>
          <p:nvPr/>
        </p:nvSpPr>
        <p:spPr>
          <a:xfrm>
            <a:off x="228600" y="5321300"/>
            <a:ext cx="117348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55" name="Text Box 54"/>
          <p:cNvSpPr txBox="1"/>
          <p:nvPr/>
        </p:nvSpPr>
        <p:spPr>
          <a:xfrm>
            <a:off x="304800" y="4851400"/>
            <a:ext cx="3073400" cy="229870"/>
          </a:xfrm>
          <a:prstGeom prst="rect">
            <a:avLst/>
          </a:prstGeom>
          <a:noFill/>
        </p:spPr>
        <p:txBody>
          <a:bodyPr wrap="square" rtlCol="0" anchor="t">
            <a:spAutoFit/>
          </a:bodyPr>
          <a:p>
            <a:pPr algn="l"/>
            <a:r>
              <a:rPr lang="en-US" sz="900" b="1">
                <a:solidFill>
                  <a:srgbClr val="0D1B2A"/>
                </a:solidFill>
              </a:rPr>
              <a:t>Best For</a:t>
            </a:r>
            <a:endParaRPr lang="en-US" sz="900" b="1">
              <a:solidFill>
                <a:srgbClr val="0D1B2A"/>
              </a:solidFill>
            </a:endParaRPr>
          </a:p>
        </p:txBody>
      </p:sp>
      <p:sp>
        <p:nvSpPr>
          <p:cNvPr id="56" name="Text Box 55"/>
          <p:cNvSpPr txBox="1"/>
          <p:nvPr/>
        </p:nvSpPr>
        <p:spPr>
          <a:xfrm>
            <a:off x="3479800" y="4851400"/>
            <a:ext cx="3073400" cy="229870"/>
          </a:xfrm>
          <a:prstGeom prst="rect">
            <a:avLst/>
          </a:prstGeom>
          <a:noFill/>
        </p:spPr>
        <p:txBody>
          <a:bodyPr wrap="square" rtlCol="0" anchor="t">
            <a:spAutoFit/>
          </a:bodyPr>
          <a:p>
            <a:pPr algn="l"/>
            <a:r>
              <a:rPr lang="en-US" sz="900">
                <a:solidFill>
                  <a:srgbClr val="0D1B2A"/>
                </a:solidFill>
              </a:rPr>
              <a:t>Proof of concept / first demos</a:t>
            </a:r>
            <a:endParaRPr lang="en-US" sz="900">
              <a:solidFill>
                <a:srgbClr val="0D1B2A"/>
              </a:solidFill>
            </a:endParaRPr>
          </a:p>
        </p:txBody>
      </p:sp>
      <p:sp>
        <p:nvSpPr>
          <p:cNvPr id="57" name="Text Box 56"/>
          <p:cNvSpPr txBox="1"/>
          <p:nvPr/>
        </p:nvSpPr>
        <p:spPr>
          <a:xfrm>
            <a:off x="6654800" y="4851400"/>
            <a:ext cx="3073400" cy="229870"/>
          </a:xfrm>
          <a:prstGeom prst="rect">
            <a:avLst/>
          </a:prstGeom>
          <a:noFill/>
        </p:spPr>
        <p:txBody>
          <a:bodyPr wrap="square" rtlCol="0" anchor="t">
            <a:spAutoFit/>
          </a:bodyPr>
          <a:p>
            <a:pPr algn="l"/>
            <a:r>
              <a:rPr lang="en-US" sz="900">
                <a:solidFill>
                  <a:srgbClr val="0D1B2A"/>
                </a:solidFill>
              </a:rPr>
              <a:t>Pipeline building / message validation</a:t>
            </a:r>
            <a:endParaRPr lang="en-US" sz="900">
              <a:solidFill>
                <a:srgbClr val="0D1B2A"/>
              </a:solidFill>
            </a:endParaRPr>
          </a:p>
        </p:txBody>
      </p:sp>
      <p:sp>
        <p:nvSpPr>
          <p:cNvPr id="58" name="Text Box 57"/>
          <p:cNvSpPr txBox="1"/>
          <p:nvPr/>
        </p:nvSpPr>
        <p:spPr>
          <a:xfrm>
            <a:off x="9829800" y="4851400"/>
            <a:ext cx="2133600" cy="229870"/>
          </a:xfrm>
          <a:prstGeom prst="rect">
            <a:avLst/>
          </a:prstGeom>
          <a:noFill/>
        </p:spPr>
        <p:txBody>
          <a:bodyPr wrap="square" rtlCol="0" anchor="t">
            <a:spAutoFit/>
          </a:bodyPr>
          <a:p>
            <a:pPr algn="l"/>
            <a:r>
              <a:rPr lang="en-US" sz="900">
                <a:solidFill>
                  <a:srgbClr val="0D1B2A"/>
                </a:solidFill>
              </a:rPr>
              <a:t>Scale / when InMail conversions proven</a:t>
            </a:r>
            <a:endParaRPr lang="en-US" sz="900">
              <a:solidFill>
                <a:srgbClr val="0D1B2A"/>
              </a:solidFill>
            </a:endParaRPr>
          </a:p>
        </p:txBody>
      </p:sp>
      <p:sp>
        <p:nvSpPr>
          <p:cNvPr id="59" name="Rectangles 58"/>
          <p:cNvSpPr/>
          <p:nvPr/>
        </p:nvSpPr>
        <p:spPr>
          <a:xfrm>
            <a:off x="228600" y="5359400"/>
            <a:ext cx="11734800" cy="457200"/>
          </a:xfrm>
          <a:prstGeom prst="rect">
            <a:avLst/>
          </a:prstGeom>
          <a:solidFill>
            <a:srgbClr val="F1F5F9"/>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0" name="Rectangles 59"/>
          <p:cNvSpPr/>
          <p:nvPr/>
        </p:nvSpPr>
        <p:spPr>
          <a:xfrm>
            <a:off x="228600" y="5359400"/>
            <a:ext cx="50800" cy="4572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1" name="Text Box 60"/>
          <p:cNvSpPr txBox="1"/>
          <p:nvPr/>
        </p:nvSpPr>
        <p:spPr>
          <a:xfrm>
            <a:off x="355600" y="5435600"/>
            <a:ext cx="11557000" cy="337185"/>
          </a:xfrm>
          <a:prstGeom prst="rect">
            <a:avLst/>
          </a:prstGeom>
          <a:noFill/>
        </p:spPr>
        <p:txBody>
          <a:bodyPr wrap="square" rtlCol="0" anchor="ctr">
            <a:spAutoFit/>
          </a:bodyPr>
          <a:p>
            <a:pPr algn="l"/>
            <a:r>
              <a:rPr lang="en-US" sz="800">
                <a:solidFill>
                  <a:srgbClr val="504614"/>
                </a:solidFill>
              </a:rPr>
              <a:t>Recommendation: Start with $800/month (both InMail segments) to build pipeline and validate messaging. Scale to $2,000 only once demo conversion is confirmed from at least one segment. Do not start with $200 if growth is the goal - it produces too few data points for optimization.</a:t>
            </a:r>
            <a:endParaRPr lang="en-US" sz="800">
              <a:solidFill>
                <a:srgbClr val="50461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84200"/>
          </a:xfrm>
          <a:prstGeom prst="rect">
            <a:avLst/>
          </a:prstGeom>
          <a:solidFill>
            <a:srgbClr val="0D1B2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Rectangles 2"/>
          <p:cNvSpPr/>
          <p:nvPr/>
        </p:nvSpPr>
        <p:spPr>
          <a:xfrm>
            <a:off x="0" y="584200"/>
            <a:ext cx="12192000" cy="25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 name="Text Box 3"/>
          <p:cNvSpPr txBox="1"/>
          <p:nvPr/>
        </p:nvSpPr>
        <p:spPr>
          <a:xfrm>
            <a:off x="254000" y="127000"/>
            <a:ext cx="8636000" cy="306705"/>
          </a:xfrm>
          <a:prstGeom prst="rect">
            <a:avLst/>
          </a:prstGeom>
          <a:noFill/>
        </p:spPr>
        <p:txBody>
          <a:bodyPr wrap="square" rtlCol="0" anchor="ctr">
            <a:spAutoFit/>
          </a:bodyPr>
          <a:p>
            <a:pPr algn="l"/>
            <a:r>
              <a:rPr lang="en-US" sz="1400" b="1">
                <a:solidFill>
                  <a:srgbClr val="FFFFFF"/>
                </a:solidFill>
              </a:rPr>
              <a:t>Final Recommendations</a:t>
            </a:r>
            <a:endParaRPr lang="en-US" sz="1400" b="1">
              <a:solidFill>
                <a:srgbClr val="FFFFFF"/>
              </a:solidFill>
            </a:endParaRPr>
          </a:p>
        </p:txBody>
      </p:sp>
      <p:sp>
        <p:nvSpPr>
          <p:cNvPr id="5" name="Text Box 4"/>
          <p:cNvSpPr txBox="1"/>
          <p:nvPr/>
        </p:nvSpPr>
        <p:spPr>
          <a:xfrm>
            <a:off x="8890000" y="177800"/>
            <a:ext cx="3048000" cy="337185"/>
          </a:xfrm>
          <a:prstGeom prst="rect">
            <a:avLst/>
          </a:prstGeom>
          <a:noFill/>
        </p:spPr>
        <p:txBody>
          <a:bodyPr wrap="square" rtlCol="0" anchor="ctr">
            <a:spAutoFit/>
          </a:bodyPr>
          <a:p>
            <a:pPr algn="r"/>
            <a:r>
              <a:rPr lang="en-US" sz="800">
                <a:solidFill>
                  <a:srgbClr val="A0B4D2"/>
                </a:solidFill>
              </a:rPr>
              <a:t>Priority performance marketing actions - implementation timing is flexible</a:t>
            </a:r>
            <a:endParaRPr lang="en-US" sz="800">
              <a:solidFill>
                <a:srgbClr val="A0B4D2"/>
              </a:solidFill>
            </a:endParaRPr>
          </a:p>
        </p:txBody>
      </p:sp>
      <p:sp>
        <p:nvSpPr>
          <p:cNvPr id="6" name="Rectangles 5"/>
          <p:cNvSpPr/>
          <p:nvPr/>
        </p:nvSpPr>
        <p:spPr>
          <a:xfrm>
            <a:off x="228600" y="711200"/>
            <a:ext cx="5740400" cy="1981200"/>
          </a:xfrm>
          <a:prstGeom prst="rect">
            <a:avLst/>
          </a:prstGeom>
          <a:solidFill>
            <a:srgbClr val="E1F8F8"/>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7" name="Rectangles 6"/>
          <p:cNvSpPr/>
          <p:nvPr/>
        </p:nvSpPr>
        <p:spPr>
          <a:xfrm>
            <a:off x="228600" y="711200"/>
            <a:ext cx="5740400" cy="38100"/>
          </a:xfrm>
          <a:prstGeom prst="rect">
            <a:avLst/>
          </a:prstGeom>
          <a:solidFill>
            <a:srgbClr val="1A8A8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8" name="Rectangles 7"/>
          <p:cNvSpPr/>
          <p:nvPr/>
        </p:nvSpPr>
        <p:spPr>
          <a:xfrm>
            <a:off x="355600" y="812800"/>
            <a:ext cx="381000" cy="279400"/>
          </a:xfrm>
          <a:prstGeom prst="rect">
            <a:avLst/>
          </a:prstGeom>
          <a:solidFill>
            <a:srgbClr val="1A8A8A"/>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9" name="Text Box 8"/>
          <p:cNvSpPr txBox="1"/>
          <p:nvPr/>
        </p:nvSpPr>
        <p:spPr>
          <a:xfrm>
            <a:off x="355600" y="812800"/>
            <a:ext cx="381000" cy="229870"/>
          </a:xfrm>
          <a:prstGeom prst="rect">
            <a:avLst/>
          </a:prstGeom>
          <a:noFill/>
        </p:spPr>
        <p:txBody>
          <a:bodyPr wrap="square" rtlCol="0" anchor="ctr">
            <a:spAutoFit/>
          </a:bodyPr>
          <a:p>
            <a:pPr algn="ctr"/>
            <a:r>
              <a:rPr lang="en-US" sz="900" b="1">
                <a:solidFill>
                  <a:srgbClr val="FFFFFF"/>
                </a:solidFill>
              </a:rPr>
              <a:t>01</a:t>
            </a:r>
            <a:endParaRPr lang="en-US" sz="900" b="1">
              <a:solidFill>
                <a:srgbClr val="FFFFFF"/>
              </a:solidFill>
            </a:endParaRPr>
          </a:p>
        </p:txBody>
      </p:sp>
      <p:sp>
        <p:nvSpPr>
          <p:cNvPr id="10" name="Text Box 9"/>
          <p:cNvSpPr txBox="1"/>
          <p:nvPr/>
        </p:nvSpPr>
        <p:spPr>
          <a:xfrm>
            <a:off x="812800" y="812800"/>
            <a:ext cx="5029200" cy="229870"/>
          </a:xfrm>
          <a:prstGeom prst="rect">
            <a:avLst/>
          </a:prstGeom>
          <a:noFill/>
        </p:spPr>
        <p:txBody>
          <a:bodyPr wrap="square" rtlCol="0" anchor="ctr">
            <a:spAutoFit/>
          </a:bodyPr>
          <a:p>
            <a:pPr algn="l"/>
            <a:r>
              <a:rPr lang="en-US" sz="900" b="1">
                <a:solidFill>
                  <a:srgbClr val="0D1B2A"/>
                </a:solidFill>
              </a:rPr>
              <a:t>PRIORITIZE CREDIT UNION OUTREACH FIRST</a:t>
            </a:r>
            <a:endParaRPr lang="en-US" sz="900" b="1">
              <a:solidFill>
                <a:srgbClr val="0D1B2A"/>
              </a:solidFill>
            </a:endParaRPr>
          </a:p>
        </p:txBody>
      </p:sp>
      <p:sp>
        <p:nvSpPr>
          <p:cNvPr id="11" name="Rectangles 10"/>
          <p:cNvSpPr/>
          <p:nvPr/>
        </p:nvSpPr>
        <p:spPr>
          <a:xfrm>
            <a:off x="355600" y="11176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2" name="Text Box 11"/>
          <p:cNvSpPr txBox="1"/>
          <p:nvPr/>
        </p:nvSpPr>
        <p:spPr>
          <a:xfrm>
            <a:off x="355600" y="1193800"/>
            <a:ext cx="5486400" cy="506730"/>
          </a:xfrm>
          <a:prstGeom prst="rect">
            <a:avLst/>
          </a:prstGeom>
          <a:noFill/>
        </p:spPr>
        <p:txBody>
          <a:bodyPr wrap="square" rtlCol="0" anchor="t">
            <a:spAutoFit/>
          </a:bodyPr>
          <a:p>
            <a:pPr algn="l"/>
            <a:r>
              <a:rPr lang="en-US" sz="900">
                <a:solidFill>
                  <a:srgbClr val="23324B"/>
                </a:solidFill>
              </a:rPr>
              <a:t>Start InMail with the credit union C-suite segment. Fastest decision cycles, strongest mission alignment with CSXAI empathy angle, and lowest CPL in the full channel mix. This is the highest-probability path to a first qualified demo.</a:t>
            </a:r>
            <a:endParaRPr lang="en-US" sz="900">
              <a:solidFill>
                <a:srgbClr val="23324B"/>
              </a:solidFill>
            </a:endParaRPr>
          </a:p>
        </p:txBody>
      </p:sp>
      <p:sp>
        <p:nvSpPr>
          <p:cNvPr id="13" name="Rectangles 12"/>
          <p:cNvSpPr/>
          <p:nvPr/>
        </p:nvSpPr>
        <p:spPr>
          <a:xfrm>
            <a:off x="228600" y="2768600"/>
            <a:ext cx="5740400" cy="1981200"/>
          </a:xfrm>
          <a:prstGeom prst="rect">
            <a:avLst/>
          </a:prstGeom>
          <a:solidFill>
            <a:srgbClr val="FEE2E2"/>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4" name="Rectangles 13"/>
          <p:cNvSpPr/>
          <p:nvPr/>
        </p:nvSpPr>
        <p:spPr>
          <a:xfrm>
            <a:off x="228600" y="2768600"/>
            <a:ext cx="5740400" cy="381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5" name="Rectangles 14"/>
          <p:cNvSpPr/>
          <p:nvPr/>
        </p:nvSpPr>
        <p:spPr>
          <a:xfrm>
            <a:off x="355600" y="2870200"/>
            <a:ext cx="381000" cy="279400"/>
          </a:xfrm>
          <a:prstGeom prst="rect">
            <a:avLst/>
          </a:prstGeom>
          <a:solidFill>
            <a:srgbClr val="DC262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6" name="Text Box 15"/>
          <p:cNvSpPr txBox="1"/>
          <p:nvPr/>
        </p:nvSpPr>
        <p:spPr>
          <a:xfrm>
            <a:off x="355600" y="2870200"/>
            <a:ext cx="381000" cy="229870"/>
          </a:xfrm>
          <a:prstGeom prst="rect">
            <a:avLst/>
          </a:prstGeom>
          <a:noFill/>
        </p:spPr>
        <p:txBody>
          <a:bodyPr wrap="square" rtlCol="0" anchor="ctr">
            <a:spAutoFit/>
          </a:bodyPr>
          <a:p>
            <a:pPr algn="ctr"/>
            <a:r>
              <a:rPr lang="en-US" sz="900" b="1">
                <a:solidFill>
                  <a:srgbClr val="FFFFFF"/>
                </a:solidFill>
              </a:rPr>
              <a:t>02</a:t>
            </a:r>
            <a:endParaRPr lang="en-US" sz="900" b="1">
              <a:solidFill>
                <a:srgbClr val="FFFFFF"/>
              </a:solidFill>
            </a:endParaRPr>
          </a:p>
        </p:txBody>
      </p:sp>
      <p:sp>
        <p:nvSpPr>
          <p:cNvPr id="17" name="Text Box 16"/>
          <p:cNvSpPr txBox="1"/>
          <p:nvPr/>
        </p:nvSpPr>
        <p:spPr>
          <a:xfrm>
            <a:off x="812800" y="2870200"/>
            <a:ext cx="5029200" cy="229870"/>
          </a:xfrm>
          <a:prstGeom prst="rect">
            <a:avLst/>
          </a:prstGeom>
          <a:noFill/>
        </p:spPr>
        <p:txBody>
          <a:bodyPr wrap="square" rtlCol="0" anchor="ctr">
            <a:spAutoFit/>
          </a:bodyPr>
          <a:p>
            <a:pPr algn="l"/>
            <a:r>
              <a:rPr lang="en-US" sz="900" b="1">
                <a:solidFill>
                  <a:srgbClr val="0D1B2A"/>
                </a:solidFill>
              </a:rPr>
              <a:t>INTERCEPT ELTROPY ON GOOGLE WHEN BUDGET ALLOWS</a:t>
            </a:r>
            <a:endParaRPr lang="en-US" sz="900" b="1">
              <a:solidFill>
                <a:srgbClr val="0D1B2A"/>
              </a:solidFill>
            </a:endParaRPr>
          </a:p>
        </p:txBody>
      </p:sp>
      <p:sp>
        <p:nvSpPr>
          <p:cNvPr id="18" name="Rectangles 17"/>
          <p:cNvSpPr/>
          <p:nvPr/>
        </p:nvSpPr>
        <p:spPr>
          <a:xfrm>
            <a:off x="355600" y="31750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19" name="Text Box 18"/>
          <p:cNvSpPr txBox="1"/>
          <p:nvPr/>
        </p:nvSpPr>
        <p:spPr>
          <a:xfrm>
            <a:off x="355600" y="3251200"/>
            <a:ext cx="5486400" cy="506730"/>
          </a:xfrm>
          <a:prstGeom prst="rect">
            <a:avLst/>
          </a:prstGeom>
          <a:noFill/>
        </p:spPr>
        <p:txBody>
          <a:bodyPr wrap="square" rtlCol="0" anchor="t">
            <a:spAutoFit/>
          </a:bodyPr>
          <a:p>
            <a:pPr algn="l"/>
            <a:r>
              <a:rPr lang="en-US" sz="900">
                <a:solidFill>
                  <a:srgbClr val="23324B"/>
                </a:solidFill>
              </a:rPr>
              <a:t>1,900 people research Eltropy monthly and nobody is bidding against them. At $2,000/month, this competitor conquesting campaign delivers the highest expected ROI per dollar in the keyword universe. Low competition index, $5-$35 CPC.</a:t>
            </a:r>
            <a:endParaRPr lang="en-US" sz="900">
              <a:solidFill>
                <a:srgbClr val="23324B"/>
              </a:solidFill>
            </a:endParaRPr>
          </a:p>
        </p:txBody>
      </p:sp>
      <p:sp>
        <p:nvSpPr>
          <p:cNvPr id="20" name="Rectangles 19"/>
          <p:cNvSpPr/>
          <p:nvPr/>
        </p:nvSpPr>
        <p:spPr>
          <a:xfrm>
            <a:off x="228600" y="4826000"/>
            <a:ext cx="5740400" cy="19812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1" name="Rectangles 20"/>
          <p:cNvSpPr/>
          <p:nvPr/>
        </p:nvSpPr>
        <p:spPr>
          <a:xfrm>
            <a:off x="228600" y="4826000"/>
            <a:ext cx="5740400" cy="381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2" name="Rectangles 21"/>
          <p:cNvSpPr/>
          <p:nvPr/>
        </p:nvSpPr>
        <p:spPr>
          <a:xfrm>
            <a:off x="355600" y="4927600"/>
            <a:ext cx="381000" cy="2794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3" name="Text Box 22"/>
          <p:cNvSpPr txBox="1"/>
          <p:nvPr/>
        </p:nvSpPr>
        <p:spPr>
          <a:xfrm>
            <a:off x="355600" y="4927600"/>
            <a:ext cx="381000" cy="229870"/>
          </a:xfrm>
          <a:prstGeom prst="rect">
            <a:avLst/>
          </a:prstGeom>
          <a:noFill/>
        </p:spPr>
        <p:txBody>
          <a:bodyPr wrap="square" rtlCol="0" anchor="ctr">
            <a:spAutoFit/>
          </a:bodyPr>
          <a:p>
            <a:pPr algn="ctr"/>
            <a:r>
              <a:rPr lang="en-US" sz="900" b="1">
                <a:solidFill>
                  <a:srgbClr val="FFFFFF"/>
                </a:solidFill>
              </a:rPr>
              <a:t>03</a:t>
            </a:r>
            <a:endParaRPr lang="en-US" sz="900" b="1">
              <a:solidFill>
                <a:srgbClr val="FFFFFF"/>
              </a:solidFill>
            </a:endParaRPr>
          </a:p>
        </p:txBody>
      </p:sp>
      <p:sp>
        <p:nvSpPr>
          <p:cNvPr id="24" name="Text Box 23"/>
          <p:cNvSpPr txBox="1"/>
          <p:nvPr/>
        </p:nvSpPr>
        <p:spPr>
          <a:xfrm>
            <a:off x="812800" y="4927600"/>
            <a:ext cx="5029200" cy="229870"/>
          </a:xfrm>
          <a:prstGeom prst="rect">
            <a:avLst/>
          </a:prstGeom>
          <a:noFill/>
        </p:spPr>
        <p:txBody>
          <a:bodyPr wrap="square" rtlCol="0" anchor="ctr">
            <a:spAutoFit/>
          </a:bodyPr>
          <a:p>
            <a:pPr algn="l"/>
            <a:r>
              <a:rPr lang="en-US" sz="900" b="1">
                <a:solidFill>
                  <a:srgbClr val="0D1B2A"/>
                </a:solidFill>
              </a:rPr>
              <a:t>LEAD ALL MESSAGING WITH EMPATHY - NOT EFFICIENCY</a:t>
            </a:r>
            <a:endParaRPr lang="en-US" sz="900" b="1">
              <a:solidFill>
                <a:srgbClr val="0D1B2A"/>
              </a:solidFill>
            </a:endParaRPr>
          </a:p>
        </p:txBody>
      </p:sp>
      <p:sp>
        <p:nvSpPr>
          <p:cNvPr id="25" name="Rectangles 24"/>
          <p:cNvSpPr/>
          <p:nvPr/>
        </p:nvSpPr>
        <p:spPr>
          <a:xfrm>
            <a:off x="355600" y="52324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6" name="Text Box 25"/>
          <p:cNvSpPr txBox="1"/>
          <p:nvPr/>
        </p:nvSpPr>
        <p:spPr>
          <a:xfrm>
            <a:off x="355600" y="5308600"/>
            <a:ext cx="5486400" cy="506730"/>
          </a:xfrm>
          <a:prstGeom prst="rect">
            <a:avLst/>
          </a:prstGeom>
          <a:noFill/>
        </p:spPr>
        <p:txBody>
          <a:bodyPr wrap="square" rtlCol="0" anchor="t">
            <a:spAutoFit/>
          </a:bodyPr>
          <a:p>
            <a:pPr algn="l"/>
            <a:r>
              <a:rPr lang="en-US" sz="900">
                <a:solidFill>
                  <a:srgbClr val="23324B"/>
                </a:solidFill>
              </a:rPr>
              <a:t>Every competitor leads with deflection rates and automation volume. CSXAI's differentiation is empathy + compliance. Every InMail subject line, ad headline, and landing page should lead with this. It is genuinely unoccupied territory.</a:t>
            </a:r>
            <a:endParaRPr lang="en-US" sz="900">
              <a:solidFill>
                <a:srgbClr val="23324B"/>
              </a:solidFill>
            </a:endParaRPr>
          </a:p>
        </p:txBody>
      </p:sp>
      <p:sp>
        <p:nvSpPr>
          <p:cNvPr id="27" name="Rectangles 26"/>
          <p:cNvSpPr/>
          <p:nvPr/>
        </p:nvSpPr>
        <p:spPr>
          <a:xfrm>
            <a:off x="6223000" y="711200"/>
            <a:ext cx="5740400" cy="1981200"/>
          </a:xfrm>
          <a:prstGeom prst="rect">
            <a:avLst/>
          </a:prstGeom>
          <a:solidFill>
            <a:srgbClr val="EBF4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8" name="Rectangles 27"/>
          <p:cNvSpPr/>
          <p:nvPr/>
        </p:nvSpPr>
        <p:spPr>
          <a:xfrm>
            <a:off x="6223000" y="711200"/>
            <a:ext cx="5740400" cy="381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29" name="Rectangles 28"/>
          <p:cNvSpPr/>
          <p:nvPr/>
        </p:nvSpPr>
        <p:spPr>
          <a:xfrm>
            <a:off x="6350000" y="812800"/>
            <a:ext cx="381000" cy="279400"/>
          </a:xfrm>
          <a:prstGeom prst="rect">
            <a:avLst/>
          </a:prstGeom>
          <a:solidFill>
            <a:srgbClr val="1A6BB5"/>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0" name="Text Box 29"/>
          <p:cNvSpPr txBox="1"/>
          <p:nvPr/>
        </p:nvSpPr>
        <p:spPr>
          <a:xfrm>
            <a:off x="6350000" y="812800"/>
            <a:ext cx="381000" cy="229870"/>
          </a:xfrm>
          <a:prstGeom prst="rect">
            <a:avLst/>
          </a:prstGeom>
          <a:noFill/>
        </p:spPr>
        <p:txBody>
          <a:bodyPr wrap="square" rtlCol="0" anchor="ctr">
            <a:spAutoFit/>
          </a:bodyPr>
          <a:p>
            <a:pPr algn="ctr"/>
            <a:r>
              <a:rPr lang="en-US" sz="900" b="1">
                <a:solidFill>
                  <a:srgbClr val="FFFFFF"/>
                </a:solidFill>
              </a:rPr>
              <a:t>04</a:t>
            </a:r>
            <a:endParaRPr lang="en-US" sz="900" b="1">
              <a:solidFill>
                <a:srgbClr val="FFFFFF"/>
              </a:solidFill>
            </a:endParaRPr>
          </a:p>
        </p:txBody>
      </p:sp>
      <p:sp>
        <p:nvSpPr>
          <p:cNvPr id="31" name="Text Box 30"/>
          <p:cNvSpPr txBox="1"/>
          <p:nvPr/>
        </p:nvSpPr>
        <p:spPr>
          <a:xfrm>
            <a:off x="6807200" y="812800"/>
            <a:ext cx="5029200" cy="229870"/>
          </a:xfrm>
          <a:prstGeom prst="rect">
            <a:avLst/>
          </a:prstGeom>
          <a:noFill/>
        </p:spPr>
        <p:txBody>
          <a:bodyPr wrap="square" rtlCol="0" anchor="ctr">
            <a:spAutoFit/>
          </a:bodyPr>
          <a:p>
            <a:pPr algn="l"/>
            <a:r>
              <a:rPr lang="en-US" sz="900" b="1">
                <a:solidFill>
                  <a:srgbClr val="0D1B2A"/>
                </a:solidFill>
              </a:rPr>
              <a:t>BUILD THE LEAD MAGNET BEFORE SCALING GOOGLE ADS</a:t>
            </a:r>
            <a:endParaRPr lang="en-US" sz="900" b="1">
              <a:solidFill>
                <a:srgbClr val="0D1B2A"/>
              </a:solidFill>
            </a:endParaRPr>
          </a:p>
        </p:txBody>
      </p:sp>
      <p:sp>
        <p:nvSpPr>
          <p:cNvPr id="32" name="Rectangles 31"/>
          <p:cNvSpPr/>
          <p:nvPr/>
        </p:nvSpPr>
        <p:spPr>
          <a:xfrm>
            <a:off x="6350000" y="11176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3" name="Text Box 32"/>
          <p:cNvSpPr txBox="1"/>
          <p:nvPr/>
        </p:nvSpPr>
        <p:spPr>
          <a:xfrm>
            <a:off x="6350000" y="1193800"/>
            <a:ext cx="5486400" cy="368300"/>
          </a:xfrm>
          <a:prstGeom prst="rect">
            <a:avLst/>
          </a:prstGeom>
          <a:noFill/>
        </p:spPr>
        <p:txBody>
          <a:bodyPr wrap="square" rtlCol="0" anchor="t">
            <a:spAutoFit/>
          </a:bodyPr>
          <a:p>
            <a:pPr algn="l"/>
            <a:r>
              <a:rPr lang="en-US" sz="900">
                <a:solidFill>
                  <a:srgbClr val="23324B"/>
                </a:solidFill>
              </a:rPr>
              <a:t>A downloadable lead magnet (finance or real estate white paper) significantly improves Google Ads conversion rates by offering value at the click stage. Prepare both lead magnets before Google campaigns go live.</a:t>
            </a:r>
            <a:endParaRPr lang="en-US" sz="900">
              <a:solidFill>
                <a:srgbClr val="23324B"/>
              </a:solidFill>
            </a:endParaRPr>
          </a:p>
        </p:txBody>
      </p:sp>
      <p:sp>
        <p:nvSpPr>
          <p:cNvPr id="34" name="Rectangles 33"/>
          <p:cNvSpPr/>
          <p:nvPr/>
        </p:nvSpPr>
        <p:spPr>
          <a:xfrm>
            <a:off x="6223000" y="2768600"/>
            <a:ext cx="5740400" cy="1981200"/>
          </a:xfrm>
          <a:prstGeom prst="rect">
            <a:avLst/>
          </a:prstGeom>
          <a:solidFill>
            <a:srgbClr val="FBF5E6"/>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5" name="Rectangles 34"/>
          <p:cNvSpPr/>
          <p:nvPr/>
        </p:nvSpPr>
        <p:spPr>
          <a:xfrm>
            <a:off x="6223000" y="2768600"/>
            <a:ext cx="5740400" cy="381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6" name="Rectangles 35"/>
          <p:cNvSpPr/>
          <p:nvPr/>
        </p:nvSpPr>
        <p:spPr>
          <a:xfrm>
            <a:off x="6350000" y="2870200"/>
            <a:ext cx="381000" cy="279400"/>
          </a:xfrm>
          <a:prstGeom prst="rect">
            <a:avLst/>
          </a:prstGeom>
          <a:solidFill>
            <a:srgbClr val="D97706"/>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7" name="Text Box 36"/>
          <p:cNvSpPr txBox="1"/>
          <p:nvPr/>
        </p:nvSpPr>
        <p:spPr>
          <a:xfrm>
            <a:off x="6350000" y="2870200"/>
            <a:ext cx="381000" cy="229870"/>
          </a:xfrm>
          <a:prstGeom prst="rect">
            <a:avLst/>
          </a:prstGeom>
          <a:noFill/>
        </p:spPr>
        <p:txBody>
          <a:bodyPr wrap="square" rtlCol="0" anchor="ctr">
            <a:spAutoFit/>
          </a:bodyPr>
          <a:p>
            <a:pPr algn="ctr"/>
            <a:r>
              <a:rPr lang="en-US" sz="900" b="1">
                <a:solidFill>
                  <a:srgbClr val="FFFFFF"/>
                </a:solidFill>
              </a:rPr>
              <a:t>05</a:t>
            </a:r>
            <a:endParaRPr lang="en-US" sz="900" b="1">
              <a:solidFill>
                <a:srgbClr val="FFFFFF"/>
              </a:solidFill>
            </a:endParaRPr>
          </a:p>
        </p:txBody>
      </p:sp>
      <p:sp>
        <p:nvSpPr>
          <p:cNvPr id="38" name="Text Box 37"/>
          <p:cNvSpPr txBox="1"/>
          <p:nvPr/>
        </p:nvSpPr>
        <p:spPr>
          <a:xfrm>
            <a:off x="6807200" y="2870200"/>
            <a:ext cx="5029200" cy="229870"/>
          </a:xfrm>
          <a:prstGeom prst="rect">
            <a:avLst/>
          </a:prstGeom>
          <a:noFill/>
        </p:spPr>
        <p:txBody>
          <a:bodyPr wrap="square" rtlCol="0" anchor="ctr">
            <a:spAutoFit/>
          </a:bodyPr>
          <a:p>
            <a:pPr algn="l"/>
            <a:r>
              <a:rPr lang="en-US" sz="900" b="1">
                <a:solidFill>
                  <a:srgbClr val="0D1B2A"/>
                </a:solidFill>
              </a:rPr>
              <a:t>DO NOT BID ON "REAL ESTATE VIRTUAL ASSISTANT" TERMS</a:t>
            </a:r>
            <a:endParaRPr lang="en-US" sz="900" b="1">
              <a:solidFill>
                <a:srgbClr val="0D1B2A"/>
              </a:solidFill>
            </a:endParaRPr>
          </a:p>
        </p:txBody>
      </p:sp>
      <p:sp>
        <p:nvSpPr>
          <p:cNvPr id="39" name="Rectangles 38"/>
          <p:cNvSpPr/>
          <p:nvPr/>
        </p:nvSpPr>
        <p:spPr>
          <a:xfrm>
            <a:off x="6350000" y="31750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0" name="Text Box 39"/>
          <p:cNvSpPr txBox="1"/>
          <p:nvPr/>
        </p:nvSpPr>
        <p:spPr>
          <a:xfrm>
            <a:off x="6350000" y="3251200"/>
            <a:ext cx="5486400" cy="368300"/>
          </a:xfrm>
          <a:prstGeom prst="rect">
            <a:avLst/>
          </a:prstGeom>
          <a:noFill/>
        </p:spPr>
        <p:txBody>
          <a:bodyPr wrap="square" rtlCol="0" anchor="t">
            <a:spAutoFit/>
          </a:bodyPr>
          <a:p>
            <a:pPr algn="l"/>
            <a:r>
              <a:rPr lang="en-US" sz="900">
                <a:solidFill>
                  <a:srgbClr val="23324B"/>
                </a:solidFill>
              </a:rPr>
              <a:t>1,900/mo of misleading search volume dominated by VA staffing companies. These searches are from individual realtors hiring offshore human VAs - not institutions evaluating AI platforms. Use only AI-specific RE terms.</a:t>
            </a:r>
            <a:endParaRPr lang="en-US" sz="900">
              <a:solidFill>
                <a:srgbClr val="23324B"/>
              </a:solidFill>
            </a:endParaRPr>
          </a:p>
        </p:txBody>
      </p:sp>
      <p:sp>
        <p:nvSpPr>
          <p:cNvPr id="41" name="Rectangles 40"/>
          <p:cNvSpPr/>
          <p:nvPr/>
        </p:nvSpPr>
        <p:spPr>
          <a:xfrm>
            <a:off x="6223000" y="4826000"/>
            <a:ext cx="5740400" cy="1981200"/>
          </a:xfrm>
          <a:prstGeom prst="rect">
            <a:avLst/>
          </a:prstGeom>
          <a:solidFill>
            <a:srgbClr val="F0EDFF"/>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2" name="Rectangles 41"/>
          <p:cNvSpPr/>
          <p:nvPr/>
        </p:nvSpPr>
        <p:spPr>
          <a:xfrm>
            <a:off x="6223000" y="4826000"/>
            <a:ext cx="5740400" cy="38100"/>
          </a:xfrm>
          <a:prstGeom prst="rect">
            <a:avLst/>
          </a:prstGeom>
          <a:solidFill>
            <a:srgbClr val="7C3AED"/>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3" name="Rectangles 42"/>
          <p:cNvSpPr/>
          <p:nvPr/>
        </p:nvSpPr>
        <p:spPr>
          <a:xfrm>
            <a:off x="6350000" y="4927600"/>
            <a:ext cx="381000" cy="279400"/>
          </a:xfrm>
          <a:prstGeom prst="rect">
            <a:avLst/>
          </a:prstGeom>
          <a:solidFill>
            <a:srgbClr val="7C3AED"/>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4" name="Text Box 43"/>
          <p:cNvSpPr txBox="1"/>
          <p:nvPr/>
        </p:nvSpPr>
        <p:spPr>
          <a:xfrm>
            <a:off x="6350000" y="4927600"/>
            <a:ext cx="381000" cy="229870"/>
          </a:xfrm>
          <a:prstGeom prst="rect">
            <a:avLst/>
          </a:prstGeom>
          <a:noFill/>
        </p:spPr>
        <p:txBody>
          <a:bodyPr wrap="square" rtlCol="0" anchor="ctr">
            <a:spAutoFit/>
          </a:bodyPr>
          <a:p>
            <a:pPr algn="ctr"/>
            <a:r>
              <a:rPr lang="en-US" sz="900" b="1">
                <a:solidFill>
                  <a:srgbClr val="FFFFFF"/>
                </a:solidFill>
              </a:rPr>
              <a:t>06</a:t>
            </a:r>
            <a:endParaRPr lang="en-US" sz="900" b="1">
              <a:solidFill>
                <a:srgbClr val="FFFFFF"/>
              </a:solidFill>
            </a:endParaRPr>
          </a:p>
        </p:txBody>
      </p:sp>
      <p:sp>
        <p:nvSpPr>
          <p:cNvPr id="45" name="Text Box 44"/>
          <p:cNvSpPr txBox="1"/>
          <p:nvPr/>
        </p:nvSpPr>
        <p:spPr>
          <a:xfrm>
            <a:off x="6807200" y="4927600"/>
            <a:ext cx="5029200" cy="229870"/>
          </a:xfrm>
          <a:prstGeom prst="rect">
            <a:avLst/>
          </a:prstGeom>
          <a:noFill/>
        </p:spPr>
        <p:txBody>
          <a:bodyPr wrap="square" rtlCol="0" anchor="ctr">
            <a:spAutoFit/>
          </a:bodyPr>
          <a:p>
            <a:pPr algn="l"/>
            <a:r>
              <a:rPr lang="en-US" sz="900" b="1">
                <a:solidFill>
                  <a:srgbClr val="0D1B2A"/>
                </a:solidFill>
              </a:rPr>
              <a:t>REVIEW INMAIL COPY AT DAY 15 - NOT DAY 30</a:t>
            </a:r>
            <a:endParaRPr lang="en-US" sz="900" b="1">
              <a:solidFill>
                <a:srgbClr val="0D1B2A"/>
              </a:solidFill>
            </a:endParaRPr>
          </a:p>
        </p:txBody>
      </p:sp>
      <p:sp>
        <p:nvSpPr>
          <p:cNvPr id="46" name="Rectangles 45"/>
          <p:cNvSpPr/>
          <p:nvPr/>
        </p:nvSpPr>
        <p:spPr>
          <a:xfrm>
            <a:off x="6350000" y="5232400"/>
            <a:ext cx="5486400" cy="12700"/>
          </a:xfrm>
          <a:prstGeom prst="rect">
            <a:avLst/>
          </a:prstGeom>
          <a:solidFill>
            <a:srgbClr val="E2E8F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47" name="Text Box 46"/>
          <p:cNvSpPr txBox="1"/>
          <p:nvPr/>
        </p:nvSpPr>
        <p:spPr>
          <a:xfrm>
            <a:off x="6350000" y="5308600"/>
            <a:ext cx="5486400" cy="368300"/>
          </a:xfrm>
          <a:prstGeom prst="rect">
            <a:avLst/>
          </a:prstGeom>
          <a:noFill/>
        </p:spPr>
        <p:txBody>
          <a:bodyPr wrap="square" rtlCol="0" anchor="t">
            <a:spAutoFit/>
          </a:bodyPr>
          <a:p>
            <a:pPr algn="l"/>
            <a:r>
              <a:rPr lang="en-US" sz="900">
                <a:solidFill>
                  <a:srgbClr val="23324B"/>
                </a:solidFill>
              </a:rPr>
              <a:t>Check open-to-reply conversion rate. If reply rate is below 4%, test a different subject line or opening sentence. InMail performance is highly sensitive to the first 2 lines. Iterate fast - 30 days is too long to wait.</a:t>
            </a:r>
            <a:endParaRPr lang="en-US" sz="900">
              <a:solidFill>
                <a:srgbClr val="23324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2192000" cy="50800"/>
          </a:xfrm>
          <a:prstGeom prst="rect">
            <a:avLst/>
          </a:prstGeom>
          <a:solidFill>
            <a:srgbClr val="C9A840"/>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 Box 2"/>
          <p:cNvSpPr txBox="1"/>
          <p:nvPr/>
        </p:nvSpPr>
        <p:spPr>
          <a:xfrm>
            <a:off x="1270000" y="1778000"/>
            <a:ext cx="9652000" cy="891540"/>
          </a:xfrm>
          <a:prstGeom prst="rect">
            <a:avLst/>
          </a:prstGeom>
          <a:noFill/>
        </p:spPr>
        <p:txBody>
          <a:bodyPr wrap="square" rtlCol="0" anchor="ctr">
            <a:spAutoFit/>
          </a:bodyPr>
          <a:p>
            <a:pPr algn="ctr"/>
            <a:r>
              <a:rPr lang="en-US" sz="5200" b="1">
                <a:solidFill>
                  <a:srgbClr val="FFFFFF"/>
                </a:solidFill>
              </a:rPr>
              <a:t>Thank You</a:t>
            </a:r>
            <a:endParaRPr lang="en-US" sz="5200" b="1">
              <a:solidFill>
                <a:srgbClr val="FFFFFF"/>
              </a:solidFill>
            </a:endParaRPr>
          </a:p>
        </p:txBody>
      </p:sp>
      <p:sp>
        <p:nvSpPr>
          <p:cNvPr id="4" name="Text Box 3"/>
          <p:cNvSpPr txBox="1"/>
          <p:nvPr/>
        </p:nvSpPr>
        <p:spPr>
          <a:xfrm>
            <a:off x="1270000" y="2921000"/>
            <a:ext cx="9652000" cy="337185"/>
          </a:xfrm>
          <a:prstGeom prst="rect">
            <a:avLst/>
          </a:prstGeom>
          <a:noFill/>
        </p:spPr>
        <p:txBody>
          <a:bodyPr wrap="square" rtlCol="0" anchor="ctr">
            <a:spAutoFit/>
          </a:bodyPr>
          <a:p>
            <a:pPr algn="ctr"/>
            <a:r>
              <a:rPr lang="en-US" sz="1600">
                <a:solidFill>
                  <a:srgbClr val="C9A840"/>
                </a:solidFill>
              </a:rPr>
              <a:t>Questions, feedback, and next steps</a:t>
            </a:r>
            <a:endParaRPr lang="en-US" sz="1600">
              <a:solidFill>
                <a:srgbClr val="C9A840"/>
              </a:solidFill>
            </a:endParaRPr>
          </a:p>
        </p:txBody>
      </p:sp>
      <p:sp>
        <p:nvSpPr>
          <p:cNvPr id="5" name="Rectangles 4"/>
          <p:cNvSpPr/>
          <p:nvPr/>
        </p:nvSpPr>
        <p:spPr>
          <a:xfrm>
            <a:off x="4445000" y="3429000"/>
            <a:ext cx="3302000" cy="25400"/>
          </a:xfrm>
          <a:prstGeom prst="rect">
            <a:avLst/>
          </a:prstGeom>
          <a:solidFill>
            <a:srgbClr val="3C506E"/>
          </a:solidFill>
          <a:ln w="12700" cap="flat" cmpd="sng" algn="ctr">
            <a:noFill/>
            <a:prstDash val="solid"/>
            <a:miter lim="800000"/>
          </a:ln>
          <a:extLst>
            <a:ext uri="{91240B29-F687-4F45-9708-019B960494DF}">
              <a14:hiddenLine xmlns:a14="http://schemas.microsoft.com/office/drawing/2010/main" w="12700" cap="flat" cmpd="sng" algn="ctr">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6" name="Text Box 5"/>
          <p:cNvSpPr txBox="1"/>
          <p:nvPr/>
        </p:nvSpPr>
        <p:spPr>
          <a:xfrm>
            <a:off x="1270000" y="3632200"/>
            <a:ext cx="9652000" cy="275590"/>
          </a:xfrm>
          <a:prstGeom prst="rect">
            <a:avLst/>
          </a:prstGeom>
          <a:noFill/>
        </p:spPr>
        <p:txBody>
          <a:bodyPr wrap="square" rtlCol="0" anchor="ctr">
            <a:spAutoFit/>
          </a:bodyPr>
          <a:p>
            <a:pPr algn="ctr"/>
            <a:r>
              <a:rPr lang="en-US" sz="1200">
                <a:solidFill>
                  <a:srgbClr val="C8D7EB"/>
                </a:solidFill>
              </a:rPr>
              <a:t>Rishabh B  |  rishabhb@damcogroup.com</a:t>
            </a:r>
            <a:endParaRPr lang="en-US" sz="1200">
              <a:solidFill>
                <a:srgbClr val="C8D7EB"/>
              </a:solidFill>
            </a:endParaRPr>
          </a:p>
        </p:txBody>
      </p:sp>
      <p:sp>
        <p:nvSpPr>
          <p:cNvPr id="7" name="Text Box 6"/>
          <p:cNvSpPr txBox="1"/>
          <p:nvPr/>
        </p:nvSpPr>
        <p:spPr>
          <a:xfrm>
            <a:off x="1270000" y="4013200"/>
            <a:ext cx="9652000" cy="245110"/>
          </a:xfrm>
          <a:prstGeom prst="rect">
            <a:avLst/>
          </a:prstGeom>
          <a:noFill/>
        </p:spPr>
        <p:txBody>
          <a:bodyPr wrap="square" rtlCol="0" anchor="ctr">
            <a:spAutoFit/>
          </a:bodyPr>
          <a:p>
            <a:pPr algn="ctr"/>
            <a:r>
              <a:rPr lang="en-US" sz="1000">
                <a:solidFill>
                  <a:srgbClr val="96AAC8"/>
                </a:solidFill>
              </a:rPr>
              <a:t>Damco Digital  -  Paid Ads &amp; Account Management</a:t>
            </a:r>
            <a:endParaRPr lang="en-US" sz="1000">
              <a:solidFill>
                <a:srgbClr val="96AAC8"/>
              </a:solidFill>
            </a:endParaRPr>
          </a:p>
        </p:txBody>
      </p:sp>
      <p:sp>
        <p:nvSpPr>
          <p:cNvPr id="8" name="Rectangles 7"/>
          <p:cNvSpPr/>
          <p:nvPr/>
        </p:nvSpPr>
        <p:spPr>
          <a:xfrm>
            <a:off x="2540000" y="4572000"/>
            <a:ext cx="7112000" cy="1143000"/>
          </a:xfrm>
          <a:prstGeom prst="rect">
            <a:avLst/>
          </a:prstGeom>
          <a:solidFill>
            <a:srgbClr val="12223A"/>
          </a:solidFill>
          <a:ln w="1270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9" name="Text Box 8"/>
          <p:cNvSpPr txBox="1"/>
          <p:nvPr/>
        </p:nvSpPr>
        <p:spPr>
          <a:xfrm>
            <a:off x="2667000" y="4673600"/>
            <a:ext cx="6858000" cy="213995"/>
          </a:xfrm>
          <a:prstGeom prst="rect">
            <a:avLst/>
          </a:prstGeom>
          <a:noFill/>
        </p:spPr>
        <p:txBody>
          <a:bodyPr wrap="square" rtlCol="0" anchor="ctr">
            <a:spAutoFit/>
          </a:bodyPr>
          <a:p>
            <a:pPr algn="ctr"/>
            <a:r>
              <a:rPr lang="en-US" sz="800" b="1">
                <a:solidFill>
                  <a:srgbClr val="6482AA"/>
                </a:solidFill>
              </a:rPr>
              <a:t>DATA SOURCES</a:t>
            </a:r>
            <a:endParaRPr lang="en-US" sz="800" b="1">
              <a:solidFill>
                <a:srgbClr val="6482AA"/>
              </a:solidFill>
            </a:endParaRPr>
          </a:p>
        </p:txBody>
      </p:sp>
      <p:sp>
        <p:nvSpPr>
          <p:cNvPr id="10" name="Text Box 9"/>
          <p:cNvSpPr txBox="1"/>
          <p:nvPr/>
        </p:nvSpPr>
        <p:spPr>
          <a:xfrm>
            <a:off x="2667000" y="4927600"/>
            <a:ext cx="6858000" cy="337185"/>
          </a:xfrm>
          <a:prstGeom prst="rect">
            <a:avLst/>
          </a:prstGeom>
          <a:noFill/>
        </p:spPr>
        <p:txBody>
          <a:bodyPr wrap="square" rtlCol="0" anchor="t">
            <a:spAutoFit/>
          </a:bodyPr>
          <a:p>
            <a:pPr algn="ctr"/>
            <a:r>
              <a:rPr lang="en-US" sz="800">
                <a:solidFill>
                  <a:srgbClr val="A0B4D2"/>
                </a:solidFill>
              </a:rPr>
              <a:t>Google Keyword Planner (May 2026) / SimilarWeb traffic analysis / FDIC 2025 / NCUA 2025 / LinkedIn targeting documentation / Competitor website, LinkedIn &amp; ad channel analysis / B2B SaaS platform benchmarks 2026</a:t>
            </a:r>
            <a:endParaRPr lang="en-US" sz="800">
              <a:solidFill>
                <a:srgbClr val="A0B4D2"/>
              </a:solidFill>
            </a:endParaRPr>
          </a:p>
        </p:txBody>
      </p:sp>
      <p:sp>
        <p:nvSpPr>
          <p:cNvPr id="11" name="Text Box 10"/>
          <p:cNvSpPr txBox="1"/>
          <p:nvPr/>
        </p:nvSpPr>
        <p:spPr>
          <a:xfrm>
            <a:off x="1270000" y="5867400"/>
            <a:ext cx="9652000" cy="229870"/>
          </a:xfrm>
          <a:prstGeom prst="rect">
            <a:avLst/>
          </a:prstGeom>
          <a:noFill/>
        </p:spPr>
        <p:txBody>
          <a:bodyPr wrap="square" rtlCol="0" anchor="ctr">
            <a:spAutoFit/>
          </a:bodyPr>
          <a:p>
            <a:pPr algn="ctr"/>
            <a:r>
              <a:rPr lang="en-US" sz="900">
                <a:solidFill>
                  <a:srgbClr val="506482"/>
                </a:solidFill>
              </a:rPr>
              <a:t>27 May 2026  |  Confidential  |  Prepared for CSX Intelligence</a:t>
            </a:r>
            <a:endParaRPr lang="en-US" sz="900">
              <a:solidFill>
                <a:srgbClr val="50648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14539</Words>
  <Application>WPS Presentation</Application>
  <PresentationFormat>Widescreen</PresentationFormat>
  <Paragraphs>720</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SimSun</vt:lpstr>
      <vt:lpstr>Wingdings</vt:lpstr>
      <vt:lpstr>Arial Unicode MS</vt:lpstr>
      <vt:lpstr>Microsoft YaHei</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Rishabhb</dc:creator>
  <cp:lastModifiedBy>Rishabhb</cp:lastModifiedBy>
  <cp:revision>1</cp:revision>
  <dcterms:created xsi:type="dcterms:W3CDTF">2026-05-28T07:00:28Z</dcterms:created>
  <dcterms:modified xsi:type="dcterms:W3CDTF">2026-05-28T07:00:29Z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1033-11.2.0.10017</vt:lpwstr>
  </property>
</Properties>
</file>