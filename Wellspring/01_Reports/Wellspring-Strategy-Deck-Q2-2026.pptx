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8" r:id="rId19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43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937760"/>
            <a:ext cx="11274552" cy="18288"/>
          </a:xfrm>
          <a:prstGeom prst="rect">
            <a:avLst/>
          </a:prstGeom>
          <a:solidFill>
            <a:srgbClr val="443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87C8"/>
                </a:solidFill>
                <a:latin typeface="Poppins"/>
              </a:rPr>
              <a:t>DAMCO DIGITAL  .  WELLSPRING THERAPEUTIC PARTNERS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Poppins"/>
              </a:rPr>
              <a:t>Wellspring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C7C4F8"/>
                </a:solidFill>
                <a:latin typeface="Poppins"/>
              </a:rPr>
              <a:t>Q2 Review &amp; Q3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43DCB"/>
                </a:solidFill>
                <a:latin typeface="Poppins"/>
              </a:rPr>
              <a:t>APRIL - JUNE 2026  .  Q2 REVIEW AND Q3 GROWTH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5A3E0"/>
                </a:solidFill>
                <a:latin typeface="Poppins"/>
              </a:rPr>
              <a:t>The full system. Ten moves. Every stage of the patient journey.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A67A8"/>
                </a:solidFill>
                <a:latin typeface="Poppins"/>
              </a:rPr>
              <a:t>PREPARED FOR WELLSPRING THERAPEUTIC PARTNERS  .  CONFIDENTIAL  .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7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620256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5B7A"/>
                </a:solidFill>
                <a:latin typeface="Calibri"/>
              </a:rPr>
              <a:t>Damco Digital  .  Wellspring Therapeutic Partners  .  Q2 2026  .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6202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443DCB"/>
                </a:solidFill>
                <a:latin typeface="Poppins"/>
              </a:rPr>
              <a:t>02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43DCB"/>
                </a:solidFill>
                <a:latin typeface="Poppins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E1B4B"/>
                </a:solidFill>
                <a:latin typeface="Poppins"/>
              </a:rPr>
              <a:t>Ten moves,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502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443DCB"/>
                </a:solidFill>
                <a:latin typeface="Poppins"/>
              </a:rPr>
              <a:t>one connected strategy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98448"/>
            <a:ext cx="11247120" cy="18288"/>
          </a:xfrm>
          <a:prstGeom prst="rect">
            <a:avLst/>
          </a:prstGeom>
          <a:solidFill>
            <a:srgbClr val="D0C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44752"/>
            <a:ext cx="365760" cy="365760"/>
          </a:xfrm>
          <a:prstGeom prst="rect">
            <a:avLst/>
          </a:prstGeom>
          <a:solidFill>
            <a:srgbClr val="443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8132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oppins"/>
              </a:rPr>
              <a:t>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44475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1B4B"/>
                </a:solidFill>
                <a:latin typeface="Poppins"/>
              </a:rPr>
              <a:t>Where are we headed?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66420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5B7A"/>
                </a:solidFill>
                <a:latin typeface="Calibri"/>
              </a:rPr>
              <a:t>The Q2 objectives and what this deck sets out to do.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847088"/>
            <a:ext cx="11247120" cy="13716"/>
          </a:xfrm>
          <a:prstGeom prst="rect">
            <a:avLst/>
          </a:prstGeom>
          <a:solidFill>
            <a:srgbClr val="D0C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920240"/>
            <a:ext cx="365760" cy="365760"/>
          </a:xfrm>
          <a:prstGeom prst="rect">
            <a:avLst/>
          </a:prstGeom>
          <a:solidFill>
            <a:srgbClr val="443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95681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19202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1B4B"/>
                </a:solidFill>
                <a:latin typeface="Poppins"/>
              </a:rPr>
              <a:t>Strategy in a nutshell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13969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5B7A"/>
                </a:solidFill>
                <a:latin typeface="Calibri"/>
              </a:rPr>
              <a:t>Q2 results and the three decisions that shape Q3.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322576"/>
            <a:ext cx="11247120" cy="13716"/>
          </a:xfrm>
          <a:prstGeom prst="rect">
            <a:avLst/>
          </a:prstGeom>
          <a:solidFill>
            <a:srgbClr val="D0C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395728"/>
            <a:ext cx="365760" cy="365760"/>
          </a:xfrm>
          <a:prstGeom prst="rect">
            <a:avLst/>
          </a:prstGeom>
          <a:solidFill>
            <a:srgbClr val="443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43230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oppin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239572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1B4B"/>
                </a:solidFill>
                <a:latin typeface="Poppins"/>
              </a:rPr>
              <a:t>What makes Wellspring different?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2615184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5B7A"/>
                </a:solidFill>
                <a:latin typeface="Calibri"/>
              </a:rPr>
              <a:t>The gap no competitor in Southeast Michigan has filled.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798064"/>
            <a:ext cx="11247120" cy="13716"/>
          </a:xfrm>
          <a:prstGeom prst="rect">
            <a:avLst/>
          </a:prstGeom>
          <a:solidFill>
            <a:srgbClr val="D0C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2871216"/>
            <a:ext cx="365760" cy="365760"/>
          </a:xfrm>
          <a:prstGeom prst="rect">
            <a:avLst/>
          </a:prstGeom>
          <a:solidFill>
            <a:srgbClr val="443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90779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oppins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287121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1B4B"/>
                </a:solidFill>
                <a:latin typeface="Poppins"/>
              </a:rPr>
              <a:t>Positioning statement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090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5B7A"/>
                </a:solidFill>
                <a:latin typeface="Calibri"/>
              </a:rPr>
              <a:t>Who we are for, what we offer, why patients choose us.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273552"/>
            <a:ext cx="11247120" cy="13716"/>
          </a:xfrm>
          <a:prstGeom prst="rect">
            <a:avLst/>
          </a:prstGeom>
          <a:solidFill>
            <a:srgbClr val="D0C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3346704"/>
            <a:ext cx="365760" cy="365760"/>
          </a:xfrm>
          <a:prstGeom prst="rect">
            <a:avLst/>
          </a:prstGeom>
          <a:solidFill>
            <a:srgbClr val="443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3832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oppins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334670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1B4B"/>
                </a:solidFill>
                <a:latin typeface="Poppins"/>
              </a:rPr>
              <a:t>Channel mix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356616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5B7A"/>
                </a:solidFill>
                <a:latin typeface="Calibri"/>
              </a:rPr>
              <a:t>Paid, SEO, and Social working as one connected system.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749040"/>
            <a:ext cx="11247120" cy="13716"/>
          </a:xfrm>
          <a:prstGeom prst="rect">
            <a:avLst/>
          </a:prstGeom>
          <a:solidFill>
            <a:srgbClr val="D0C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3822192"/>
            <a:ext cx="365760" cy="365760"/>
          </a:xfrm>
          <a:prstGeom prst="rect">
            <a:avLst/>
          </a:prstGeom>
          <a:solidFill>
            <a:srgbClr val="443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38587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oppins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382219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1B4B"/>
                </a:solidFill>
                <a:latin typeface="Poppins"/>
              </a:rPr>
              <a:t>The audience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404164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5B7A"/>
                </a:solidFill>
                <a:latin typeface="Calibri"/>
              </a:rPr>
              <a:t>Who reaches out, what they need, and why they don't book.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224528"/>
            <a:ext cx="11247120" cy="13716"/>
          </a:xfrm>
          <a:prstGeom prst="rect">
            <a:avLst/>
          </a:prstGeom>
          <a:solidFill>
            <a:srgbClr val="D0C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4297680"/>
            <a:ext cx="365760" cy="365760"/>
          </a:xfrm>
          <a:prstGeom prst="rect">
            <a:avLst/>
          </a:prstGeom>
          <a:solidFill>
            <a:srgbClr val="443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433425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oppins"/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" y="429768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1B4B"/>
                </a:solidFill>
                <a:latin typeface="Poppins"/>
              </a:rPr>
              <a:t>Content strategy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" y="4517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5B7A"/>
                </a:solidFill>
                <a:latin typeface="Calibri"/>
              </a:rPr>
              <a:t>Instagram, AEO content, and SEO clusters working together.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700016"/>
            <a:ext cx="11247120" cy="13716"/>
          </a:xfrm>
          <a:prstGeom prst="rect">
            <a:avLst/>
          </a:prstGeom>
          <a:solidFill>
            <a:srgbClr val="D0C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" y="4773168"/>
            <a:ext cx="365760" cy="365760"/>
          </a:xfrm>
          <a:prstGeom prst="rect">
            <a:avLst/>
          </a:prstGeom>
          <a:solidFill>
            <a:srgbClr val="443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480974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oppins"/>
              </a:rPr>
              <a:t>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" y="477316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1B4B"/>
                </a:solidFill>
                <a:latin typeface="Poppins"/>
              </a:rPr>
              <a:t>SEO and AEO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" y="4992624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5B7A"/>
                </a:solidFill>
                <a:latin typeface="Calibri"/>
              </a:rPr>
              <a:t>Organic rankings and visibility in AI search.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175504"/>
            <a:ext cx="11247120" cy="13716"/>
          </a:xfrm>
          <a:prstGeom prst="rect">
            <a:avLst/>
          </a:prstGeom>
          <a:solidFill>
            <a:srgbClr val="D0C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57200" y="5248656"/>
            <a:ext cx="365760" cy="365760"/>
          </a:xfrm>
          <a:prstGeom prst="rect">
            <a:avLst/>
          </a:prstGeom>
          <a:solidFill>
            <a:srgbClr val="443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528523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oppins"/>
              </a:rPr>
              <a:t>08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" y="524865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1B4B"/>
                </a:solidFill>
                <a:latin typeface="Poppins"/>
              </a:rPr>
              <a:t>Paid media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" y="546811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5B7A"/>
                </a:solidFill>
                <a:latin typeface="Calibri"/>
              </a:rPr>
              <a:t>The campaigns that drive consultation bookings.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5650992"/>
            <a:ext cx="11247120" cy="13716"/>
          </a:xfrm>
          <a:prstGeom prst="rect">
            <a:avLst/>
          </a:prstGeom>
          <a:solidFill>
            <a:srgbClr val="D0C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7200" y="5724144"/>
            <a:ext cx="365760" cy="365760"/>
          </a:xfrm>
          <a:prstGeom prst="rect">
            <a:avLst/>
          </a:prstGeom>
          <a:solidFill>
            <a:srgbClr val="443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57607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oppins"/>
              </a:rPr>
              <a:t>09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0120" y="572414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1B4B"/>
                </a:solidFill>
                <a:latin typeface="Poppins"/>
              </a:rPr>
              <a:t>Measurements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0120" y="594360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5B7A"/>
                </a:solidFill>
                <a:latin typeface="Calibri"/>
              </a:rPr>
              <a:t>Q3 KPIs and what success looks like by September.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7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620256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5B7A"/>
                </a:solidFill>
                <a:latin typeface="Calibri"/>
              </a:rPr>
              <a:t>Damco Digital  .  Wellspring Therapeutic Partners  .  Q2 2026  .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6202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443DCB"/>
                </a:solidFill>
                <a:latin typeface="Poppins"/>
              </a:rPr>
              <a:t>03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56032"/>
            <a:ext cx="365760" cy="365760"/>
          </a:xfrm>
          <a:prstGeom prst="rect">
            <a:avLst/>
          </a:prstGeom>
          <a:solidFill>
            <a:srgbClr val="443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oppins"/>
              </a:rPr>
              <a:t>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9260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43DCB"/>
                </a:solidFill>
                <a:latin typeface="Poppins"/>
              </a:rPr>
              <a:t>WHERE ARE WE HEADED?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1B4B"/>
                </a:solidFill>
                <a:latin typeface="Poppins"/>
              </a:rPr>
              <a:t>The Q2 commitment and
what this deck covers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64208"/>
            <a:ext cx="11247120" cy="18288"/>
          </a:xfrm>
          <a:prstGeom prst="rect">
            <a:avLst/>
          </a:prstGeom>
          <a:solidFill>
            <a:srgbClr val="D0C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356616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C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3566160" cy="54864"/>
          </a:xfrm>
          <a:prstGeom prst="rect">
            <a:avLst/>
          </a:prstGeom>
          <a:solidFill>
            <a:srgbClr val="443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956816"/>
            <a:ext cx="3236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43DCB"/>
                </a:solidFill>
                <a:latin typeface="Poppins"/>
              </a:rPr>
              <a:t>PRIMARY OBJECTIVE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212848"/>
            <a:ext cx="3236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1B4B"/>
                </a:solidFill>
                <a:latin typeface="Poppins"/>
              </a:rPr>
              <a:t>Scale qualified lead volume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724912"/>
            <a:ext cx="323697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5B7A"/>
                </a:solidFill>
                <a:latin typeface="Calibri"/>
              </a:rPr>
              <a:t>Grow the number of high-intent patients reaching Wellspring each week without sacrificing lead quality. Volume with purpose.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24528" y="1828800"/>
            <a:ext cx="356616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C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1828800"/>
            <a:ext cx="3566160" cy="54864"/>
          </a:xfrm>
          <a:prstGeom prst="rect">
            <a:avLst/>
          </a:prstGeom>
          <a:solidFill>
            <a:srgbClr val="7B6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956816"/>
            <a:ext cx="3236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B6FF0"/>
                </a:solidFill>
                <a:latin typeface="Poppins"/>
              </a:rPr>
              <a:t>SUPPORTING OBJECTIVE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212848"/>
            <a:ext cx="3236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1B4B"/>
                </a:solidFill>
                <a:latin typeface="Poppins"/>
              </a:rPr>
              <a:t>Improve scheduling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724912"/>
            <a:ext cx="323697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5B7A"/>
                </a:solidFill>
                <a:latin typeface="Calibri"/>
              </a:rPr>
              <a:t>More leads only matters if they convert. The goal was better quality and faster follow-up, not just higher numbers.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91856" y="1828800"/>
            <a:ext cx="356616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C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91856" y="1828800"/>
            <a:ext cx="3566160" cy="54864"/>
          </a:xfrm>
          <a:prstGeom prst="rect">
            <a:avLst/>
          </a:prstGeom>
          <a:solidFill>
            <a:srgbClr val="2C2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6448" y="1956816"/>
            <a:ext cx="3236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C2880"/>
                </a:solidFill>
                <a:latin typeface="Poppins"/>
              </a:rPr>
              <a:t>THE APPROACH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6448" y="2212848"/>
            <a:ext cx="3236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1B4B"/>
                </a:solidFill>
                <a:latin typeface="Poppins"/>
              </a:rPr>
              <a:t>One system. Three channels. Every stage.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56448" y="2724912"/>
            <a:ext cx="323697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5B7A"/>
                </a:solidFill>
                <a:latin typeface="Calibri"/>
              </a:rPr>
              <a:t>Q2 built the full patient acquisition engine - Google Ads to capture search intent, SEO for organic discovery, and Instagram for upstream awareness. Every piece serves one outcome: more qualified patients at a sustainable cost.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7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620256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5B7A"/>
                </a:solidFill>
                <a:latin typeface="Calibri"/>
              </a:rPr>
              <a:t>Damco Digital  .  Wellspring Therapeutic Partners  .  Q2 2026  .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6202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443DCB"/>
                </a:solidFill>
                <a:latin typeface="Poppins"/>
              </a:rPr>
              <a:t>04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56032"/>
            <a:ext cx="365760" cy="365760"/>
          </a:xfrm>
          <a:prstGeom prst="rect">
            <a:avLst/>
          </a:prstGeom>
          <a:solidFill>
            <a:srgbClr val="443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9260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43DCB"/>
                </a:solidFill>
                <a:latin typeface="Poppins"/>
              </a:rPr>
              <a:t>STRATEGY IN A NUTSHELL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1B4B"/>
                </a:solidFill>
                <a:latin typeface="Poppins"/>
              </a:rPr>
              <a:t>Q2 in numbers - and the three decisions that shape Q3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61872"/>
            <a:ext cx="11247120" cy="18288"/>
          </a:xfrm>
          <a:prstGeom prst="rect">
            <a:avLst/>
          </a:prstGeom>
          <a:solidFill>
            <a:srgbClr val="D0C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89888"/>
            <a:ext cx="3547872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C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89888"/>
            <a:ext cx="54864" cy="1920240"/>
          </a:xfrm>
          <a:prstGeom prst="rect">
            <a:avLst/>
          </a:prstGeom>
          <a:solidFill>
            <a:srgbClr val="443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499616"/>
            <a:ext cx="33192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B5B7A"/>
                </a:solidFill>
                <a:latin typeface="Poppins"/>
              </a:rPr>
              <a:t>TOTAL CRM CONSULTATIONS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682496"/>
            <a:ext cx="3319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1B4B"/>
                </a:solidFill>
                <a:latin typeface="Poppins"/>
              </a:rPr>
              <a:t>192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035808"/>
            <a:ext cx="33192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B5B7A"/>
                </a:solidFill>
                <a:latin typeface="Calibri"/>
              </a:rPr>
              <a:t>All-source inquiries Apr-Jun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9664" y="1389888"/>
            <a:ext cx="3547872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C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69664" y="1389888"/>
            <a:ext cx="54864" cy="1920240"/>
          </a:xfrm>
          <a:prstGeom prst="rect">
            <a:avLst/>
          </a:prstGeom>
          <a:solidFill>
            <a:srgbClr val="7B6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06824" y="1499616"/>
            <a:ext cx="33192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B5B7A"/>
                </a:solidFill>
                <a:latin typeface="Poppins"/>
              </a:rPr>
              <a:t>GOOGLE ADS CRM LEADS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6824" y="1682496"/>
            <a:ext cx="3319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1B4B"/>
                </a:solidFill>
                <a:latin typeface="Poppins"/>
              </a:rPr>
              <a:t>87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6824" y="3035808"/>
            <a:ext cx="33192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B5B7A"/>
                </a:solidFill>
                <a:latin typeface="Calibri"/>
              </a:rPr>
              <a:t>API verified paid search leads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82128" y="1389888"/>
            <a:ext cx="3547872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C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82128" y="1389888"/>
            <a:ext cx="54864" cy="1920240"/>
          </a:xfrm>
          <a:prstGeom prst="rect">
            <a:avLst/>
          </a:prstGeom>
          <a:solidFill>
            <a:srgbClr val="443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9288" y="1499616"/>
            <a:ext cx="33192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B5B7A"/>
                </a:solidFill>
                <a:latin typeface="Poppins"/>
              </a:rPr>
              <a:t>GOOGLE SCHEDULING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9288" y="1682496"/>
            <a:ext cx="3319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1B4B"/>
                </a:solidFill>
                <a:latin typeface="Poppins"/>
              </a:rPr>
              <a:t>49%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19288" y="3035808"/>
            <a:ext cx="33192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B5B7A"/>
                </a:solidFill>
                <a:latin typeface="Calibri"/>
              </a:rPr>
              <a:t>Q2 avg - peaked 67% Jun wk 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447288"/>
            <a:ext cx="3547872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C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447288"/>
            <a:ext cx="54864" cy="1920240"/>
          </a:xfrm>
          <a:prstGeom prst="rect">
            <a:avLst/>
          </a:prstGeom>
          <a:solidFill>
            <a:srgbClr val="2C2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557016"/>
            <a:ext cx="33192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B5B7A"/>
                </a:solidFill>
                <a:latin typeface="Poppins"/>
              </a:rPr>
              <a:t>TOTAL Q2 AD SPEND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3739896"/>
            <a:ext cx="3319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1B4B"/>
                </a:solidFill>
                <a:latin typeface="Poppins"/>
              </a:rPr>
              <a:t>$5,983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093208"/>
            <a:ext cx="33192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B5B7A"/>
                </a:solidFill>
                <a:latin typeface="Calibri"/>
              </a:rPr>
              <a:t>Google Ads Apr-Jun (API)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69664" y="3447288"/>
            <a:ext cx="3547872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C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69664" y="3447288"/>
            <a:ext cx="54864" cy="192024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06824" y="3557016"/>
            <a:ext cx="33192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B5B7A"/>
                </a:solidFill>
                <a:latin typeface="Poppins"/>
              </a:rPr>
              <a:t>BEST WEEK CRM CPL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06824" y="3739896"/>
            <a:ext cx="3319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1B4B"/>
                </a:solidFill>
                <a:latin typeface="Poppins"/>
              </a:rPr>
              <a:t>$49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6824" y="5093208"/>
            <a:ext cx="33192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B5B7A"/>
                </a:solidFill>
                <a:latin typeface="Calibri"/>
              </a:rPr>
              <a:t>Jun 14-21 - 12 leads, 67% rate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82128" y="3447288"/>
            <a:ext cx="3547872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C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882128" y="3447288"/>
            <a:ext cx="54864" cy="1920240"/>
          </a:xfrm>
          <a:prstGeom prst="rect">
            <a:avLst/>
          </a:prstGeom>
          <a:solidFill>
            <a:srgbClr val="7B6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19288" y="3557016"/>
            <a:ext cx="33192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B5B7A"/>
                </a:solidFill>
                <a:latin typeface="Poppins"/>
              </a:rPr>
              <a:t>GSC ORGANIC IMPRESSIONS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19288" y="3739896"/>
            <a:ext cx="3319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1B4B"/>
                </a:solidFill>
                <a:latin typeface="Poppins"/>
              </a:rPr>
              <a:t>184,815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19288" y="5093208"/>
            <a:ext cx="33192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B5B7A"/>
                </a:solidFill>
                <a:latin typeface="Calibri"/>
              </a:rPr>
              <a:t>+67% vs Q1 - 21 AI citations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440680"/>
            <a:ext cx="11247120" cy="18288"/>
          </a:xfrm>
          <a:prstGeom prst="rect">
            <a:avLst/>
          </a:prstGeom>
          <a:solidFill>
            <a:srgbClr val="D0C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532120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43DCB"/>
                </a:solidFill>
                <a:latin typeface="Poppins"/>
              </a:rPr>
              <a:t>Three decisions that shape Q3: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5779008"/>
            <a:ext cx="3611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5B7A"/>
                </a:solidFill>
                <a:latin typeface="Calibri"/>
              </a:rPr>
              <a:t>01  Shift budget to DSA-first (26% - 70%) - the efficiency gap is proven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5779008"/>
            <a:ext cx="3611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5B7A"/>
                </a:solidFill>
                <a:latin typeface="Calibri"/>
              </a:rPr>
              <a:t>02  Retry Google Display with stronger, Google-advised creative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20" y="5779008"/>
            <a:ext cx="3611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5B7A"/>
                </a:solidFill>
                <a:latin typeface="Calibri"/>
              </a:rPr>
              <a:t>03  Fix the CTR gap - 184K impressions at 0.61% CTR is Q3's fastest organic win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7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620256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5B7A"/>
                </a:solidFill>
                <a:latin typeface="Calibri"/>
              </a:rPr>
              <a:t>Damco Digital  .  Wellspring Therapeutic Partners  .  Q2 2026  .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6202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443DCB"/>
                </a:solidFill>
                <a:latin typeface="Poppins"/>
              </a:rPr>
              <a:t>05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41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20256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A5790"/>
                </a:solidFill>
                <a:latin typeface="Calibri"/>
              </a:rPr>
              <a:t>Damco Digital  .  Wellspring Therapeutic Partners  .  Q2 2026  .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202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443DCB"/>
                </a:solidFill>
                <a:latin typeface="Poppins"/>
              </a:rPr>
              <a:t>02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6032"/>
            <a:ext cx="365760" cy="365760"/>
          </a:xfrm>
          <a:prstGeom prst="rect">
            <a:avLst/>
          </a:prstGeom>
          <a:solidFill>
            <a:srgbClr val="443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926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oppin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2608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7C4F8"/>
                </a:solidFill>
                <a:latin typeface="Poppins"/>
              </a:rPr>
              <a:t>WHAT MAKES WELLSPRING DIFFERENT?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Poppins"/>
              </a:rPr>
              <a:t>The gap no competitor in
Southeast Michigan has filled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664208"/>
            <a:ext cx="11247120" cy="18288"/>
          </a:xfrm>
          <a:prstGeom prst="rect">
            <a:avLst/>
          </a:prstGeom>
          <a:solidFill>
            <a:srgbClr val="403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828800"/>
            <a:ext cx="2148840" cy="4297680"/>
          </a:xfrm>
          <a:prstGeom prst="rect">
            <a:avLst/>
          </a:prstGeom>
          <a:solidFill>
            <a:srgbClr val="282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828800"/>
            <a:ext cx="2148840" cy="45720"/>
          </a:xfrm>
          <a:prstGeom prst="rect">
            <a:avLst/>
          </a:prstGeom>
          <a:solidFill>
            <a:srgbClr val="443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920240"/>
            <a:ext cx="19293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1B4B"/>
                </a:solidFill>
                <a:latin typeface="Poppins"/>
              </a:rPr>
              <a:t>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377440"/>
            <a:ext cx="19293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Poppins"/>
              </a:rPr>
              <a:t>48-hour intake response. No waitlist.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090672"/>
            <a:ext cx="192938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7C4F8"/>
                </a:solidFill>
                <a:latin typeface="Calibri"/>
              </a:rPr>
              <a:t>Most practices take 2-4 weeks. Wellspring responds within 48 hours. In a category where demand is emotional and urgent, speed is the competitive moat.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70632" y="1828800"/>
            <a:ext cx="2148840" cy="4297680"/>
          </a:xfrm>
          <a:prstGeom prst="rect">
            <a:avLst/>
          </a:prstGeom>
          <a:solidFill>
            <a:srgbClr val="282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70632" y="1828800"/>
            <a:ext cx="2148840" cy="45720"/>
          </a:xfrm>
          <a:prstGeom prst="rect">
            <a:avLst/>
          </a:prstGeom>
          <a:solidFill>
            <a:srgbClr val="443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360" y="1920240"/>
            <a:ext cx="19293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1B4B"/>
                </a:solidFill>
                <a:latin typeface="Poppins"/>
              </a:rPr>
              <a:t>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2377440"/>
            <a:ext cx="19293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Poppins"/>
              </a:rPr>
              <a:t>NP-led Medication Management.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3090672"/>
            <a:ext cx="192938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7C4F8"/>
                </a:solidFill>
                <a:latin typeface="Calibri"/>
              </a:rPr>
              <a:t>Full psychiatric care and therapy under one roof. Most private practices offer talk therapy only. Wellspring offers the complete spectrum - therapy, medication, and testing.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84064" y="1828800"/>
            <a:ext cx="2148840" cy="4297680"/>
          </a:xfrm>
          <a:prstGeom prst="rect">
            <a:avLst/>
          </a:prstGeom>
          <a:solidFill>
            <a:srgbClr val="282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84064" y="1828800"/>
            <a:ext cx="2148840" cy="45720"/>
          </a:xfrm>
          <a:prstGeom prst="rect">
            <a:avLst/>
          </a:prstGeom>
          <a:solidFill>
            <a:srgbClr val="443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93792" y="1920240"/>
            <a:ext cx="19293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1B4B"/>
                </a:solidFill>
                <a:latin typeface="Poppins"/>
              </a:rPr>
              <a:t>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93792" y="2377440"/>
            <a:ext cx="19293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Poppins"/>
              </a:rPr>
              <a:t>Six major insurance plans accepted.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93792" y="3090672"/>
            <a:ext cx="192938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7C4F8"/>
                </a:solidFill>
                <a:latin typeface="Calibri"/>
              </a:rPr>
              <a:t>BCBS, BCN, Aetna, Priority Health, McLaren, Tricare. The breadth of in-network coverage removes the biggest barrier for patients who need care but can't pay out of pocket.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97496" y="1828800"/>
            <a:ext cx="2148840" cy="4297680"/>
          </a:xfrm>
          <a:prstGeom prst="rect">
            <a:avLst/>
          </a:prstGeom>
          <a:solidFill>
            <a:srgbClr val="282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97496" y="1828800"/>
            <a:ext cx="2148840" cy="45720"/>
          </a:xfrm>
          <a:prstGeom prst="rect">
            <a:avLst/>
          </a:prstGeom>
          <a:solidFill>
            <a:srgbClr val="443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07224" y="1920240"/>
            <a:ext cx="19293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1B4B"/>
                </a:solidFill>
                <a:latin typeface="Poppins"/>
              </a:rPr>
              <a:t>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07224" y="2377440"/>
            <a:ext cx="19293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Poppins"/>
              </a:rPr>
              <a:t>Two Michigan locations.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07224" y="3090672"/>
            <a:ext cx="192938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7C4F8"/>
                </a:solidFill>
                <a:latin typeface="Calibri"/>
              </a:rPr>
              <a:t>Troy and Clinton Township - serving Southeast Michigan where therapy demand is high and qualified practices are underserved.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710928" y="1828800"/>
            <a:ext cx="2148840" cy="4297680"/>
          </a:xfrm>
          <a:prstGeom prst="rect">
            <a:avLst/>
          </a:prstGeom>
          <a:solidFill>
            <a:srgbClr val="282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710928" y="1828800"/>
            <a:ext cx="2148840" cy="45720"/>
          </a:xfrm>
          <a:prstGeom prst="rect">
            <a:avLst/>
          </a:prstGeom>
          <a:solidFill>
            <a:srgbClr val="443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20656" y="1920240"/>
            <a:ext cx="19293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1B4B"/>
                </a:solidFill>
                <a:latin typeface="Poppins"/>
              </a:rPr>
              <a:t>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20656" y="2377440"/>
            <a:ext cx="19293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Poppins"/>
              </a:rPr>
              <a:t>Full spectrum of care.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20656" y="3090672"/>
            <a:ext cx="192938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7C4F8"/>
                </a:solidFill>
                <a:latin typeface="Calibri"/>
              </a:rPr>
              <a:t>Psychotherapy, Medication Management, ADHD Testing, and Couples Therapy - all in one practice. Patients don't need to look elsewhere as their needs evolve.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7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620256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5B7A"/>
                </a:solidFill>
                <a:latin typeface="Calibri"/>
              </a:rPr>
              <a:t>Damco Digital  .  Wellspring Therapeutic Partners  .  Q2 2026  .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6202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443DCB"/>
                </a:solidFill>
                <a:latin typeface="Poppins"/>
              </a:rPr>
              <a:t>07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56032"/>
            <a:ext cx="365760" cy="365760"/>
          </a:xfrm>
          <a:prstGeom prst="rect">
            <a:avLst/>
          </a:prstGeom>
          <a:solidFill>
            <a:srgbClr val="443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oppin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9260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43DCB"/>
                </a:solidFill>
                <a:latin typeface="Poppins"/>
              </a:rPr>
              <a:t>CHANNEL MIX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1B4B"/>
                </a:solidFill>
                <a:latin typeface="Poppins"/>
              </a:rPr>
              <a:t>Paid, SEO, and Social working as one connected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61872"/>
            <a:ext cx="11247120" cy="18288"/>
          </a:xfrm>
          <a:prstGeom prst="rect">
            <a:avLst/>
          </a:prstGeom>
          <a:solidFill>
            <a:srgbClr val="D0C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B5B7A"/>
                </a:solidFill>
                <a:latin typeface="Calibri"/>
              </a:rPr>
              <a:t>Every channel has a defined role. No channel works in isolation. The warm audience Instagram builds feeds paid retargeting. The content SEO builds feeds AI citations. Paid captures the intent SEO and Social create.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20240"/>
            <a:ext cx="2514600" cy="4114800"/>
          </a:xfrm>
          <a:prstGeom prst="rect">
            <a:avLst/>
          </a:prstGeom>
          <a:solidFill>
            <a:srgbClr val="EAE8FF"/>
          </a:solidFill>
          <a:ln w="6350">
            <a:solidFill>
              <a:srgbClr val="D0C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920240"/>
            <a:ext cx="2514600" cy="45720"/>
          </a:xfrm>
          <a:prstGeom prst="rect">
            <a:avLst/>
          </a:prstGeom>
          <a:solidFill>
            <a:srgbClr val="443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01168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E1B4B"/>
                </a:solidFill>
                <a:latin typeface="Poppins"/>
              </a:rPr>
              <a:t>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4688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1B4B"/>
                </a:solidFill>
                <a:latin typeface="Poppins"/>
              </a:rPr>
              <a:t>Instagram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926080"/>
            <a:ext cx="1965960" cy="201168"/>
          </a:xfrm>
          <a:prstGeom prst="rect">
            <a:avLst/>
          </a:prstGeom>
          <a:solidFill>
            <a:srgbClr val="443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935224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Poppins"/>
              </a:rPr>
              <a:t>AWARENESS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246120"/>
            <a:ext cx="229514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B5B7A"/>
                </a:solidFill>
                <a:latin typeface="Calibri"/>
              </a:rPr>
              <a:t>Builds name recognition before the search moment. Warm visitors feed the remarketing pool.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257800"/>
            <a:ext cx="2148840" cy="237744"/>
          </a:xfrm>
          <a:prstGeom prst="rect">
            <a:avLst/>
          </a:prstGeom>
          <a:solidFill>
            <a:srgbClr val="EA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76088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43DCB"/>
                </a:solidFill>
                <a:latin typeface="Poppins"/>
              </a:rPr>
              <a:t>Q3: 200+ followers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0088" y="374904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D0CEF2"/>
                </a:solidFill>
                <a:latin typeface="Poppins"/>
              </a:rPr>
              <a:t>-&gt;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0" y="1920240"/>
            <a:ext cx="2514600" cy="4114800"/>
          </a:xfrm>
          <a:prstGeom prst="rect">
            <a:avLst/>
          </a:prstGeom>
          <a:solidFill>
            <a:srgbClr val="EAE8FF"/>
          </a:solidFill>
          <a:ln w="6350">
            <a:solidFill>
              <a:srgbClr val="D0C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74720" y="1920240"/>
            <a:ext cx="2514600" cy="45720"/>
          </a:xfrm>
          <a:prstGeom prst="rect">
            <a:avLst/>
          </a:prstGeom>
          <a:solidFill>
            <a:srgbClr val="443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6160" y="201168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E1B4B"/>
                </a:solidFill>
                <a:latin typeface="Poppins"/>
              </a:rPr>
              <a:t>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24688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1B4B"/>
                </a:solidFill>
                <a:latin typeface="Poppins"/>
              </a:rPr>
              <a:t>SEO + GMB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49040" y="2926080"/>
            <a:ext cx="1965960" cy="201168"/>
          </a:xfrm>
          <a:prstGeom prst="rect">
            <a:avLst/>
          </a:prstGeom>
          <a:solidFill>
            <a:srgbClr val="443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49040" y="2935224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Poppins"/>
              </a:rPr>
              <a:t>DISCOVERY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84448" y="3246120"/>
            <a:ext cx="229514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B5B7A"/>
                </a:solidFill>
                <a:latin typeface="Calibri"/>
              </a:rPr>
              <a:t>Captures organic search intent. GMB local pack. CTR fix turns 184K impressions into sessions.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0" y="5257800"/>
            <a:ext cx="2148840" cy="237744"/>
          </a:xfrm>
          <a:prstGeom prst="rect">
            <a:avLst/>
          </a:prstGeom>
          <a:solidFill>
            <a:srgbClr val="EA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0" y="5276088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43DCB"/>
                </a:solidFill>
                <a:latin typeface="Poppins"/>
              </a:rPr>
              <a:t>Q3: +25% organic sessions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7608" y="374904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D0CEF2"/>
                </a:solidFill>
                <a:latin typeface="Poppins"/>
              </a:rPr>
              <a:t>-&gt;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1920240"/>
            <a:ext cx="2514600" cy="4114800"/>
          </a:xfrm>
          <a:prstGeom prst="rect">
            <a:avLst/>
          </a:prstGeom>
          <a:solidFill>
            <a:srgbClr val="F7F6FF"/>
          </a:solidFill>
          <a:ln w="15240">
            <a:solidFill>
              <a:srgbClr val="443D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2240" y="1920240"/>
            <a:ext cx="2514600" cy="45720"/>
          </a:xfrm>
          <a:prstGeom prst="rect">
            <a:avLst/>
          </a:prstGeom>
          <a:solidFill>
            <a:srgbClr val="443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201168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E1B4B"/>
                </a:solidFill>
                <a:latin typeface="Poppins"/>
              </a:rPr>
              <a:t>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24688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1B4B"/>
                </a:solidFill>
                <a:latin typeface="Poppins"/>
              </a:rPr>
              <a:t>Google Ads
(DSA-first)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66560" y="2926080"/>
            <a:ext cx="1965960" cy="201168"/>
          </a:xfrm>
          <a:prstGeom prst="rect">
            <a:avLst/>
          </a:prstGeom>
          <a:solidFill>
            <a:srgbClr val="443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66560" y="2935224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Poppins"/>
              </a:rPr>
              <a:t>INTENT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01968" y="3246120"/>
            <a:ext cx="229514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B5B7A"/>
                </a:solidFill>
                <a:latin typeface="Calibri"/>
              </a:rPr>
              <a:t>Captures high-intent searches. Display retargets warm social and organic visitors.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75120" y="5257800"/>
            <a:ext cx="2148840" cy="237744"/>
          </a:xfrm>
          <a:prstGeom prst="rect">
            <a:avLst/>
          </a:prstGeom>
          <a:solidFill>
            <a:srgbClr val="EA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20" y="5276088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43DCB"/>
                </a:solidFill>
                <a:latin typeface="Poppins"/>
              </a:rPr>
              <a:t>Q3: &lt;$55 CRM CPL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25128" y="374904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D0CEF2"/>
                </a:solidFill>
                <a:latin typeface="Poppins"/>
              </a:rPr>
              <a:t>-&gt;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509760" y="1920240"/>
            <a:ext cx="2514600" cy="4114800"/>
          </a:xfrm>
          <a:prstGeom prst="rect">
            <a:avLst/>
          </a:prstGeom>
          <a:solidFill>
            <a:srgbClr val="F7F6FF"/>
          </a:solidFill>
          <a:ln w="15240">
            <a:solidFill>
              <a:srgbClr val="443D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509760" y="1920240"/>
            <a:ext cx="2514600" cy="45720"/>
          </a:xfrm>
          <a:prstGeom prst="rect">
            <a:avLst/>
          </a:prstGeom>
          <a:solidFill>
            <a:srgbClr val="443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0" y="201168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E1B4B"/>
                </a:solidFill>
                <a:latin typeface="Poppins"/>
              </a:rPr>
              <a:t>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24688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1B4B"/>
                </a:solidFill>
                <a:latin typeface="Poppins"/>
              </a:rPr>
              <a:t>Convert &amp;
Schedule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784080" y="2926080"/>
            <a:ext cx="1965960" cy="201168"/>
          </a:xfrm>
          <a:prstGeom prst="rect">
            <a:avLst/>
          </a:prstGeom>
          <a:solidFill>
            <a:srgbClr val="443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84080" y="2935224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Poppins"/>
              </a:rPr>
              <a:t>CONVERSION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19488" y="3246120"/>
            <a:ext cx="229514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B5B7A"/>
                </a:solidFill>
                <a:latin typeface="Calibri"/>
              </a:rPr>
              <a:t>Lift scheduling rate - convert enquiries into booked consultations, not just clicks.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692640" y="5257800"/>
            <a:ext cx="2148840" cy="237744"/>
          </a:xfrm>
          <a:prstGeom prst="rect">
            <a:avLst/>
          </a:prstGeom>
          <a:solidFill>
            <a:srgbClr val="EA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92640" y="5276088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43DCB"/>
                </a:solidFill>
                <a:latin typeface="Poppins"/>
              </a:rPr>
              <a:t>Q3: 55%+ sched. rate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7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620256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5B7A"/>
                </a:solidFill>
                <a:latin typeface="Calibri"/>
              </a:rPr>
              <a:t>Damco Digital  .  Wellspring Therapeutic Partners  .  Q2 2026  .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6202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443DCB"/>
                </a:solidFill>
                <a:latin typeface="Poppins"/>
              </a:rPr>
              <a:t>08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56032"/>
            <a:ext cx="365760" cy="365760"/>
          </a:xfrm>
          <a:prstGeom prst="rect">
            <a:avLst/>
          </a:prstGeom>
          <a:solidFill>
            <a:srgbClr val="443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oppins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9260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43DCB"/>
                </a:solidFill>
                <a:latin typeface="Poppins"/>
              </a:rPr>
              <a:t>THE AUDIENCE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1B4B"/>
                </a:solidFill>
                <a:latin typeface="Poppins"/>
              </a:rPr>
              <a:t>Who reaches out, what they need, and why they don't book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61872"/>
            <a:ext cx="11247120" cy="18288"/>
          </a:xfrm>
          <a:prstGeom prst="rect">
            <a:avLst/>
          </a:prstGeom>
          <a:solidFill>
            <a:srgbClr val="D0C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8988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1B4B"/>
                </a:solidFill>
                <a:latin typeface="Poppins"/>
              </a:rPr>
              <a:t>Where Q2 leads came from (192 total)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37360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1B4B"/>
                </a:solidFill>
                <a:latin typeface="Poppins"/>
              </a:rPr>
              <a:t>Google Ads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1773936"/>
            <a:ext cx="2377440" cy="164592"/>
          </a:xfrm>
          <a:prstGeom prst="rect">
            <a:avLst/>
          </a:prstGeom>
          <a:solidFill>
            <a:srgbClr val="D0C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26080" y="1773936"/>
            <a:ext cx="4206240" cy="164592"/>
          </a:xfrm>
          <a:prstGeom prst="rect">
            <a:avLst/>
          </a:prstGeom>
          <a:solidFill>
            <a:srgbClr val="443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1737360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43DCB"/>
                </a:solidFill>
                <a:latin typeface="Poppins"/>
              </a:rPr>
              <a:t>45%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212848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1B4B"/>
                </a:solidFill>
                <a:latin typeface="Poppins"/>
              </a:rPr>
              <a:t>Internal Referrals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2249424"/>
            <a:ext cx="2377440" cy="164592"/>
          </a:xfrm>
          <a:prstGeom prst="rect">
            <a:avLst/>
          </a:prstGeom>
          <a:solidFill>
            <a:srgbClr val="D0C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26080" y="2249424"/>
            <a:ext cx="2423160" cy="164592"/>
          </a:xfrm>
          <a:prstGeom prst="rect">
            <a:avLst/>
          </a:prstGeom>
          <a:solidFill>
            <a:srgbClr val="7B6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0" y="2212848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B6FF0"/>
                </a:solidFill>
                <a:latin typeface="Poppins"/>
              </a:rPr>
              <a:t>26%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688336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1B4B"/>
                </a:solidFill>
                <a:latin typeface="Poppins"/>
              </a:rPr>
              <a:t>External / PT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2724912"/>
            <a:ext cx="2377440" cy="164592"/>
          </a:xfrm>
          <a:prstGeom prst="rect">
            <a:avLst/>
          </a:prstGeom>
          <a:solidFill>
            <a:srgbClr val="D0C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926080" y="2724912"/>
            <a:ext cx="1691640" cy="164592"/>
          </a:xfrm>
          <a:prstGeom prst="rect">
            <a:avLst/>
          </a:prstGeom>
          <a:solidFill>
            <a:srgbClr val="5A5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94960" y="2688336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A54D8"/>
                </a:solidFill>
                <a:latin typeface="Poppins"/>
              </a:rPr>
              <a:t>18%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163824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1B4B"/>
                </a:solidFill>
                <a:latin typeface="Poppins"/>
              </a:rPr>
              <a:t>Other / Organic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0" y="3200400"/>
            <a:ext cx="2377440" cy="164592"/>
          </a:xfrm>
          <a:prstGeom prst="rect">
            <a:avLst/>
          </a:prstGeom>
          <a:solidFill>
            <a:srgbClr val="D0C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26080" y="3200400"/>
            <a:ext cx="1024128" cy="164592"/>
          </a:xfrm>
          <a:prstGeom prst="rect">
            <a:avLst/>
          </a:prstGeom>
          <a:solidFill>
            <a:srgbClr val="5B5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94960" y="3163824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B5B7A"/>
                </a:solidFill>
                <a:latin typeface="Poppins"/>
              </a:rPr>
              <a:t>11%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11480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1B4B"/>
                </a:solidFill>
                <a:latin typeface="Poppins"/>
              </a:rPr>
              <a:t>Service mix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434840"/>
            <a:ext cx="237744" cy="237744"/>
          </a:xfrm>
          <a:prstGeom prst="rect">
            <a:avLst/>
          </a:prstGeom>
          <a:solidFill>
            <a:srgbClr val="443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43484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B4B"/>
                </a:solidFill>
                <a:latin typeface="Calibri"/>
              </a:rPr>
              <a:t>Psychotherapy  59%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818888"/>
            <a:ext cx="237744" cy="237744"/>
          </a:xfrm>
          <a:prstGeom prst="rect">
            <a:avLst/>
          </a:prstGeom>
          <a:solidFill>
            <a:srgbClr val="7B6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81888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B4B"/>
                </a:solidFill>
                <a:latin typeface="Calibri"/>
              </a:rPr>
              <a:t>Medication Management  15%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202936"/>
            <a:ext cx="237744" cy="237744"/>
          </a:xfrm>
          <a:prstGeom prst="rect">
            <a:avLst/>
          </a:prstGeom>
          <a:solidFill>
            <a:srgbClr val="7B6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202936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B4B"/>
                </a:solidFill>
                <a:latin typeface="Calibri"/>
              </a:rPr>
              <a:t>Testing / ADHD  4%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586984"/>
            <a:ext cx="237744" cy="237744"/>
          </a:xfrm>
          <a:prstGeom prst="rect">
            <a:avLst/>
          </a:prstGeom>
          <a:solidFill>
            <a:srgbClr val="5B5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586984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B4B"/>
                </a:solidFill>
                <a:latin typeface="Calibri"/>
              </a:rPr>
              <a:t>Combined / Other  22%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138988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1B4B"/>
                </a:solidFill>
                <a:latin typeface="Poppins"/>
              </a:rPr>
              <a:t>Why leads don't convert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1737360"/>
            <a:ext cx="53035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C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0" y="1737360"/>
            <a:ext cx="54864" cy="1188720"/>
          </a:xfrm>
          <a:prstGeom prst="rect">
            <a:avLst/>
          </a:prstGeom>
          <a:solidFill>
            <a:srgbClr val="C25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65392" y="18288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1B4B"/>
                </a:solidFill>
                <a:latin typeface="Poppins"/>
              </a:rPr>
              <a:t>Insurance not accepted (HAP / Medicaid)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65392" y="2121408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B5B7A"/>
                </a:solidFill>
                <a:latin typeface="Calibri"/>
              </a:rPr>
              <a:t>~25-30% of lost leads every month. The single highest-impact business decision available for Q3.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3063240"/>
            <a:ext cx="53035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C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0800" y="3063240"/>
            <a:ext cx="54864" cy="1188720"/>
          </a:xfrm>
          <a:prstGeom prst="rect">
            <a:avLst/>
          </a:prstGeom>
          <a:solidFill>
            <a:srgbClr val="C98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65392" y="315468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1B4B"/>
                </a:solidFill>
                <a:latin typeface="Poppins"/>
              </a:rPr>
              <a:t>No response / follow-up pending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65392" y="3447288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B5B7A"/>
                </a:solidFill>
                <a:latin typeface="Calibri"/>
              </a:rPr>
              <a:t>~20% of leads pending. The weeks with fastest follow-up showed the highest scheduling rates.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4389120"/>
            <a:ext cx="53035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C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00800" y="4389120"/>
            <a:ext cx="54864" cy="1188720"/>
          </a:xfrm>
          <a:prstGeom prst="rect">
            <a:avLst/>
          </a:prstGeom>
          <a:solidFill>
            <a:srgbClr val="443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65392" y="448056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1B4B"/>
                </a:solidFill>
                <a:latin typeface="Poppins"/>
              </a:rPr>
              <a:t>Capacity / waitlist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65392" y="4773168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B5B7A"/>
                </a:solidFill>
                <a:latin typeface="Calibri"/>
              </a:rPr>
              <a:t>Some weeks scheduling drops due to therapist availability, not campaign quality. A shared responsibility.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7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620256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5B7A"/>
                </a:solidFill>
                <a:latin typeface="Calibri"/>
              </a:rPr>
              <a:t>Damco Digital  .  Wellspring Therapeutic Partners  .  Q2 2026  .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6202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443DCB"/>
                </a:solidFill>
                <a:latin typeface="Poppins"/>
              </a:rPr>
              <a:t>09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56032"/>
            <a:ext cx="365760" cy="365760"/>
          </a:xfrm>
          <a:prstGeom prst="rect">
            <a:avLst/>
          </a:prstGeom>
          <a:solidFill>
            <a:srgbClr val="443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oppins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9260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43DCB"/>
                </a:solidFill>
                <a:latin typeface="Poppins"/>
              </a:rPr>
              <a:t>CONTENT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1B4B"/>
                </a:solidFill>
                <a:latin typeface="Poppins"/>
              </a:rPr>
              <a:t>Instagram, AEO, and SEO content - three layers, one voice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61872"/>
            <a:ext cx="11247120" cy="18288"/>
          </a:xfrm>
          <a:prstGeom prst="rect">
            <a:avLst/>
          </a:prstGeom>
          <a:solidFill>
            <a:srgbClr val="D0C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3547872" cy="4709160"/>
          </a:xfrm>
          <a:prstGeom prst="rect">
            <a:avLst/>
          </a:prstGeom>
          <a:solidFill>
            <a:srgbClr val="EAE8FF"/>
          </a:solidFill>
          <a:ln w="6350">
            <a:solidFill>
              <a:srgbClr val="D0C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3547872" cy="45720"/>
          </a:xfrm>
          <a:prstGeom prst="rect">
            <a:avLst/>
          </a:prstGeom>
          <a:solidFill>
            <a:srgbClr val="443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508760"/>
            <a:ext cx="3273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B4B"/>
                </a:solidFill>
                <a:latin typeface="Poppins"/>
              </a:rPr>
              <a:t>📸  Instagram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810512"/>
            <a:ext cx="32735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43DCB"/>
                </a:solidFill>
                <a:latin typeface="Poppins"/>
              </a:rPr>
              <a:t>AWARENESS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084831"/>
            <a:ext cx="32735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B5B7A"/>
                </a:solidFill>
                <a:latin typeface="Calibri"/>
              </a:rPr>
              <a:t>- Permission &amp; Validation - posts that say 'it's ok to ask for help'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560319"/>
            <a:ext cx="32735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B5B7A"/>
                </a:solidFill>
                <a:latin typeface="Calibri"/>
              </a:rPr>
              <a:t>- Real Life / Young Adults - relatable everyday mental health moments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35807"/>
            <a:ext cx="32735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B5B7A"/>
                </a:solidFill>
                <a:latin typeface="Calibri"/>
              </a:rPr>
              <a:t>- Education - short, shareable insights that build authority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511295"/>
            <a:ext cx="32735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B5B7A"/>
                </a:solidFill>
                <a:latin typeface="Calibri"/>
              </a:rPr>
              <a:t>- Humor layer (Gen Z-native) - hot takes, misdirects, relatable POV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5806440"/>
            <a:ext cx="3273552" cy="201168"/>
          </a:xfrm>
          <a:prstGeom prst="rect">
            <a:avLst/>
          </a:prstGeom>
          <a:solidFill>
            <a:srgbClr val="EA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824728"/>
            <a:ext cx="32735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43DCB"/>
                </a:solidFill>
                <a:latin typeface="Poppins"/>
              </a:rPr>
              <a:t>3x/week  .  Jul-Sep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9664" y="1417320"/>
            <a:ext cx="3547872" cy="4709160"/>
          </a:xfrm>
          <a:prstGeom prst="rect">
            <a:avLst/>
          </a:prstGeom>
          <a:solidFill>
            <a:srgbClr val="EAE8FF"/>
          </a:solidFill>
          <a:ln w="6350">
            <a:solidFill>
              <a:srgbClr val="D0C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69664" y="1417320"/>
            <a:ext cx="3547872" cy="45720"/>
          </a:xfrm>
          <a:prstGeom prst="rect">
            <a:avLst/>
          </a:prstGeom>
          <a:solidFill>
            <a:srgbClr val="7B6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06824" y="1508760"/>
            <a:ext cx="3273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B4B"/>
                </a:solidFill>
                <a:latin typeface="Poppins"/>
              </a:rPr>
              <a:t>🤖  AEO Content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06824" y="1810512"/>
            <a:ext cx="32735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B6FF0"/>
                </a:solidFill>
                <a:latin typeface="Poppins"/>
              </a:rPr>
              <a:t>AI SEARCH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6824" y="2084831"/>
            <a:ext cx="32735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B5B7A"/>
                </a:solidFill>
                <a:latin typeface="Calibri"/>
              </a:rPr>
              <a:t>- FAQPage schema on every service page - gets cited by ChatGPT, AI Overview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06824" y="2560319"/>
            <a:ext cx="32735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B5B7A"/>
                </a:solidFill>
                <a:latin typeface="Calibri"/>
              </a:rPr>
              <a:t>- Insurance FAQ pages: 'Does Wellspring accept BCBS/Aetna?' (zero competition)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06824" y="3035807"/>
            <a:ext cx="32735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B5B7A"/>
                </a:solidFill>
                <a:latin typeface="Calibri"/>
              </a:rPr>
              <a:t>- Citable action sentence on every page so AI engines direct patients to call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06824" y="3511295"/>
            <a:ext cx="32735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B5B7A"/>
                </a:solidFill>
                <a:latin typeface="Calibri"/>
              </a:rPr>
              <a:t>- Target: AI citations from 21 to 30+ by Sep 30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06824" y="5806440"/>
            <a:ext cx="3273552" cy="201168"/>
          </a:xfrm>
          <a:prstGeom prst="rect">
            <a:avLst/>
          </a:prstGeom>
          <a:solidFill>
            <a:srgbClr val="EA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06824" y="5824728"/>
            <a:ext cx="32735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B6FF0"/>
                </a:solidFill>
                <a:latin typeface="Poppins"/>
              </a:rPr>
              <a:t>31-60 days  .  Aug 2026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82128" y="1417320"/>
            <a:ext cx="3547872" cy="4709160"/>
          </a:xfrm>
          <a:prstGeom prst="rect">
            <a:avLst/>
          </a:prstGeom>
          <a:solidFill>
            <a:srgbClr val="EAE8FF"/>
          </a:solidFill>
          <a:ln w="6350">
            <a:solidFill>
              <a:srgbClr val="D0C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882128" y="1417320"/>
            <a:ext cx="3547872" cy="45720"/>
          </a:xfrm>
          <a:prstGeom prst="rect">
            <a:avLst/>
          </a:prstGeom>
          <a:solidFill>
            <a:srgbClr val="2C2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19288" y="1508760"/>
            <a:ext cx="3273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B4B"/>
                </a:solidFill>
                <a:latin typeface="Poppins"/>
              </a:rPr>
              <a:t>📝  SEO Clusters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19288" y="1810512"/>
            <a:ext cx="32735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C2880"/>
                </a:solidFill>
                <a:latin typeface="Poppins"/>
              </a:rPr>
              <a:t>ORGANIC TRAFFIC LAYER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19288" y="2084831"/>
            <a:ext cx="32735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B5B7A"/>
                </a:solidFill>
                <a:latin typeface="Calibri"/>
              </a:rPr>
              <a:t>- Adult Therapy (420/month searches) - ships first, with 2 supporting blogs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19288" y="2560319"/>
            <a:ext cx="32735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B5B7A"/>
                </a:solidFill>
                <a:latin typeface="Calibri"/>
              </a:rPr>
              <a:t>- Teen Therapy (210/month) - second cluster, Aug launch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19288" y="3035807"/>
            <a:ext cx="32735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B5B7A"/>
                </a:solidFill>
                <a:latin typeface="Calibri"/>
              </a:rPr>
              <a:t>- Life Transitions - third cluster, Sep launch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19288" y="3511295"/>
            <a:ext cx="32735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B5B7A"/>
                </a:solidFill>
                <a:latin typeface="Calibri"/>
              </a:rPr>
              <a:t>- Communication blog CTR fix: 50K impressions at 0.06% - rewrite titles/meta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19288" y="5806440"/>
            <a:ext cx="3273552" cy="201168"/>
          </a:xfrm>
          <a:prstGeom prst="rect">
            <a:avLst/>
          </a:prstGeom>
          <a:solidFill>
            <a:srgbClr val="EA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19288" y="5824728"/>
            <a:ext cx="32735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C2880"/>
                </a:solidFill>
                <a:latin typeface="Poppins"/>
              </a:rPr>
              <a:t>Phased: Jul &gt; Aug &gt; Sep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7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620256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5B7A"/>
                </a:solidFill>
                <a:latin typeface="Calibri"/>
              </a:rPr>
              <a:t>Damco Digital  .  Wellspring Therapeutic Partners  .  Q2 2026  .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6202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443DCB"/>
                </a:solidFill>
                <a:latin typeface="Poppins"/>
              </a:rPr>
              <a:t>10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56032"/>
            <a:ext cx="365760" cy="365760"/>
          </a:xfrm>
          <a:prstGeom prst="rect">
            <a:avLst/>
          </a:prstGeom>
          <a:solidFill>
            <a:srgbClr val="443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oppins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9260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43DCB"/>
                </a:solidFill>
                <a:latin typeface="Poppins"/>
              </a:rPr>
              <a:t>SEO AND AEO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1B4B"/>
                </a:solidFill>
                <a:latin typeface="Poppins"/>
              </a:rPr>
              <a:t>Organic rankings and visibility in AI 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61872"/>
            <a:ext cx="11247120" cy="18288"/>
          </a:xfrm>
          <a:prstGeom prst="rect">
            <a:avLst/>
          </a:prstGeom>
          <a:solidFill>
            <a:srgbClr val="D0C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26517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C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54864" cy="1554480"/>
          </a:xfrm>
          <a:prstGeom prst="rect">
            <a:avLst/>
          </a:prstGeom>
          <a:solidFill>
            <a:srgbClr val="443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527048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B5B7A"/>
                </a:solidFill>
                <a:latin typeface="Poppins"/>
              </a:rPr>
              <a:t>GSC IMPRESSIONS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709928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1B4B"/>
                </a:solidFill>
                <a:latin typeface="Poppins"/>
              </a:rPr>
              <a:t>184,815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697480"/>
            <a:ext cx="2423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B5B7A"/>
                </a:solidFill>
                <a:latin typeface="Calibri"/>
              </a:rPr>
              <a:t>+67% vs Q1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1417320"/>
            <a:ext cx="26517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C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46120" y="1417320"/>
            <a:ext cx="54864" cy="1554480"/>
          </a:xfrm>
          <a:prstGeom prst="rect">
            <a:avLst/>
          </a:prstGeom>
          <a:solidFill>
            <a:srgbClr val="7B6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1527048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B5B7A"/>
                </a:solidFill>
                <a:latin typeface="Poppins"/>
              </a:rPr>
              <a:t>ORGANIC SESSIONS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1709928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1B4B"/>
                </a:solidFill>
                <a:latin typeface="Poppins"/>
              </a:rPr>
              <a:t>1,297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2697480"/>
            <a:ext cx="2423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B5B7A"/>
                </a:solidFill>
                <a:latin typeface="Calibri"/>
              </a:rPr>
              <a:t>60.4% engagement rate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1417320"/>
            <a:ext cx="26517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C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35040" y="1417320"/>
            <a:ext cx="54864" cy="1554480"/>
          </a:xfrm>
          <a:prstGeom prst="rect">
            <a:avLst/>
          </a:prstGeom>
          <a:solidFill>
            <a:srgbClr val="2C2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1527048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B5B7A"/>
                </a:solidFill>
                <a:latin typeface="Poppins"/>
              </a:rPr>
              <a:t>ORGANIC LEADS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1709928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1B4B"/>
                </a:solidFill>
                <a:latin typeface="Poppins"/>
              </a:rPr>
              <a:t>419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697480"/>
            <a:ext cx="2423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B5B7A"/>
                </a:solidFill>
                <a:latin typeface="Calibri"/>
              </a:rPr>
              <a:t>Avg session time: 53s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23960" y="1417320"/>
            <a:ext cx="27432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C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23960" y="1417320"/>
            <a:ext cx="54864" cy="1554480"/>
          </a:xfrm>
          <a:prstGeom prst="rect">
            <a:avLst/>
          </a:prstGeom>
          <a:solidFill>
            <a:srgbClr val="C25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0" y="1527048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B5B7A"/>
                </a:solidFill>
                <a:latin typeface="Poppins"/>
              </a:rPr>
              <a:t>ORGANIC 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1709928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1B4B"/>
                </a:solidFill>
                <a:latin typeface="Poppins"/>
              </a:rPr>
              <a:t>0.61%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2697480"/>
            <a:ext cx="2514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B5B7A"/>
                </a:solidFill>
                <a:latin typeface="Calibri"/>
              </a:rPr>
              <a:t>Benchmark: 2-9% - big gap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127248"/>
            <a:ext cx="54864" cy="685800"/>
          </a:xfrm>
          <a:prstGeom prst="rect">
            <a:avLst/>
          </a:prstGeom>
          <a:solidFill>
            <a:srgbClr val="443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12064" y="3127248"/>
            <a:ext cx="11192256" cy="685800"/>
          </a:xfrm>
          <a:prstGeom prst="rect">
            <a:avLst/>
          </a:prstGeom>
          <a:solidFill>
            <a:srgbClr val="EA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321868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1B4B"/>
                </a:solidFill>
                <a:latin typeface="Calibri"/>
              </a:rPr>
              <a:t>The gap is the click, not the impression. Communication blog: 50,748 impressions at position 8.9 but only 31 clicks (0.06% CTR). Rewriting titles and meta descriptions is Q3's fastest organic win - no new content needed.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931920"/>
            <a:ext cx="5486400" cy="2542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C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404164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1B4B"/>
                </a:solidFill>
                <a:latin typeface="Poppins"/>
              </a:rPr>
              <a:t>AI Search - Wellspring is already cited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4407408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43DCB"/>
                </a:solidFill>
                <a:latin typeface="Poppins"/>
              </a:rPr>
              <a:t>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7320" y="4462272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1B4B"/>
                </a:solidFill>
                <a:latin typeface="Poppins"/>
              </a:rPr>
              <a:t>AI citations (Semrush)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20" y="4700016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5B7A"/>
                </a:solidFill>
                <a:latin typeface="Calibri"/>
              </a:rPr>
              <a:t>ChatGPT, AI Overview/Mode, Gemini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5065776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43DCB"/>
                </a:solidFill>
                <a:latin typeface="Poppins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17320" y="5120640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1B4B"/>
                </a:solidFill>
                <a:latin typeface="Poppins"/>
              </a:rPr>
              <a:t>AI sessions (GA4)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5358384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5B7A"/>
                </a:solidFill>
                <a:latin typeface="Calibri"/>
              </a:rPr>
              <a:t>vs 0 in Q1 - first signals of AEO working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5724144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43DCB"/>
                </a:solidFill>
                <a:latin typeface="Poppins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17320" y="5779008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1B4B"/>
                </a:solidFill>
                <a:latin typeface="Poppins"/>
              </a:rPr>
              <a:t>AI Visibility Score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20" y="6016752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5B7A"/>
                </a:solidFill>
                <a:latin typeface="Calibri"/>
              </a:rPr>
              <a:t>Semrush benchmark - room to grow to 30+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3931920"/>
            <a:ext cx="5303520" cy="2542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C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5080" y="404164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1B4B"/>
                </a:solidFill>
                <a:latin typeface="Poppins"/>
              </a:rPr>
              <a:t>What was done in Q2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438912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1B4B"/>
                </a:solidFill>
                <a:latin typeface="Poppins"/>
              </a:rPr>
              <a:t>📍 GMB Optimisation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46451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B5B7A"/>
                </a:solidFill>
                <a:latin typeface="Calibri"/>
              </a:rPr>
              <a:t>Profile fully completed - Troy + Clinton Township. Eligible for local pack.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5080" y="513892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1B4B"/>
                </a:solidFill>
                <a:latin typeface="Poppins"/>
              </a:rPr>
              <a:t>📄 On-Page SEO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5080" y="5394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B5B7A"/>
                </a:solidFill>
                <a:latin typeface="Calibri"/>
              </a:rPr>
              <a:t>Core service pages optimised for local intent. Title tags and meta improved.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55080" y="5888736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1B4B"/>
                </a:solidFill>
                <a:latin typeface="Poppins"/>
              </a:rPr>
              <a:t>⚙️ Technical SEO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5080" y="614476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B5B7A"/>
                </a:solidFill>
                <a:latin typeface="Calibri"/>
              </a:rPr>
              <a:t>Site speed, mobile, structured data (LocalBusiness schema). Foundation is clean.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7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620256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5B7A"/>
                </a:solidFill>
                <a:latin typeface="Calibri"/>
              </a:rPr>
              <a:t>Damco Digital  .  Wellspring Therapeutic Partners  .  Q2 2026  .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6202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443DCB"/>
                </a:solidFill>
                <a:latin typeface="Poppins"/>
              </a:rPr>
              <a:t>11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56032"/>
            <a:ext cx="365760" cy="365760"/>
          </a:xfrm>
          <a:prstGeom prst="rect">
            <a:avLst/>
          </a:prstGeom>
          <a:solidFill>
            <a:srgbClr val="443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oppins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9260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43DCB"/>
                </a:solidFill>
                <a:latin typeface="Poppins"/>
              </a:rPr>
              <a:t>PAID MEDIA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1B4B"/>
                </a:solidFill>
                <a:latin typeface="Poppins"/>
              </a:rPr>
              <a:t>The campaigns that drive consultation bookings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61872"/>
            <a:ext cx="11247120" cy="18288"/>
          </a:xfrm>
          <a:prstGeom prst="rect">
            <a:avLst/>
          </a:prstGeom>
          <a:solidFill>
            <a:srgbClr val="D0C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3547872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C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54864" cy="1554480"/>
          </a:xfrm>
          <a:prstGeom prst="rect">
            <a:avLst/>
          </a:prstGeom>
          <a:solidFill>
            <a:srgbClr val="443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527048"/>
            <a:ext cx="33192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B5B7A"/>
                </a:solidFill>
                <a:latin typeface="Poppins"/>
              </a:rPr>
              <a:t>Q2 TOTAL SPEND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709928"/>
            <a:ext cx="3319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1B4B"/>
                </a:solidFill>
                <a:latin typeface="Poppins"/>
              </a:rPr>
              <a:t>$5,983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697480"/>
            <a:ext cx="33192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B5B7A"/>
                </a:solidFill>
                <a:latin typeface="Calibri"/>
              </a:rPr>
              <a:t>Apr 1-Jun 30 (API verified)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0520" y="1417320"/>
            <a:ext cx="3547872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C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60520" y="1417320"/>
            <a:ext cx="54864" cy="1554480"/>
          </a:xfrm>
          <a:prstGeom prst="rect">
            <a:avLst/>
          </a:prstGeom>
          <a:solidFill>
            <a:srgbClr val="7B6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527048"/>
            <a:ext cx="33192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B5B7A"/>
                </a:solidFill>
                <a:latin typeface="Poppins"/>
              </a:rPr>
              <a:t>GOOGLE CRM LEADS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1709928"/>
            <a:ext cx="3319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1B4B"/>
                </a:solidFill>
                <a:latin typeface="Poppins"/>
              </a:rPr>
              <a:t>87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2697480"/>
            <a:ext cx="33192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B5B7A"/>
                </a:solidFill>
                <a:latin typeface="Calibri"/>
              </a:rPr>
              <a:t>Paid search leads 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1417320"/>
            <a:ext cx="3749039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C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1417320"/>
            <a:ext cx="54864" cy="1554480"/>
          </a:xfrm>
          <a:prstGeom prst="rect">
            <a:avLst/>
          </a:prstGeom>
          <a:solidFill>
            <a:srgbClr val="2C2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1000" y="1527048"/>
            <a:ext cx="3520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B5B7A"/>
                </a:solidFill>
                <a:latin typeface="Poppins"/>
              </a:rPr>
              <a:t>BEST WEEK CPL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1709928"/>
            <a:ext cx="35204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1B4B"/>
                </a:solidFill>
                <a:latin typeface="Poppins"/>
              </a:rPr>
              <a:t>$49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2697480"/>
            <a:ext cx="35204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B5B7A"/>
                </a:solidFill>
                <a:latin typeface="Calibri"/>
              </a:rPr>
              <a:t>Jun 14-21 - 67% sched.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127248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1B4B"/>
                </a:solidFill>
                <a:latin typeface="Poppins"/>
              </a:rPr>
              <a:t>Campaign efficiency (API verified)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456432"/>
            <a:ext cx="3547872" cy="2578608"/>
          </a:xfrm>
          <a:prstGeom prst="rect">
            <a:avLst/>
          </a:prstGeom>
          <a:solidFill>
            <a:srgbClr val="E8F5EC"/>
          </a:solidFill>
          <a:ln w="6350">
            <a:solidFill>
              <a:srgbClr val="D0C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456432"/>
            <a:ext cx="3547872" cy="4572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3566160"/>
            <a:ext cx="3273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1B4B"/>
                </a:solidFill>
                <a:latin typeface="Poppins"/>
              </a:rPr>
              <a:t>DSA - Dynamic Search Ads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3931920"/>
            <a:ext cx="3273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5B7A"/>
                </a:solidFill>
                <a:latin typeface="Calibri"/>
              </a:rPr>
              <a:t>26% of spend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4343400"/>
            <a:ext cx="3273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5B7A"/>
                </a:solidFill>
                <a:latin typeface="Calibri"/>
              </a:rPr>
              <a:t>$2.78/click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754880"/>
            <a:ext cx="3273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5B7A"/>
                </a:solidFill>
                <a:latin typeface="Calibri"/>
              </a:rPr>
              <a:t>$67 platform CPL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669280"/>
            <a:ext cx="3273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7D4F"/>
                </a:solidFill>
                <a:latin typeface="Poppins"/>
              </a:rPr>
              <a:t>Most efficient - needs more budget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39" y="3456432"/>
            <a:ext cx="3547872" cy="2578608"/>
          </a:xfrm>
          <a:prstGeom prst="rect">
            <a:avLst/>
          </a:prstGeom>
          <a:solidFill>
            <a:srgbClr val="EAE8FF"/>
          </a:solidFill>
          <a:ln w="6350">
            <a:solidFill>
              <a:srgbClr val="D0C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06239" y="3456432"/>
            <a:ext cx="3547872" cy="45720"/>
          </a:xfrm>
          <a:prstGeom prst="rect">
            <a:avLst/>
          </a:prstGeom>
          <a:solidFill>
            <a:srgbClr val="C98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399" y="3566160"/>
            <a:ext cx="3273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1B4B"/>
                </a:solidFill>
                <a:latin typeface="Poppins"/>
              </a:rPr>
              <a:t>Generic Search + Broad Match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399" y="3931920"/>
            <a:ext cx="3273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5B7A"/>
                </a:solidFill>
                <a:latin typeface="Calibri"/>
              </a:rPr>
              <a:t>71% of spend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43399" y="4343400"/>
            <a:ext cx="3273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5B7A"/>
                </a:solidFill>
                <a:latin typeface="Calibri"/>
              </a:rPr>
              <a:t>$4.73-6.79/click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43399" y="4754880"/>
            <a:ext cx="3273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5B7A"/>
                </a:solidFill>
                <a:latin typeface="Calibri"/>
              </a:rPr>
              <a:t>$117-120 platform CPL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399" y="5669280"/>
            <a:ext cx="3273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882A"/>
                </a:solidFill>
                <a:latin typeface="Poppins"/>
              </a:rPr>
              <a:t>Less efficient - Q3 rebalance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55278" y="3456432"/>
            <a:ext cx="3547872" cy="2578608"/>
          </a:xfrm>
          <a:prstGeom prst="rect">
            <a:avLst/>
          </a:prstGeom>
          <a:solidFill>
            <a:srgbClr val="EAE8FF"/>
          </a:solidFill>
          <a:ln w="6350">
            <a:solidFill>
              <a:srgbClr val="D0C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55278" y="3456432"/>
            <a:ext cx="3547872" cy="45720"/>
          </a:xfrm>
          <a:prstGeom prst="rect">
            <a:avLst/>
          </a:prstGeom>
          <a:solidFill>
            <a:srgbClr val="7B6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92438" y="3566160"/>
            <a:ext cx="3273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1B4B"/>
                </a:solidFill>
                <a:latin typeface="Poppins"/>
              </a:rPr>
              <a:t>Regional Search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92438" y="3931920"/>
            <a:ext cx="3273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5B7A"/>
                </a:solidFill>
                <a:latin typeface="Calibri"/>
              </a:rPr>
              <a:t>3.5% of spend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92438" y="4343400"/>
            <a:ext cx="3273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5B7A"/>
                </a:solidFill>
                <a:latin typeface="Calibri"/>
              </a:rPr>
              <a:t>$5.16/click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92438" y="4754880"/>
            <a:ext cx="3273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5B7A"/>
                </a:solidFill>
                <a:latin typeface="Calibri"/>
              </a:rPr>
              <a:t>$211 platform CPL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92438" y="5669280"/>
            <a:ext cx="3273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B6FF0"/>
                </a:solidFill>
                <a:latin typeface="Poppins"/>
              </a:rPr>
              <a:t>Test campaign - review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6035040"/>
            <a:ext cx="54864" cy="457200"/>
          </a:xfrm>
          <a:prstGeom prst="rect">
            <a:avLst/>
          </a:prstGeom>
          <a:solidFill>
            <a:srgbClr val="443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12064" y="6035040"/>
            <a:ext cx="11192256" cy="457200"/>
          </a:xfrm>
          <a:prstGeom prst="rect">
            <a:avLst/>
          </a:prstGeom>
          <a:solidFill>
            <a:srgbClr val="EA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1792" y="6126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1B4B"/>
                </a:solidFill>
                <a:latin typeface="Calibri"/>
              </a:rPr>
              <a:t>DSA delivered $67 platform CPL vs $117-120 for Generic Search. It received only 26% of budget. Shifting to a 70/30 DSA-led split in Q3 is the highest-ROI change available. A Google Display retry follows with improved creative.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7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620256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5B7A"/>
                </a:solidFill>
                <a:latin typeface="Calibri"/>
              </a:rPr>
              <a:t>Damco Digital  .  Wellspring Therapeutic Partners  .  Q2 2026  .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6202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443DCB"/>
                </a:solidFill>
                <a:latin typeface="Poppins"/>
              </a:rPr>
              <a:t>12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56032"/>
            <a:ext cx="365760" cy="365760"/>
          </a:xfrm>
          <a:prstGeom prst="rect">
            <a:avLst/>
          </a:prstGeom>
          <a:solidFill>
            <a:srgbClr val="443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oppins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9260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43DCB"/>
                </a:solidFill>
                <a:latin typeface="Poppins"/>
              </a:rPr>
              <a:t>MEASUREMENTS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1B4B"/>
                </a:solidFill>
                <a:latin typeface="Poppins"/>
              </a:rPr>
              <a:t>Q3 KPIs and what success looks like by September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61872"/>
            <a:ext cx="11247120" cy="18288"/>
          </a:xfrm>
          <a:prstGeom prst="rect">
            <a:avLst/>
          </a:prstGeom>
          <a:solidFill>
            <a:srgbClr val="D0C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417320"/>
          <a:ext cx="822960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011680"/>
                <a:gridCol w="2103120"/>
              </a:tblGrid>
              <a:tr h="5435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Poppins"/>
                        </a:rPr>
                        <a:t>Metric</a:t>
                      </a:r>
                    </a:p>
                  </a:txBody>
                  <a:tcPr>
                    <a:solidFill>
                      <a:srgbClr val="443D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oppins"/>
                        </a:rPr>
                        <a:t>Q2 End</a:t>
                      </a:r>
                    </a:p>
                  </a:txBody>
                  <a:tcPr>
                    <a:solidFill>
                      <a:srgbClr val="443D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oppins"/>
                        </a:rPr>
                        <a:t>Q3 Target</a:t>
                      </a:r>
                    </a:p>
                  </a:txBody>
                  <a:tcPr>
                    <a:solidFill>
                      <a:srgbClr val="443DCB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B4B"/>
                          </a:solidFill>
                          <a:latin typeface="Poppins"/>
                        </a:rPr>
                        <a:t>Google CRM CPL (avg)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B5B7A"/>
                          </a:solidFill>
                          <a:latin typeface="Poppins"/>
                        </a:rPr>
                        <a:t>~$69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3DCB"/>
                          </a:solidFill>
                          <a:latin typeface="Poppins"/>
                        </a:rPr>
                        <a:t>&lt;$55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B4B"/>
                          </a:solidFill>
                          <a:latin typeface="Poppins"/>
                        </a:rPr>
                        <a:t>Google scheduling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B5B7A"/>
                          </a:solidFill>
                          <a:latin typeface="Poppins"/>
                        </a:rPr>
                        <a:t>49% avg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3DCB"/>
                          </a:solidFill>
                          <a:latin typeface="Poppins"/>
                        </a:rPr>
                        <a:t>55%+ consistently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B4B"/>
                          </a:solidFill>
                          <a:latin typeface="Poppins"/>
                        </a:rPr>
                        <a:t>Google CRM leads / week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B5B7A"/>
                          </a:solidFill>
                          <a:latin typeface="Poppins"/>
                        </a:rPr>
                        <a:t>8-12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3DCB"/>
                          </a:solidFill>
                          <a:latin typeface="Poppins"/>
                        </a:rPr>
                        <a:t>12-15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B4B"/>
                          </a:solidFill>
                          <a:latin typeface="Poppins"/>
                        </a:rPr>
                        <a:t>Platform CPL (Google Ads)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B5B7A"/>
                          </a:solidFill>
                          <a:latin typeface="Poppins"/>
                        </a:rPr>
                        <a:t>~$100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3DCB"/>
                          </a:solidFill>
                          <a:latin typeface="Poppins"/>
                        </a:rPr>
                        <a:t>&lt;$80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B4B"/>
                          </a:solidFill>
                          <a:latin typeface="Poppins"/>
                        </a:rPr>
                        <a:t>Organic sessions (Q3)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B5B7A"/>
                          </a:solidFill>
                          <a:latin typeface="Poppins"/>
                        </a:rPr>
                        <a:t>1,297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3DCB"/>
                          </a:solidFill>
                          <a:latin typeface="Poppins"/>
                        </a:rPr>
                        <a:t>1,400-1,800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B4B"/>
                          </a:solidFill>
                          <a:latin typeface="Poppins"/>
                        </a:rPr>
                        <a:t>AI citations (Semrush)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B5B7A"/>
                          </a:solidFill>
                          <a:latin typeface="Poppins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3DCB"/>
                          </a:solidFill>
                          <a:latin typeface="Poppins"/>
                        </a:rPr>
                        <a:t>30+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B4B"/>
                          </a:solidFill>
                          <a:latin typeface="Poppins"/>
                        </a:rPr>
                        <a:t>GSC CTR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B5B7A"/>
                          </a:solidFill>
                          <a:latin typeface="Poppins"/>
                        </a:rPr>
                        <a:t>0.61%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3DCB"/>
                          </a:solidFill>
                          <a:latin typeface="Poppins"/>
                        </a:rPr>
                        <a:t>0.8%+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E1B4B"/>
                          </a:solidFill>
                          <a:latin typeface="Poppins"/>
                        </a:rPr>
                        <a:t>Total CRM consultations</a:t>
                      </a:r>
                    </a:p>
                  </a:txBody>
                  <a:tcPr>
                    <a:solidFill>
                      <a:srgbClr val="EA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5B5B7A"/>
                          </a:solidFill>
                          <a:latin typeface="Poppins"/>
                        </a:rPr>
                        <a:t>192</a:t>
                      </a:r>
                    </a:p>
                  </a:txBody>
                  <a:tcPr>
                    <a:solidFill>
                      <a:srgbClr val="EA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443DCB"/>
                          </a:solidFill>
                          <a:latin typeface="Poppins"/>
                        </a:rPr>
                        <a:t>220+</a:t>
                      </a:r>
                    </a:p>
                  </a:txBody>
                  <a:tcPr>
                    <a:solidFill>
                      <a:srgbClr val="EAE8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8961120" y="1417320"/>
            <a:ext cx="2743200" cy="23774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5544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Poppins"/>
              </a:rPr>
              <a:t>MID-QUARTER
CHECK-IN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214884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7C4F8"/>
                </a:solidFill>
                <a:latin typeface="Calibri"/>
              </a:rPr>
              <a:t>We review at 6 weeks (early August) and adjust before the quarter ends - not after.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3931920"/>
            <a:ext cx="2743200" cy="2377440"/>
          </a:xfrm>
          <a:prstGeom prst="rect">
            <a:avLst/>
          </a:prstGeom>
          <a:solidFill>
            <a:srgbClr val="EAE8FF"/>
          </a:solidFill>
          <a:ln w="6350">
            <a:solidFill>
              <a:srgbClr val="D0C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4041648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1B4B"/>
                </a:solidFill>
                <a:latin typeface="Poppins"/>
              </a:rPr>
              <a:t>What success is NOT: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4315968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B5B7A"/>
                </a:solidFill>
                <a:latin typeface="Calibri"/>
              </a:rPr>
              <a:t>High spend. High clicks. High impressions.
Success is more patients booked at a lower cost to the practice.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0" y="-457200"/>
            <a:ext cx="4572000" cy="4572000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2743200"/>
            <a:ext cx="3657600" cy="5486400"/>
          </a:xfrm>
          <a:prstGeom prst="rect">
            <a:avLst/>
          </a:prstGeom>
          <a:solidFill>
            <a:srgbClr val="221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41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20256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A5790"/>
                </a:solidFill>
                <a:latin typeface="Calibri"/>
              </a:rPr>
              <a:t>Damco Digital  .  Wellspring Therapeutic Partners  .  Q2 2026  .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6202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443DCB"/>
                </a:solidFill>
                <a:latin typeface="Poppins"/>
              </a:rPr>
              <a:t>06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56032"/>
            <a:ext cx="365760" cy="365760"/>
          </a:xfrm>
          <a:prstGeom prst="rect">
            <a:avLst/>
          </a:prstGeom>
          <a:solidFill>
            <a:srgbClr val="443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926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oppins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2608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7C4F8"/>
                </a:solidFill>
                <a:latin typeface="Poppins"/>
              </a:rPr>
              <a:t>POSITIONING STATEMENT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822960"/>
            <a:ext cx="54864" cy="1691640"/>
          </a:xfrm>
          <a:prstGeom prst="rect">
            <a:avLst/>
          </a:prstGeom>
          <a:solidFill>
            <a:srgbClr val="443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82296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Poppins"/>
              </a:rPr>
              <a:t>The Southeast Michigan practice
that meets patients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920240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1">
                <a:solidFill>
                  <a:srgbClr val="C7C4F8"/>
                </a:solidFill>
                <a:latin typeface="Poppins"/>
              </a:rPr>
              <a:t>where they are.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633472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5A3E0"/>
                </a:solidFill>
                <a:latin typeface="Poppins"/>
              </a:rPr>
              <a:t>Before the search. During the search. When they are ready to act.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27248"/>
            <a:ext cx="11247120" cy="18288"/>
          </a:xfrm>
          <a:prstGeom prst="rect">
            <a:avLst/>
          </a:prstGeom>
          <a:solidFill>
            <a:srgbClr val="3A3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273552"/>
            <a:ext cx="3547872" cy="2971800"/>
          </a:xfrm>
          <a:prstGeom prst="rect">
            <a:avLst/>
          </a:prstGeom>
          <a:solidFill>
            <a:srgbClr val="282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273552"/>
            <a:ext cx="3547872" cy="45720"/>
          </a:xfrm>
          <a:prstGeom prst="rect">
            <a:avLst/>
          </a:prstGeom>
          <a:solidFill>
            <a:srgbClr val="443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383280"/>
            <a:ext cx="32186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43DCB"/>
                </a:solidFill>
                <a:latin typeface="Poppins"/>
              </a:rPr>
              <a:t>WHO WE'RE FOR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3657600"/>
            <a:ext cx="32186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Poppins"/>
              </a:rPr>
              <a:t>Working adults in Southeast Michigan dealing with anxiety, depression, ADHD, and life transitions.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4389120"/>
            <a:ext cx="321868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7C4F8"/>
                </a:solidFill>
                <a:latin typeface="Calibri"/>
              </a:rPr>
              <a:t>People who need real help — not a three-week waitlist and a PDF of coping strategies.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9664" y="3273552"/>
            <a:ext cx="3547872" cy="2971800"/>
          </a:xfrm>
          <a:prstGeom prst="rect">
            <a:avLst/>
          </a:prstGeom>
          <a:solidFill>
            <a:srgbClr val="282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69664" y="3273552"/>
            <a:ext cx="3547872" cy="45720"/>
          </a:xfrm>
          <a:prstGeom prst="rect">
            <a:avLst/>
          </a:prstGeom>
          <a:solidFill>
            <a:srgbClr val="7B6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34256" y="3383280"/>
            <a:ext cx="32186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B6FF0"/>
                </a:solidFill>
                <a:latin typeface="Poppins"/>
              </a:rPr>
              <a:t>WHAT WE OFFER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34256" y="3657600"/>
            <a:ext cx="32186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Poppins"/>
              </a:rPr>
              <a:t>Fast access to therapy, medication management, and ADHD testing — under one roof, within 48 hours.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34256" y="4389120"/>
            <a:ext cx="321868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7C4F8"/>
                </a:solidFill>
                <a:latin typeface="Calibri"/>
              </a:rPr>
              <a:t>Covered by BCBS, BCN, Aetna, Priority Health, McLaren, and Tricare. Two Michigan locations.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8" y="3273552"/>
            <a:ext cx="3547872" cy="2971800"/>
          </a:xfrm>
          <a:prstGeom prst="rect">
            <a:avLst/>
          </a:prstGeom>
          <a:solidFill>
            <a:srgbClr val="282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82128" y="3273552"/>
            <a:ext cx="3547872" cy="45720"/>
          </a:xfrm>
          <a:prstGeom prst="rect">
            <a:avLst/>
          </a:prstGeom>
          <a:solidFill>
            <a:srgbClr val="5A5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0" y="3383280"/>
            <a:ext cx="32186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A54D8"/>
                </a:solidFill>
                <a:latin typeface="Poppins"/>
              </a:rPr>
              <a:t>WHY WE WIN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3657600"/>
            <a:ext cx="32186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Poppins"/>
              </a:rPr>
              <a:t>We show up at every stage of the patient journey — on Instagram before they know they need us, on Google when they're searching.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4389120"/>
            <a:ext cx="321868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7C4F8"/>
                </a:solidFill>
                <a:latin typeface="Calibri"/>
              </a:rPr>
              <a:t>When they're ready to call, Wellspring is already a name they recognise.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