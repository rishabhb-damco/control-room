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548640"/>
            <a:ext cx="5669280" cy="5669280"/>
          </a:xfrm>
          <a:prstGeom prst="ellipse">
            <a:avLst/>
          </a:prstGeom>
          <a:solidFill>
            <a:srgbClr val="C9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18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1E2E"/>
                </a:solidFill>
                <a:latin typeface="Calibri"/>
              </a:rPr>
              <a:t>Damco Digital × Wellspring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4B3BC8"/>
                </a:solidFill>
                <a:latin typeface="Arial Black"/>
              </a:rPr>
              <a:t>Local Service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Calibri"/>
              </a:rPr>
              <a:t>Q3 2026 Experiment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33087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Wellspring Therapeutic Partners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What Are Local Service Ads?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A Google product built specifically for service businesses — completely separate from regular Search 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00200"/>
            <a:ext cx="33467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  <a:latin typeface="Calibri"/>
              </a:rPr>
              <a:t>Appear ABOVE all regular Search Ads and organic results.
True position zero — the first thing a user sees.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005840"/>
            <a:ext cx="36576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033271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PAYMENT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00200"/>
            <a:ext cx="33467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  <a:latin typeface="Calibri"/>
              </a:rPr>
              <a:t>Pay per lead (call or message received), not per click.
No budget wasted on people who click and leave.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005840"/>
            <a:ext cx="365760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033271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TRUST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600200"/>
            <a:ext cx="33467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  <a:latin typeface="Calibri"/>
              </a:rPr>
              <a:t>"Google Screened" badge shown on the profile.
Google verifies business licence, insurance, and practitioner background.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89320"/>
            <a:ext cx="91440" cy="54864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6062472"/>
            <a:ext cx="1175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3BC8"/>
                </a:solidFill>
                <a:latin typeface="Calibri"/>
              </a:rPr>
              <a:t>Key difference from what you run today: Wellspring pays only when someone actually calls or messages — not just for ad impressions or clicks.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LSAs vs. Your Current Google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How Local Service Ads differ from the Generic Search and DSA campaigns running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914400"/>
          <a:ext cx="112014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343400"/>
                <a:gridCol w="4343400"/>
              </a:tblGrid>
              <a:tr h="619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6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Generic Search + DSA (current)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Local Service Ads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You pay for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Every click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Calls + messages only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Ad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Below LSAs on the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Above everything — position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Keyword control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Full — you bid on specific keywords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None — Google matches by category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Ad creative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Headlines, descriptions,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Your business profile (name, reviews, phone)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Budget structure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Daily budget, full CPC control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Weekly budget, no CPC bidding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Managed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Google Ads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Separate LSA app /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Trust signal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"Google Screened" badge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Invalid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Cannot dispute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Dispute within 30 days for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Five steps from account creation to first live lead — allow 2–4 weeks for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133856"/>
            <a:ext cx="365760" cy="365760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499616"/>
            <a:ext cx="54864" cy="512064"/>
          </a:xfrm>
          <a:prstGeom prst="rect">
            <a:avLst/>
          </a:prstGeom>
          <a:solidFill>
            <a:srgbClr val="C9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  <a:latin typeface="Calibri"/>
              </a:rPr>
              <a:t>Create the LSA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Go to ads.google.com/local-services-ads. Separate from Google Ads but linked. Takes ~15 minutes to register.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194560"/>
            <a:ext cx="365760" cy="365760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60320"/>
            <a:ext cx="54864" cy="512064"/>
          </a:xfrm>
          <a:prstGeom prst="rect">
            <a:avLst/>
          </a:prstGeom>
          <a:solidFill>
            <a:srgbClr val="C9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84831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  <a:latin typeface="Calibri"/>
              </a:rPr>
              <a:t>Build the Business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432303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Set business name, addresses (Troy + Clinton Twp), phone, hours, and service category: "Therapist" or "Mental Health Counselor".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25526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369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54864" cy="512064"/>
          </a:xfrm>
          <a:prstGeom prst="rect">
            <a:avLst/>
          </a:prstGeom>
          <a:solidFill>
            <a:srgbClr val="C9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1455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  <a:latin typeface="Calibri"/>
              </a:rPr>
              <a:t>Complete Verification  (2–4 weeks)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930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Upload business licence, professional liability insurance, and submit practitioners for background checks. Google uses a third-party verifier.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31596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81728"/>
            <a:ext cx="54864" cy="512064"/>
          </a:xfrm>
          <a:prstGeom prst="rect">
            <a:avLst/>
          </a:prstGeom>
          <a:solidFill>
            <a:srgbClr val="C9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062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  <a:latin typeface="Calibri"/>
              </a:rPr>
              <a:t>Set Weekly Budget &amp;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537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Set a weekly lead volume target or spend cap. Also set your lead acceptance hours (e.g. Mon–Fri 9am–6pm). Leads outside hours are not charged.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5376672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583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6694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  <a:latin typeface="Calibri"/>
              </a:rPr>
              <a:t>Go Live — Manage Leads Daily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1441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Calls arrive via Google forwarding number (recorded). Messages via the LSA app. Mark each lead: Booked / Not a Fit. Dispute invalid leads within 30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Eligibility for Wellspring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What qualifies, what does not, and what needs confirmation before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394960" cy="36576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99669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✓  ELIGIBLE FOR LSAs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39496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91440" cy="100584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087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3BC8"/>
                </a:solidFill>
                <a:latin typeface="Calibri"/>
              </a:rPr>
              <a:t>Therapy &amp; Counselling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28800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Both "Mental Health Counselor" and "Therapist" are supported LSA categories in Michigan.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32888"/>
            <a:ext cx="539496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32888"/>
            <a:ext cx="91440" cy="100584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62432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3BC8"/>
                </a:solidFill>
                <a:latin typeface="Calibri"/>
              </a:rPr>
              <a:t>Troy + Clinton Township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944368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Both Michigan metro service areas are fully covered by LSA geo-targeting.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48456"/>
            <a:ext cx="539496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48456"/>
            <a:ext cx="91440" cy="100584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3989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3BC8"/>
                </a:solidFill>
                <a:latin typeface="Calibri"/>
              </a:rPr>
              <a:t>Private practice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59936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Appointment-based service businesses are the exact use case LSAs were built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64024"/>
            <a:ext cx="539496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764024"/>
            <a:ext cx="91440" cy="100584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85546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3BC8"/>
                </a:solidFill>
                <a:latin typeface="Calibri"/>
              </a:rPr>
              <a:t>"Google Screened" badge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75504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Available after licence + insurance + background check verification is complete.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960120"/>
            <a:ext cx="53949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99669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GREY AREA / 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417320"/>
            <a:ext cx="539496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417320"/>
            <a:ext cx="91440" cy="1371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5270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Medication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874519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Prescribing/NP services sit in a restricted healthcare sub-category. LSA profile should be set under therapy 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98648"/>
            <a:ext cx="5394960" cy="1371600"/>
          </a:xfrm>
          <a:prstGeom prst="rect">
            <a:avLst/>
          </a:prstGeom>
          <a:solidFill>
            <a:srgbClr val="F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898648"/>
            <a:ext cx="9144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00837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No keyword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355848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Cannot exclude terms the way you do in Search. Google decides which queries trigger the LSA profile.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79976"/>
            <a:ext cx="5394960" cy="1371600"/>
          </a:xfrm>
          <a:prstGeom prst="rect">
            <a:avLst/>
          </a:prstGeom>
          <a:solidFill>
            <a:srgbClr val="F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379976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8970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Reviews are 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837176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LSA ranking is heavily review-driven. Wellspring currently has near-zero reviews. This is the biggest launch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Budget &amp; Engagement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Estimated impact at $350/month — framed as engagement (impressions + leads), not conversions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2606040" cy="36576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98755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MONTHLY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17320"/>
            <a:ext cx="2395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B3BC8"/>
                </a:solidFill>
                <a:latin typeface="Arial Black"/>
              </a:rPr>
              <a:t>$350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960120"/>
            <a:ext cx="260604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98755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IMPRESSIONS /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32588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2395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Arial Black"/>
              </a:rPr>
              <a:t>4K–8K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960120"/>
            <a:ext cx="260604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98755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COST PER LEAD (LSA AVG)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132588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417320"/>
            <a:ext cx="2395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Arial Black"/>
              </a:rPr>
              <a:t>$15–$30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960120"/>
            <a:ext cx="26060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98755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LEADS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1976" y="132588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1417320"/>
            <a:ext cx="2395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Arial Black"/>
              </a:rPr>
              <a:t>12–23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23160"/>
            <a:ext cx="11201400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4597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Impressions &amp; Reach: LSAs vs Current Campaigns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834640"/>
          <a:ext cx="11201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920240"/>
                <a:gridCol w="2651760"/>
                <a:gridCol w="2286000"/>
                <a:gridCol w="1828800"/>
              </a:tblGrid>
              <a:tr h="8343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Weekly Budget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Est. Impressions / Week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CTR</a:t>
                      </a:r>
                    </a:p>
                  </a:txBody>
                  <a:tcPr>
                    <a:solidFill>
                      <a:srgbClr val="4B3BC8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Generic Search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$363–$699 / week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~800–1,400 impr. / week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Pay per click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4–6% CTR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DSA Campaign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Included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~700–1,100 impr. /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Pay per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6–9%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B3BC8"/>
                          </a:solidFill>
                          <a:latin typeface="Calibri"/>
                        </a:rPr>
                        <a:t>LSAs (projected at $350/mo)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$87.50 / week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~1,000–2,000 impr. / week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Pay per lead (no CPC)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E2E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The Key Limitation: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LSA ranking is driven by Google review count and rating — this is where Wellspring has a structural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120140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32688"/>
            <a:ext cx="128016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⚠  LSAs without reviews are structurally weak. A user scans profile cards in under 3 seconds. If your card shows no reviews next to RCBM's 4.7★ / 2,273 reviews, they click RCBM.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1120140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9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a user sees when comparing LSA profiles searching for a therapist in Troy, 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112014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67712"/>
            <a:ext cx="109728" cy="12070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  <a:latin typeface="Calibri"/>
              </a:rPr>
              <a:t>Rochester Ctr for Behavioral Medicine (RCBM)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3BC8"/>
                </a:solidFill>
                <a:latin typeface="Calibri"/>
              </a:rPr>
              <a:t>4.7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95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2,273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432304"/>
            <a:ext cx="1005840" cy="274320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26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Well-established review presence — strong LSA competitor.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39312"/>
            <a:ext cx="112014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39312"/>
            <a:ext cx="109728" cy="1207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767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  <a:latin typeface="Calibri"/>
              </a:rPr>
              <a:t>Helios Psychiatry &amp; Counseling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67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4.3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67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205 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3803904"/>
            <a:ext cx="100584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38039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Well-established review presence — strong LSA competitor.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10912"/>
            <a:ext cx="112014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10912"/>
            <a:ext cx="109728" cy="1207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138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  <a:latin typeface="Calibri"/>
              </a:rPr>
              <a:t>Wellspring (current state)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38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No 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0 reviews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20" y="5175504"/>
            <a:ext cx="10058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5175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Reviews are the #1 LSA ranking and trust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Recommended Phased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Build the review foundation first, then activate LSAs at full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623560" cy="40233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1  |  June – July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62456"/>
            <a:ext cx="56235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B3BC8"/>
                </a:solidFill>
                <a:latin typeface="Calibri"/>
              </a:rPr>
              <a:t>Build the Review Foundation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2093976"/>
            <a:ext cx="128016" cy="128016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011679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Launch Google Review SMS/email programme (25 reviews in 90 days)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" y="2862072"/>
            <a:ext cx="128016" cy="128016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779775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Target: 15–20 reviews before LSA go-live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" y="3630168"/>
            <a:ext cx="128016" cy="128016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47872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Focus: post-appointment outreach by Wellspring front desk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" y="4398264"/>
            <a:ext cx="128016" cy="128016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315968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In parallel: Create LSA account + begin verification (takes 2–4 weeks)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" y="5166359"/>
            <a:ext cx="128016" cy="128016"/>
          </a:xfrm>
          <a:prstGeom prst="ellipse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08406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Pre-approve $350/month LSA budget, conditional on review milestone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960120"/>
            <a:ext cx="562356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0058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2  |  August 2026  (or when 15+ reviews reached)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62456"/>
            <a:ext cx="56235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1481328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Go Live on LSAs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2093976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2011679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Activate LSA campaign at $350/month</a:t>
            </a:r>
          </a:p>
        </p:txBody>
      </p:sp>
      <p:sp>
        <p:nvSpPr>
          <p:cNvPr id="28" name="Oval 27"/>
          <p:cNvSpPr/>
          <p:nvPr/>
        </p:nvSpPr>
        <p:spPr>
          <a:xfrm>
            <a:off x="6565392" y="2862072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779775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Service areas: Troy, MI + Clinton Township, MI</a:t>
            </a:r>
          </a:p>
        </p:txBody>
      </p:sp>
      <p:sp>
        <p:nvSpPr>
          <p:cNvPr id="30" name="Oval 29"/>
          <p:cNvSpPr/>
          <p:nvPr/>
        </p:nvSpPr>
        <p:spPr>
          <a:xfrm>
            <a:off x="6565392" y="3630168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547872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Category: Therapist / Mental Health Counselor</a:t>
            </a:r>
          </a:p>
        </p:txBody>
      </p:sp>
      <p:sp>
        <p:nvSpPr>
          <p:cNvPr id="32" name="Oval 31"/>
          <p:cNvSpPr/>
          <p:nvPr/>
        </p:nvSpPr>
        <p:spPr>
          <a:xfrm>
            <a:off x="6565392" y="4398264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315968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Manage leads via LSA app daily — dispute invalid leads within 30 days</a:t>
            </a:r>
          </a:p>
        </p:txBody>
      </p:sp>
      <p:sp>
        <p:nvSpPr>
          <p:cNvPr id="34" name="Oval 33"/>
          <p:cNvSpPr/>
          <p:nvPr/>
        </p:nvSpPr>
        <p:spPr>
          <a:xfrm>
            <a:off x="6565392" y="5166359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508406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Measure vs benchmark: 12–23 leads/month at $15–$30 CPL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CBF0"/>
                </a:solidFill>
                <a:latin typeface="Calibri"/>
              </a:rPr>
              <a:t>Three actions to progress this week — one Damco-owned, two Wellspring-owned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1168" y="649224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Copyright © 2025 Damco Group.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94360" cy="1627632"/>
          </a:xfrm>
          <a:prstGeom prst="rect">
            <a:avLst/>
          </a:prstGeom>
          <a:solidFill>
            <a:srgbClr val="4B3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99032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960120"/>
            <a:ext cx="1056132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52560" y="1088136"/>
            <a:ext cx="118872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0972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B3BC8"/>
                </a:solidFill>
                <a:latin typeface="Calibri"/>
              </a:rPr>
              <a:t>Owner: Damco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4432" y="1088136"/>
            <a:ext cx="128016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4432" y="10972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B3BC8"/>
                </a:solidFill>
                <a:latin typeface="Calibri"/>
              </a:rPr>
              <a:t>This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088136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3BC8"/>
                </a:solidFill>
                <a:latin typeface="Calibri"/>
              </a:rPr>
              <a:t>Start LSA Verification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1463040"/>
            <a:ext cx="102595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Create the LSA account at ads.google.com/local-services-ads. Begin uploading business licence and insurance documents. Verification takes 2–4 weeks — start the clock now regardless of review count, so the account is approved when Phase 2 is 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0632"/>
            <a:ext cx="594360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09544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2770632"/>
            <a:ext cx="1056132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898648"/>
            <a:ext cx="118872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90779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Owner: Wellspring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14432" y="2898648"/>
            <a:ext cx="128016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29077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This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2898648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Launch Google Review Programme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273552"/>
            <a:ext cx="102595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Activate post-appointment SMS/email outreach to collect reviews. Target: 25 reviews in 90 days, 15+ before LSA go-live. This is the single highest-impact action Wellspring can take right now — LSAs cannot rank competitively without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81144"/>
            <a:ext cx="594360" cy="16276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0056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581144"/>
            <a:ext cx="1056132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4709159"/>
            <a:ext cx="118872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71830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  <a:latin typeface="Calibri"/>
              </a:rPr>
              <a:t>Owner: Joint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14432" y="4709159"/>
            <a:ext cx="1280160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14432" y="471830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  <a:latin typeface="Calibri"/>
              </a:rPr>
              <a:t>Agree in next 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709159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Set the Go-Live Trigger (Budget Approval)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084064"/>
            <a:ext cx="102595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  <a:latin typeface="Calibri"/>
              </a:rPr>
              <a:t>Agree a milestone: when Wellspring reaches 15 Google reviews, go live on LSAs at $350/month. Document this as a conditional budget approval so there is no delay when the milestone is hit.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