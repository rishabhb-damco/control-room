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0"/>
            <a:ext cx="9144000" cy="274320"/>
          </a:xfrm>
          <a:prstGeom prst="rect">
            <a:avLst/>
          </a:prstGeom>
          <a:noFill/>
        </p:spPr>
        <p:txBody>
          <a:bodyPr wrap="square">
            <a:spAutoFit/>
          </a:bodyPr>
          <a:lstStyle/>
          <a:p>
            <a:pPr algn="l"/>
            <a:r>
              <a:rPr sz="900" b="1" i="0">
                <a:solidFill>
                  <a:srgbClr val="8AA8A4"/>
                </a:solidFill>
                <a:latin typeface="Calibri"/>
              </a:rPr>
              <a:t>DAMCO DIGITAL  .  WELLSPRING THERAPEUTIC PARTNERS</a:t>
            </a:r>
          </a:p>
        </p:txBody>
      </p:sp>
      <p:sp>
        <p:nvSpPr>
          <p:cNvPr id="4" name="TextBox 3"/>
          <p:cNvSpPr txBox="1"/>
          <p:nvPr/>
        </p:nvSpPr>
        <p:spPr>
          <a:xfrm>
            <a:off x="457200" y="1691640"/>
            <a:ext cx="7315200" cy="274320"/>
          </a:xfrm>
          <a:prstGeom prst="rect">
            <a:avLst/>
          </a:prstGeom>
          <a:noFill/>
        </p:spPr>
        <p:txBody>
          <a:bodyPr wrap="square">
            <a:spAutoFit/>
          </a:bodyPr>
          <a:lstStyle/>
          <a:p>
            <a:pPr algn="l"/>
            <a:r>
              <a:rPr sz="1000" b="1" i="0">
                <a:solidFill>
                  <a:srgbClr val="C9A84C"/>
                </a:solidFill>
                <a:latin typeface="Calibri"/>
              </a:rPr>
              <a:t>APRIL - JUNE 2026  .  CONFIDENTIAL</a:t>
            </a:r>
          </a:p>
        </p:txBody>
      </p:sp>
      <p:sp>
        <p:nvSpPr>
          <p:cNvPr id="5" name="TextBox 4"/>
          <p:cNvSpPr txBox="1"/>
          <p:nvPr/>
        </p:nvSpPr>
        <p:spPr>
          <a:xfrm>
            <a:off x="457200" y="2011680"/>
            <a:ext cx="9144000" cy="2926080"/>
          </a:xfrm>
          <a:prstGeom prst="rect">
            <a:avLst/>
          </a:prstGeom>
          <a:noFill/>
        </p:spPr>
        <p:txBody>
          <a:bodyPr wrap="square">
            <a:spAutoFit/>
          </a:bodyPr>
          <a:lstStyle/>
          <a:p>
            <a:pPr algn="l"/>
            <a:r>
              <a:rPr sz="6400" b="0" i="0">
                <a:solidFill>
                  <a:srgbClr val="F7F3EE"/>
                </a:solidFill>
                <a:latin typeface="Cormorant Garamond"/>
              </a:rPr>
              <a:t>Quarterly
Business
Review</a:t>
            </a:r>
          </a:p>
        </p:txBody>
      </p:sp>
      <p:sp>
        <p:nvSpPr>
          <p:cNvPr id="6" name="Rectangle 5"/>
          <p:cNvSpPr/>
          <p:nvPr/>
        </p:nvSpPr>
        <p:spPr>
          <a:xfrm>
            <a:off x="457200" y="5120640"/>
            <a:ext cx="109728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257800"/>
            <a:ext cx="8229600" cy="274320"/>
          </a:xfrm>
          <a:prstGeom prst="rect">
            <a:avLst/>
          </a:prstGeom>
          <a:noFill/>
        </p:spPr>
        <p:txBody>
          <a:bodyPr wrap="square">
            <a:spAutoFit/>
          </a:bodyPr>
          <a:lstStyle/>
          <a:p>
            <a:pPr algn="l"/>
            <a:r>
              <a:rPr sz="1300" b="0" i="0">
                <a:solidFill>
                  <a:srgbClr val="B0CAC6"/>
                </a:solidFill>
                <a:latin typeface="Calibri"/>
              </a:rPr>
              <a:t>Q2 2026  .  Performance . Insights . Q3 Strategy</a:t>
            </a:r>
          </a:p>
        </p:txBody>
      </p:sp>
      <p:sp>
        <p:nvSpPr>
          <p:cNvPr id="8" name="TextBox 7"/>
          <p:cNvSpPr txBox="1"/>
          <p:nvPr/>
        </p:nvSpPr>
        <p:spPr>
          <a:xfrm>
            <a:off x="457200" y="6309360"/>
            <a:ext cx="7315200" cy="274320"/>
          </a:xfrm>
          <a:prstGeom prst="rect">
            <a:avLst/>
          </a:prstGeom>
          <a:noFill/>
        </p:spPr>
        <p:txBody>
          <a:bodyPr wrap="square">
            <a:spAutoFit/>
          </a:bodyPr>
          <a:lstStyle/>
          <a:p>
            <a:pPr algn="l"/>
            <a:r>
              <a:rPr sz="900" b="0" i="0">
                <a:solidFill>
                  <a:srgbClr val="55706D"/>
                </a:solidFill>
                <a:latin typeface="Calibri"/>
              </a:rPr>
              <a:t>Prepared by Damco Digital  .  Date: 15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 - THE FRAME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What We Set Out to Do in Q2</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01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3730752" cy="21031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64008" cy="210312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45336"/>
            <a:ext cx="3364992" cy="219456"/>
          </a:xfrm>
          <a:prstGeom prst="rect">
            <a:avLst/>
          </a:prstGeom>
          <a:noFill/>
        </p:spPr>
        <p:txBody>
          <a:bodyPr wrap="square">
            <a:spAutoFit/>
          </a:bodyPr>
          <a:lstStyle/>
          <a:p>
            <a:pPr algn="l"/>
            <a:r>
              <a:rPr sz="750" b="1" i="0">
                <a:solidFill>
                  <a:srgbClr val="3D7A72"/>
                </a:solidFill>
                <a:latin typeface="Calibri"/>
              </a:rPr>
              <a:t>PRIMARY OBJECTIVE</a:t>
            </a:r>
          </a:p>
        </p:txBody>
      </p:sp>
      <p:sp>
        <p:nvSpPr>
          <p:cNvPr id="10" name="TextBox 9"/>
          <p:cNvSpPr txBox="1"/>
          <p:nvPr/>
        </p:nvSpPr>
        <p:spPr>
          <a:xfrm>
            <a:off x="640080" y="1764792"/>
            <a:ext cx="3364992" cy="457200"/>
          </a:xfrm>
          <a:prstGeom prst="rect">
            <a:avLst/>
          </a:prstGeom>
          <a:noFill/>
        </p:spPr>
        <p:txBody>
          <a:bodyPr wrap="square">
            <a:spAutoFit/>
          </a:bodyPr>
          <a:lstStyle/>
          <a:p>
            <a:pPr algn="l"/>
            <a:r>
              <a:rPr sz="1600" b="0" i="0">
                <a:solidFill>
                  <a:srgbClr val="1C1C1A"/>
                </a:solidFill>
                <a:latin typeface="Cormorant Garamond"/>
              </a:rPr>
              <a:t>Scale qualified lead volume</a:t>
            </a:r>
          </a:p>
        </p:txBody>
      </p:sp>
      <p:sp>
        <p:nvSpPr>
          <p:cNvPr id="11" name="TextBox 10"/>
          <p:cNvSpPr txBox="1"/>
          <p:nvPr/>
        </p:nvSpPr>
        <p:spPr>
          <a:xfrm>
            <a:off x="640080" y="2240280"/>
            <a:ext cx="3364992" cy="1188720"/>
          </a:xfrm>
          <a:prstGeom prst="rect">
            <a:avLst/>
          </a:prstGeom>
          <a:noFill/>
        </p:spPr>
        <p:txBody>
          <a:bodyPr wrap="square">
            <a:spAutoFit/>
          </a:bodyPr>
          <a:lstStyle/>
          <a:p>
            <a:pPr algn="l"/>
            <a:r>
              <a:rPr sz="1000" b="0" i="0">
                <a:solidFill>
                  <a:srgbClr val="6B6460"/>
                </a:solidFill>
                <a:latin typeface="Calibri"/>
              </a:rPr>
              <a:t>Grow the number of high-intent patients reaching out each week, without sacrificing lead quality.</a:t>
            </a:r>
          </a:p>
        </p:txBody>
      </p:sp>
      <p:sp>
        <p:nvSpPr>
          <p:cNvPr id="12" name="Rectangle 11"/>
          <p:cNvSpPr/>
          <p:nvPr/>
        </p:nvSpPr>
        <p:spPr>
          <a:xfrm>
            <a:off x="4370832" y="1417320"/>
            <a:ext cx="3730752" cy="21031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70832" y="1417320"/>
            <a:ext cx="64008" cy="210312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545336"/>
            <a:ext cx="3364992" cy="219456"/>
          </a:xfrm>
          <a:prstGeom prst="rect">
            <a:avLst/>
          </a:prstGeom>
          <a:noFill/>
        </p:spPr>
        <p:txBody>
          <a:bodyPr wrap="square">
            <a:spAutoFit/>
          </a:bodyPr>
          <a:lstStyle/>
          <a:p>
            <a:pPr algn="l"/>
            <a:r>
              <a:rPr sz="750" b="1" i="0">
                <a:solidFill>
                  <a:srgbClr val="C9882A"/>
                </a:solidFill>
                <a:latin typeface="Calibri"/>
              </a:rPr>
              <a:t>SUPPORTING OBJECTIVE</a:t>
            </a:r>
          </a:p>
        </p:txBody>
      </p:sp>
      <p:sp>
        <p:nvSpPr>
          <p:cNvPr id="15" name="TextBox 14"/>
          <p:cNvSpPr txBox="1"/>
          <p:nvPr/>
        </p:nvSpPr>
        <p:spPr>
          <a:xfrm>
            <a:off x="4553712" y="1764792"/>
            <a:ext cx="3364992" cy="457200"/>
          </a:xfrm>
          <a:prstGeom prst="rect">
            <a:avLst/>
          </a:prstGeom>
          <a:noFill/>
        </p:spPr>
        <p:txBody>
          <a:bodyPr wrap="square">
            <a:spAutoFit/>
          </a:bodyPr>
          <a:lstStyle/>
          <a:p>
            <a:pPr algn="l"/>
            <a:r>
              <a:rPr sz="1600" b="0" i="0">
                <a:solidFill>
                  <a:srgbClr val="1C1C1A"/>
                </a:solidFill>
                <a:latin typeface="Cormorant Garamond"/>
              </a:rPr>
              <a:t>Improve scheduling rate</a:t>
            </a:r>
          </a:p>
        </p:txBody>
      </p:sp>
      <p:sp>
        <p:nvSpPr>
          <p:cNvPr id="16" name="TextBox 15"/>
          <p:cNvSpPr txBox="1"/>
          <p:nvPr/>
        </p:nvSpPr>
        <p:spPr>
          <a:xfrm>
            <a:off x="4553712" y="2240280"/>
            <a:ext cx="3364992" cy="1188720"/>
          </a:xfrm>
          <a:prstGeom prst="rect">
            <a:avLst/>
          </a:prstGeom>
          <a:noFill/>
        </p:spPr>
        <p:txBody>
          <a:bodyPr wrap="square">
            <a:spAutoFit/>
          </a:bodyPr>
          <a:lstStyle/>
          <a:p>
            <a:pPr algn="l"/>
            <a:r>
              <a:rPr sz="1000" b="0" i="0">
                <a:solidFill>
                  <a:srgbClr val="6B6460"/>
                </a:solidFill>
                <a:latin typeface="Calibri"/>
              </a:rPr>
              <a:t>More leads only matters if they convert. The goal was better quality and faster follow-up, not just volume.</a:t>
            </a:r>
          </a:p>
        </p:txBody>
      </p:sp>
      <p:sp>
        <p:nvSpPr>
          <p:cNvPr id="17" name="Rectangle 16"/>
          <p:cNvSpPr/>
          <p:nvPr/>
        </p:nvSpPr>
        <p:spPr>
          <a:xfrm>
            <a:off x="457200" y="3749039"/>
            <a:ext cx="7818120" cy="20116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749039"/>
            <a:ext cx="64008" cy="201168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77055"/>
            <a:ext cx="7452360" cy="219456"/>
          </a:xfrm>
          <a:prstGeom prst="rect">
            <a:avLst/>
          </a:prstGeom>
          <a:noFill/>
        </p:spPr>
        <p:txBody>
          <a:bodyPr wrap="square">
            <a:spAutoFit/>
          </a:bodyPr>
          <a:lstStyle/>
          <a:p>
            <a:pPr algn="l"/>
            <a:r>
              <a:rPr sz="750" b="1" i="0">
                <a:solidFill>
                  <a:srgbClr val="C9A84C"/>
                </a:solidFill>
                <a:latin typeface="Calibri"/>
              </a:rPr>
              <a:t>THE APPROACH</a:t>
            </a:r>
          </a:p>
        </p:txBody>
      </p:sp>
      <p:sp>
        <p:nvSpPr>
          <p:cNvPr id="20" name="TextBox 19"/>
          <p:cNvSpPr txBox="1"/>
          <p:nvPr/>
        </p:nvSpPr>
        <p:spPr>
          <a:xfrm>
            <a:off x="640080" y="4096511"/>
            <a:ext cx="7452360" cy="457200"/>
          </a:xfrm>
          <a:prstGeom prst="rect">
            <a:avLst/>
          </a:prstGeom>
          <a:noFill/>
        </p:spPr>
        <p:txBody>
          <a:bodyPr wrap="square">
            <a:spAutoFit/>
          </a:bodyPr>
          <a:lstStyle/>
          <a:p>
            <a:pPr algn="l"/>
            <a:r>
              <a:rPr sz="1600" b="0" i="0">
                <a:solidFill>
                  <a:srgbClr val="1C1C1A"/>
                </a:solidFill>
                <a:latin typeface="Cormorant Garamond"/>
              </a:rPr>
              <a:t>One system. Three channels. Every stage of the patient journey.</a:t>
            </a:r>
          </a:p>
        </p:txBody>
      </p:sp>
      <p:sp>
        <p:nvSpPr>
          <p:cNvPr id="21" name="TextBox 20"/>
          <p:cNvSpPr txBox="1"/>
          <p:nvPr/>
        </p:nvSpPr>
        <p:spPr>
          <a:xfrm>
            <a:off x="640080" y="4571999"/>
            <a:ext cx="7452360" cy="1097280"/>
          </a:xfrm>
          <a:prstGeom prst="rect">
            <a:avLst/>
          </a:prstGeom>
          <a:noFill/>
        </p:spPr>
        <p:txBody>
          <a:bodyPr wrap="square">
            <a:spAutoFit/>
          </a:bodyPr>
          <a:lstStyle/>
          <a:p>
            <a:pPr algn="l"/>
            <a:r>
              <a:rPr sz="1000" b="0" i="0">
                <a:solidFill>
                  <a:srgbClr val="6B6460"/>
                </a:solidFill>
                <a:latin typeface="Calibri"/>
              </a:rPr>
              <a:t>Q2 was about building the full patient acquisition system - Google Ads for search intent, SEO for organic presence, and Instagram for awareness. Every piece serves a single goal: more qualified patients at a sustainable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2A"/>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C9A84C"/>
                </a:solidFill>
                <a:latin typeface="Calibri"/>
              </a:rPr>
              <a:t>ACT I - THE FRAME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F7F3EE"/>
                </a:solidFill>
                <a:latin typeface="Cormorant Garamond"/>
              </a:rPr>
              <a:t>How People Find a Therapist</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8C89"/>
                </a:solidFill>
                <a:latin typeface="Calibri"/>
              </a:rPr>
              <a:t>02 / 16</a:t>
            </a:r>
          </a:p>
        </p:txBody>
      </p:sp>
      <p:sp>
        <p:nvSpPr>
          <p:cNvPr id="5" name="Rectangle 4"/>
          <p:cNvSpPr/>
          <p:nvPr/>
        </p:nvSpPr>
        <p:spPr>
          <a:xfrm>
            <a:off x="0" y="6601968"/>
            <a:ext cx="12188952" cy="256032"/>
          </a:xfrm>
          <a:prstGeom prst="rect">
            <a:avLst/>
          </a:prstGeom>
          <a:solidFill>
            <a:srgbClr val="142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5A7A76"/>
                </a:solidFill>
                <a:latin typeface="Calibri"/>
              </a:rPr>
              <a:t>Damco Digital  .  Wellspring Therapeutic Partners  .  Q2 2026 QBR  .  Confidential</a:t>
            </a:r>
          </a:p>
        </p:txBody>
      </p:sp>
      <p:sp>
        <p:nvSpPr>
          <p:cNvPr id="7" name="TextBox 6"/>
          <p:cNvSpPr txBox="1"/>
          <p:nvPr/>
        </p:nvSpPr>
        <p:spPr>
          <a:xfrm>
            <a:off x="457200" y="1325880"/>
            <a:ext cx="9144000" cy="274320"/>
          </a:xfrm>
          <a:prstGeom prst="rect">
            <a:avLst/>
          </a:prstGeom>
          <a:noFill/>
        </p:spPr>
        <p:txBody>
          <a:bodyPr wrap="square">
            <a:spAutoFit/>
          </a:bodyPr>
          <a:lstStyle/>
          <a:p>
            <a:pPr algn="l"/>
            <a:r>
              <a:rPr sz="1100" b="0" i="0">
                <a:solidFill>
                  <a:srgbClr val="B0CAC6"/>
                </a:solidFill>
                <a:latin typeface="Calibri"/>
              </a:rPr>
              <a:t>Mental health is a high-consideration decision. Our system owns every stage of that journey.</a:t>
            </a:r>
          </a:p>
        </p:txBody>
      </p:sp>
      <p:sp>
        <p:nvSpPr>
          <p:cNvPr id="8" name="Rectangle 7"/>
          <p:cNvSpPr/>
          <p:nvPr/>
        </p:nvSpPr>
        <p:spPr>
          <a:xfrm>
            <a:off x="457200" y="1691640"/>
            <a:ext cx="2651760" cy="3931920"/>
          </a:xfrm>
          <a:prstGeom prst="rect">
            <a:avLst/>
          </a:prstGeom>
          <a:solidFill>
            <a:srgbClr val="253836"/>
          </a:solidFill>
          <a:ln w="6350">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83080"/>
            <a:ext cx="2468880" cy="457200"/>
          </a:xfrm>
          <a:prstGeom prst="rect">
            <a:avLst/>
          </a:prstGeom>
          <a:noFill/>
        </p:spPr>
        <p:txBody>
          <a:bodyPr wrap="square">
            <a:spAutoFit/>
          </a:bodyPr>
          <a:lstStyle/>
          <a:p>
            <a:pPr algn="ctr"/>
            <a:r>
              <a:rPr sz="2600" b="0" i="0">
                <a:solidFill>
                  <a:srgbClr val="1C1C1A"/>
                </a:solidFill>
                <a:latin typeface="Calibri"/>
              </a:rPr>
              <a:t>📸</a:t>
            </a:r>
          </a:p>
        </p:txBody>
      </p:sp>
      <p:sp>
        <p:nvSpPr>
          <p:cNvPr id="10" name="TextBox 9"/>
          <p:cNvSpPr txBox="1"/>
          <p:nvPr/>
        </p:nvSpPr>
        <p:spPr>
          <a:xfrm>
            <a:off x="548640" y="2286000"/>
            <a:ext cx="2468880" cy="411480"/>
          </a:xfrm>
          <a:prstGeom prst="rect">
            <a:avLst/>
          </a:prstGeom>
          <a:noFill/>
        </p:spPr>
        <p:txBody>
          <a:bodyPr wrap="square">
            <a:spAutoFit/>
          </a:bodyPr>
          <a:lstStyle/>
          <a:p>
            <a:pPr algn="ctr"/>
            <a:r>
              <a:rPr sz="1800" b="0" i="0">
                <a:solidFill>
                  <a:srgbClr val="FFFFFF"/>
                </a:solidFill>
                <a:latin typeface="Cormorant Garamond"/>
              </a:rPr>
              <a:t>Awareness</a:t>
            </a:r>
          </a:p>
        </p:txBody>
      </p:sp>
      <p:sp>
        <p:nvSpPr>
          <p:cNvPr id="11" name="TextBox 10"/>
          <p:cNvSpPr txBox="1"/>
          <p:nvPr/>
        </p:nvSpPr>
        <p:spPr>
          <a:xfrm>
            <a:off x="548640" y="2743200"/>
            <a:ext cx="2468880" cy="256032"/>
          </a:xfrm>
          <a:prstGeom prst="rect">
            <a:avLst/>
          </a:prstGeom>
          <a:noFill/>
        </p:spPr>
        <p:txBody>
          <a:bodyPr wrap="square">
            <a:spAutoFit/>
          </a:bodyPr>
          <a:lstStyle/>
          <a:p>
            <a:pPr algn="ctr"/>
            <a:r>
              <a:rPr sz="900" b="1" i="0">
                <a:solidFill>
                  <a:srgbClr val="C9A84C"/>
                </a:solidFill>
                <a:latin typeface="Calibri"/>
              </a:rPr>
              <a:t>Instagram</a:t>
            </a:r>
          </a:p>
        </p:txBody>
      </p:sp>
      <p:sp>
        <p:nvSpPr>
          <p:cNvPr id="12" name="TextBox 11"/>
          <p:cNvSpPr txBox="1"/>
          <p:nvPr/>
        </p:nvSpPr>
        <p:spPr>
          <a:xfrm>
            <a:off x="548640" y="3035808"/>
            <a:ext cx="2468880" cy="502920"/>
          </a:xfrm>
          <a:prstGeom prst="rect">
            <a:avLst/>
          </a:prstGeom>
          <a:noFill/>
        </p:spPr>
        <p:txBody>
          <a:bodyPr wrap="square">
            <a:spAutoFit/>
          </a:bodyPr>
          <a:lstStyle/>
          <a:p>
            <a:pPr algn="ctr"/>
            <a:r>
              <a:rPr sz="900" b="0" i="0">
                <a:solidFill>
                  <a:srgbClr val="A0BDB9"/>
                </a:solidFill>
                <a:latin typeface="Calibri"/>
              </a:rPr>
              <a:t>They've seen Wellspring before the need arises</a:t>
            </a:r>
          </a:p>
        </p:txBody>
      </p:sp>
      <p:sp>
        <p:nvSpPr>
          <p:cNvPr id="13" name="Rectangle 12"/>
          <p:cNvSpPr/>
          <p:nvPr/>
        </p:nvSpPr>
        <p:spPr>
          <a:xfrm>
            <a:off x="868680" y="3621024"/>
            <a:ext cx="1828800" cy="201168"/>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630168"/>
            <a:ext cx="1828800" cy="182880"/>
          </a:xfrm>
          <a:prstGeom prst="rect">
            <a:avLst/>
          </a:prstGeom>
          <a:noFill/>
        </p:spPr>
        <p:txBody>
          <a:bodyPr wrap="square">
            <a:spAutoFit/>
          </a:bodyPr>
          <a:lstStyle/>
          <a:p>
            <a:pPr algn="ctr"/>
            <a:r>
              <a:rPr sz="800" b="1" i="0">
                <a:solidFill>
                  <a:srgbClr val="C9A84C"/>
                </a:solidFill>
                <a:latin typeface="Calibri"/>
              </a:rPr>
              <a:t>Launched Jun 2026</a:t>
            </a:r>
          </a:p>
        </p:txBody>
      </p:sp>
      <p:sp>
        <p:nvSpPr>
          <p:cNvPr id="15" name="TextBox 14"/>
          <p:cNvSpPr txBox="1"/>
          <p:nvPr/>
        </p:nvSpPr>
        <p:spPr>
          <a:xfrm>
            <a:off x="3154680" y="2834640"/>
            <a:ext cx="411480" cy="365760"/>
          </a:xfrm>
          <a:prstGeom prst="rect">
            <a:avLst/>
          </a:prstGeom>
          <a:noFill/>
        </p:spPr>
        <p:txBody>
          <a:bodyPr wrap="square">
            <a:spAutoFit/>
          </a:bodyPr>
          <a:lstStyle/>
          <a:p>
            <a:pPr algn="ctr"/>
            <a:r>
              <a:rPr sz="2000" b="0" i="0">
                <a:solidFill>
                  <a:srgbClr val="456561"/>
                </a:solidFill>
                <a:latin typeface="Calibri"/>
              </a:rPr>
              <a:t>-&gt;</a:t>
            </a:r>
          </a:p>
        </p:txBody>
      </p:sp>
      <p:sp>
        <p:nvSpPr>
          <p:cNvPr id="16" name="Rectangle 15"/>
          <p:cNvSpPr/>
          <p:nvPr/>
        </p:nvSpPr>
        <p:spPr>
          <a:xfrm>
            <a:off x="3520440" y="1691640"/>
            <a:ext cx="2651760" cy="3931920"/>
          </a:xfrm>
          <a:prstGeom prst="rect">
            <a:avLst/>
          </a:prstGeom>
          <a:solidFill>
            <a:srgbClr val="253836"/>
          </a:solidFill>
          <a:ln w="6350">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783080"/>
            <a:ext cx="2468880" cy="457200"/>
          </a:xfrm>
          <a:prstGeom prst="rect">
            <a:avLst/>
          </a:prstGeom>
          <a:noFill/>
        </p:spPr>
        <p:txBody>
          <a:bodyPr wrap="square">
            <a:spAutoFit/>
          </a:bodyPr>
          <a:lstStyle/>
          <a:p>
            <a:pPr algn="ctr"/>
            <a:r>
              <a:rPr sz="2600" b="0" i="0">
                <a:solidFill>
                  <a:srgbClr val="1C1C1A"/>
                </a:solidFill>
                <a:latin typeface="Calibri"/>
              </a:rPr>
              <a:t>🗺</a:t>
            </a:r>
          </a:p>
        </p:txBody>
      </p:sp>
      <p:sp>
        <p:nvSpPr>
          <p:cNvPr id="18" name="TextBox 17"/>
          <p:cNvSpPr txBox="1"/>
          <p:nvPr/>
        </p:nvSpPr>
        <p:spPr>
          <a:xfrm>
            <a:off x="3611880" y="2286000"/>
            <a:ext cx="2468880" cy="411480"/>
          </a:xfrm>
          <a:prstGeom prst="rect">
            <a:avLst/>
          </a:prstGeom>
          <a:noFill/>
        </p:spPr>
        <p:txBody>
          <a:bodyPr wrap="square">
            <a:spAutoFit/>
          </a:bodyPr>
          <a:lstStyle/>
          <a:p>
            <a:pPr algn="ctr"/>
            <a:r>
              <a:rPr sz="1800" b="0" i="0">
                <a:solidFill>
                  <a:srgbClr val="FFFFFF"/>
                </a:solidFill>
                <a:latin typeface="Cormorant Garamond"/>
              </a:rPr>
              <a:t>Discovery</a:t>
            </a:r>
          </a:p>
        </p:txBody>
      </p:sp>
      <p:sp>
        <p:nvSpPr>
          <p:cNvPr id="19" name="TextBox 18"/>
          <p:cNvSpPr txBox="1"/>
          <p:nvPr/>
        </p:nvSpPr>
        <p:spPr>
          <a:xfrm>
            <a:off x="3611880" y="2743200"/>
            <a:ext cx="2468880" cy="256032"/>
          </a:xfrm>
          <a:prstGeom prst="rect">
            <a:avLst/>
          </a:prstGeom>
          <a:noFill/>
        </p:spPr>
        <p:txBody>
          <a:bodyPr wrap="square">
            <a:spAutoFit/>
          </a:bodyPr>
          <a:lstStyle/>
          <a:p>
            <a:pPr algn="ctr"/>
            <a:r>
              <a:rPr sz="900" b="1" i="0">
                <a:solidFill>
                  <a:srgbClr val="C9A84C"/>
                </a:solidFill>
                <a:latin typeface="Calibri"/>
              </a:rPr>
              <a:t>SEO - GMB + On-Page</a:t>
            </a:r>
          </a:p>
        </p:txBody>
      </p:sp>
      <p:sp>
        <p:nvSpPr>
          <p:cNvPr id="20" name="TextBox 19"/>
          <p:cNvSpPr txBox="1"/>
          <p:nvPr/>
        </p:nvSpPr>
        <p:spPr>
          <a:xfrm>
            <a:off x="3611880" y="3035808"/>
            <a:ext cx="2468880" cy="502920"/>
          </a:xfrm>
          <a:prstGeom prst="rect">
            <a:avLst/>
          </a:prstGeom>
          <a:noFill/>
        </p:spPr>
        <p:txBody>
          <a:bodyPr wrap="square">
            <a:spAutoFit/>
          </a:bodyPr>
          <a:lstStyle/>
          <a:p>
            <a:pPr algn="ctr"/>
            <a:r>
              <a:rPr sz="900" b="0" i="0">
                <a:solidFill>
                  <a:srgbClr val="A0BDB9"/>
                </a:solidFill>
                <a:latin typeface="Calibri"/>
              </a:rPr>
              <a:t>They find Wellspring when they search for therapy</a:t>
            </a:r>
          </a:p>
        </p:txBody>
      </p:sp>
      <p:sp>
        <p:nvSpPr>
          <p:cNvPr id="21" name="Rectangle 20"/>
          <p:cNvSpPr/>
          <p:nvPr/>
        </p:nvSpPr>
        <p:spPr>
          <a:xfrm>
            <a:off x="3931920" y="3621024"/>
            <a:ext cx="1828800" cy="201168"/>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1920" y="3630168"/>
            <a:ext cx="1828800" cy="182880"/>
          </a:xfrm>
          <a:prstGeom prst="rect">
            <a:avLst/>
          </a:prstGeom>
          <a:noFill/>
        </p:spPr>
        <p:txBody>
          <a:bodyPr wrap="square">
            <a:spAutoFit/>
          </a:bodyPr>
          <a:lstStyle/>
          <a:p>
            <a:pPr algn="ctr"/>
            <a:r>
              <a:rPr sz="800" b="1" i="0">
                <a:solidFill>
                  <a:srgbClr val="C9A84C"/>
                </a:solidFill>
                <a:latin typeface="Calibri"/>
              </a:rPr>
              <a:t>Active Q2</a:t>
            </a:r>
          </a:p>
        </p:txBody>
      </p:sp>
      <p:sp>
        <p:nvSpPr>
          <p:cNvPr id="23" name="TextBox 22"/>
          <p:cNvSpPr txBox="1"/>
          <p:nvPr/>
        </p:nvSpPr>
        <p:spPr>
          <a:xfrm>
            <a:off x="6217920" y="2834640"/>
            <a:ext cx="411480" cy="365760"/>
          </a:xfrm>
          <a:prstGeom prst="rect">
            <a:avLst/>
          </a:prstGeom>
          <a:noFill/>
        </p:spPr>
        <p:txBody>
          <a:bodyPr wrap="square">
            <a:spAutoFit/>
          </a:bodyPr>
          <a:lstStyle/>
          <a:p>
            <a:pPr algn="ctr"/>
            <a:r>
              <a:rPr sz="2000" b="0" i="0">
                <a:solidFill>
                  <a:srgbClr val="456561"/>
                </a:solidFill>
                <a:latin typeface="Calibri"/>
              </a:rPr>
              <a:t>-&gt;</a:t>
            </a:r>
          </a:p>
        </p:txBody>
      </p:sp>
      <p:sp>
        <p:nvSpPr>
          <p:cNvPr id="24" name="Rectangle 23"/>
          <p:cNvSpPr/>
          <p:nvPr/>
        </p:nvSpPr>
        <p:spPr>
          <a:xfrm>
            <a:off x="6583680" y="1691640"/>
            <a:ext cx="2651760" cy="3931920"/>
          </a:xfrm>
          <a:prstGeom prst="rect">
            <a:avLst/>
          </a:prstGeom>
          <a:solidFill>
            <a:srgbClr val="253836"/>
          </a:solidFill>
          <a:ln w="6350">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1783080"/>
            <a:ext cx="2468880" cy="457200"/>
          </a:xfrm>
          <a:prstGeom prst="rect">
            <a:avLst/>
          </a:prstGeom>
          <a:noFill/>
        </p:spPr>
        <p:txBody>
          <a:bodyPr wrap="square">
            <a:spAutoFit/>
          </a:bodyPr>
          <a:lstStyle/>
          <a:p>
            <a:pPr algn="ctr"/>
            <a:r>
              <a:rPr sz="2600" b="0" i="0">
                <a:solidFill>
                  <a:srgbClr val="1C1C1A"/>
                </a:solidFill>
                <a:latin typeface="Calibri"/>
              </a:rPr>
              <a:t>🎯</a:t>
            </a:r>
          </a:p>
        </p:txBody>
      </p:sp>
      <p:sp>
        <p:nvSpPr>
          <p:cNvPr id="26" name="TextBox 25"/>
          <p:cNvSpPr txBox="1"/>
          <p:nvPr/>
        </p:nvSpPr>
        <p:spPr>
          <a:xfrm>
            <a:off x="6675120" y="2286000"/>
            <a:ext cx="2468880" cy="411480"/>
          </a:xfrm>
          <a:prstGeom prst="rect">
            <a:avLst/>
          </a:prstGeom>
          <a:noFill/>
        </p:spPr>
        <p:txBody>
          <a:bodyPr wrap="square">
            <a:spAutoFit/>
          </a:bodyPr>
          <a:lstStyle/>
          <a:p>
            <a:pPr algn="ctr"/>
            <a:r>
              <a:rPr sz="1800" b="0" i="0">
                <a:solidFill>
                  <a:srgbClr val="FFFFFF"/>
                </a:solidFill>
                <a:latin typeface="Cormorant Garamond"/>
              </a:rPr>
              <a:t>Intent</a:t>
            </a:r>
          </a:p>
        </p:txBody>
      </p:sp>
      <p:sp>
        <p:nvSpPr>
          <p:cNvPr id="27" name="TextBox 26"/>
          <p:cNvSpPr txBox="1"/>
          <p:nvPr/>
        </p:nvSpPr>
        <p:spPr>
          <a:xfrm>
            <a:off x="6675120" y="2743200"/>
            <a:ext cx="2468880" cy="256032"/>
          </a:xfrm>
          <a:prstGeom prst="rect">
            <a:avLst/>
          </a:prstGeom>
          <a:noFill/>
        </p:spPr>
        <p:txBody>
          <a:bodyPr wrap="square">
            <a:spAutoFit/>
          </a:bodyPr>
          <a:lstStyle/>
          <a:p>
            <a:pPr algn="ctr"/>
            <a:r>
              <a:rPr sz="900" b="1" i="0">
                <a:solidFill>
                  <a:srgbClr val="C9A84C"/>
                </a:solidFill>
                <a:latin typeface="Calibri"/>
              </a:rPr>
              <a:t>Google Ads</a:t>
            </a:r>
          </a:p>
        </p:txBody>
      </p:sp>
      <p:sp>
        <p:nvSpPr>
          <p:cNvPr id="28" name="TextBox 27"/>
          <p:cNvSpPr txBox="1"/>
          <p:nvPr/>
        </p:nvSpPr>
        <p:spPr>
          <a:xfrm>
            <a:off x="6675120" y="3035808"/>
            <a:ext cx="2468880" cy="502920"/>
          </a:xfrm>
          <a:prstGeom prst="rect">
            <a:avLst/>
          </a:prstGeom>
          <a:noFill/>
        </p:spPr>
        <p:txBody>
          <a:bodyPr wrap="square">
            <a:spAutoFit/>
          </a:bodyPr>
          <a:lstStyle/>
          <a:p>
            <a:pPr algn="ctr"/>
            <a:r>
              <a:rPr sz="900" b="0" i="0">
                <a:solidFill>
                  <a:srgbClr val="A0BDB9"/>
                </a:solidFill>
                <a:latin typeface="Calibri"/>
              </a:rPr>
              <a:t>They click when they're ready to reach out</a:t>
            </a:r>
          </a:p>
        </p:txBody>
      </p:sp>
      <p:sp>
        <p:nvSpPr>
          <p:cNvPr id="29" name="Rectangle 28"/>
          <p:cNvSpPr/>
          <p:nvPr/>
        </p:nvSpPr>
        <p:spPr>
          <a:xfrm>
            <a:off x="6995160" y="3621024"/>
            <a:ext cx="1828800" cy="201168"/>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95160" y="3630168"/>
            <a:ext cx="1828800" cy="182880"/>
          </a:xfrm>
          <a:prstGeom prst="rect">
            <a:avLst/>
          </a:prstGeom>
          <a:noFill/>
        </p:spPr>
        <p:txBody>
          <a:bodyPr wrap="square">
            <a:spAutoFit/>
          </a:bodyPr>
          <a:lstStyle/>
          <a:p>
            <a:pPr algn="ctr"/>
            <a:r>
              <a:rPr sz="800" b="1" i="0">
                <a:solidFill>
                  <a:srgbClr val="C9A84C"/>
                </a:solidFill>
                <a:latin typeface="Calibri"/>
              </a:rPr>
              <a:t>Primary focus Q2</a:t>
            </a:r>
          </a:p>
        </p:txBody>
      </p:sp>
      <p:sp>
        <p:nvSpPr>
          <p:cNvPr id="31" name="TextBox 30"/>
          <p:cNvSpPr txBox="1"/>
          <p:nvPr/>
        </p:nvSpPr>
        <p:spPr>
          <a:xfrm>
            <a:off x="9281160" y="2834640"/>
            <a:ext cx="411480" cy="365760"/>
          </a:xfrm>
          <a:prstGeom prst="rect">
            <a:avLst/>
          </a:prstGeom>
          <a:noFill/>
        </p:spPr>
        <p:txBody>
          <a:bodyPr wrap="square">
            <a:spAutoFit/>
          </a:bodyPr>
          <a:lstStyle/>
          <a:p>
            <a:pPr algn="ctr"/>
            <a:r>
              <a:rPr sz="2000" b="0" i="0">
                <a:solidFill>
                  <a:srgbClr val="456561"/>
                </a:solidFill>
                <a:latin typeface="Calibri"/>
              </a:rPr>
              <a:t>-&gt;</a:t>
            </a:r>
          </a:p>
        </p:txBody>
      </p:sp>
      <p:sp>
        <p:nvSpPr>
          <p:cNvPr id="32" name="Rectangle 31"/>
          <p:cNvSpPr/>
          <p:nvPr/>
        </p:nvSpPr>
        <p:spPr>
          <a:xfrm>
            <a:off x="9646920" y="1691640"/>
            <a:ext cx="2651760" cy="3931920"/>
          </a:xfrm>
          <a:prstGeom prst="rect">
            <a:avLst/>
          </a:prstGeom>
          <a:solidFill>
            <a:srgbClr val="253836"/>
          </a:solidFill>
          <a:ln w="6350">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38360" y="1783080"/>
            <a:ext cx="2468880" cy="457200"/>
          </a:xfrm>
          <a:prstGeom prst="rect">
            <a:avLst/>
          </a:prstGeom>
          <a:noFill/>
        </p:spPr>
        <p:txBody>
          <a:bodyPr wrap="square">
            <a:spAutoFit/>
          </a:bodyPr>
          <a:lstStyle/>
          <a:p>
            <a:pPr algn="ctr"/>
            <a:r>
              <a:rPr sz="2600" b="0" i="0">
                <a:solidFill>
                  <a:srgbClr val="1C1C1A"/>
                </a:solidFill>
                <a:latin typeface="Calibri"/>
              </a:rPr>
              <a:t>📅</a:t>
            </a:r>
          </a:p>
        </p:txBody>
      </p:sp>
      <p:sp>
        <p:nvSpPr>
          <p:cNvPr id="34" name="TextBox 33"/>
          <p:cNvSpPr txBox="1"/>
          <p:nvPr/>
        </p:nvSpPr>
        <p:spPr>
          <a:xfrm>
            <a:off x="9738360" y="2286000"/>
            <a:ext cx="2468880" cy="411480"/>
          </a:xfrm>
          <a:prstGeom prst="rect">
            <a:avLst/>
          </a:prstGeom>
          <a:noFill/>
        </p:spPr>
        <p:txBody>
          <a:bodyPr wrap="square">
            <a:spAutoFit/>
          </a:bodyPr>
          <a:lstStyle/>
          <a:p>
            <a:pPr algn="ctr"/>
            <a:r>
              <a:rPr sz="1800" b="0" i="0">
                <a:solidFill>
                  <a:srgbClr val="FFFFFF"/>
                </a:solidFill>
                <a:latin typeface="Cormorant Garamond"/>
              </a:rPr>
              <a:t>Conversion</a:t>
            </a:r>
          </a:p>
        </p:txBody>
      </p:sp>
      <p:sp>
        <p:nvSpPr>
          <p:cNvPr id="35" name="TextBox 34"/>
          <p:cNvSpPr txBox="1"/>
          <p:nvPr/>
        </p:nvSpPr>
        <p:spPr>
          <a:xfrm>
            <a:off x="9738360" y="2743200"/>
            <a:ext cx="2468880" cy="256032"/>
          </a:xfrm>
          <a:prstGeom prst="rect">
            <a:avLst/>
          </a:prstGeom>
          <a:noFill/>
        </p:spPr>
        <p:txBody>
          <a:bodyPr wrap="square">
            <a:spAutoFit/>
          </a:bodyPr>
          <a:lstStyle/>
          <a:p>
            <a:pPr algn="ctr"/>
            <a:r>
              <a:rPr sz="900" b="1" i="0">
                <a:solidFill>
                  <a:srgbClr val="C9A84C"/>
                </a:solidFill>
                <a:latin typeface="Calibri"/>
              </a:rPr>
              <a:t>Consultation + Booking</a:t>
            </a:r>
          </a:p>
        </p:txBody>
      </p:sp>
      <p:sp>
        <p:nvSpPr>
          <p:cNvPr id="36" name="TextBox 35"/>
          <p:cNvSpPr txBox="1"/>
          <p:nvPr/>
        </p:nvSpPr>
        <p:spPr>
          <a:xfrm>
            <a:off x="9738360" y="3035808"/>
            <a:ext cx="2468880" cy="502920"/>
          </a:xfrm>
          <a:prstGeom prst="rect">
            <a:avLst/>
          </a:prstGeom>
          <a:noFill/>
        </p:spPr>
        <p:txBody>
          <a:bodyPr wrap="square">
            <a:spAutoFit/>
          </a:bodyPr>
          <a:lstStyle/>
          <a:p>
            <a:pPr algn="ctr"/>
            <a:r>
              <a:rPr sz="900" b="0" i="0">
                <a:solidFill>
                  <a:srgbClr val="A0BDB9"/>
                </a:solidFill>
                <a:latin typeface="Calibri"/>
              </a:rPr>
              <a:t>They book a consultation with Wellspring</a:t>
            </a:r>
          </a:p>
        </p:txBody>
      </p:sp>
      <p:sp>
        <p:nvSpPr>
          <p:cNvPr id="37" name="Rectangle 36"/>
          <p:cNvSpPr/>
          <p:nvPr/>
        </p:nvSpPr>
        <p:spPr>
          <a:xfrm>
            <a:off x="10058400" y="3621024"/>
            <a:ext cx="1828800" cy="201168"/>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0" y="3630168"/>
            <a:ext cx="1828800" cy="182880"/>
          </a:xfrm>
          <a:prstGeom prst="rect">
            <a:avLst/>
          </a:prstGeom>
          <a:noFill/>
        </p:spPr>
        <p:txBody>
          <a:bodyPr wrap="square">
            <a:spAutoFit/>
          </a:bodyPr>
          <a:lstStyle/>
          <a:p>
            <a:pPr algn="ctr"/>
            <a:r>
              <a:rPr sz="800" b="1" i="0">
                <a:solidFill>
                  <a:srgbClr val="C9A84C"/>
                </a:solidFill>
                <a:latin typeface="Calibri"/>
              </a:rPr>
              <a:t>Measured weekly</a:t>
            </a:r>
          </a:p>
        </p:txBody>
      </p:sp>
      <p:sp>
        <p:nvSpPr>
          <p:cNvPr id="39" name="TextBox 38"/>
          <p:cNvSpPr txBox="1"/>
          <p:nvPr/>
        </p:nvSpPr>
        <p:spPr>
          <a:xfrm>
            <a:off x="12344400" y="2834640"/>
            <a:ext cx="411480" cy="365760"/>
          </a:xfrm>
          <a:prstGeom prst="rect">
            <a:avLst/>
          </a:prstGeom>
          <a:noFill/>
        </p:spPr>
        <p:txBody>
          <a:bodyPr wrap="square">
            <a:spAutoFit/>
          </a:bodyPr>
          <a:lstStyle/>
          <a:p>
            <a:pPr algn="ctr"/>
            <a:r>
              <a:rPr sz="2000" b="0" i="0">
                <a:solidFill>
                  <a:srgbClr val="456561"/>
                </a:solidFill>
                <a:latin typeface="Calibri"/>
              </a:rPr>
              <a:t>-&gt;</a:t>
            </a:r>
          </a:p>
        </p:txBody>
      </p:sp>
      <p:sp>
        <p:nvSpPr>
          <p:cNvPr id="40" name="TextBox 39"/>
          <p:cNvSpPr txBox="1"/>
          <p:nvPr/>
        </p:nvSpPr>
        <p:spPr>
          <a:xfrm>
            <a:off x="457200" y="5943600"/>
            <a:ext cx="11274552" cy="320040"/>
          </a:xfrm>
          <a:prstGeom prst="rect">
            <a:avLst/>
          </a:prstGeom>
          <a:noFill/>
        </p:spPr>
        <p:txBody>
          <a:bodyPr wrap="square">
            <a:spAutoFit/>
          </a:bodyPr>
          <a:lstStyle/>
          <a:p>
            <a:pPr algn="l"/>
            <a:r>
              <a:rPr sz="900" b="0" i="0">
                <a:solidFill>
                  <a:srgbClr val="70928E"/>
                </a:solidFill>
                <a:latin typeface="Calibri"/>
              </a:rPr>
              <a:t>Q2 focused on Stages 2 and 3 - paid and organic search. Stage 1 (Instagram) launched June 2026 to build upstream awareness for Q3.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 - THE SCORECARD</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Q2 in Numbers</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03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365760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27048"/>
            <a:ext cx="3401568" cy="219456"/>
          </a:xfrm>
          <a:prstGeom prst="rect">
            <a:avLst/>
          </a:prstGeom>
          <a:noFill/>
        </p:spPr>
        <p:txBody>
          <a:bodyPr wrap="square">
            <a:spAutoFit/>
          </a:bodyPr>
          <a:lstStyle/>
          <a:p>
            <a:pPr algn="l"/>
            <a:r>
              <a:rPr sz="750" b="1" i="0">
                <a:solidFill>
                  <a:srgbClr val="6B6460"/>
                </a:solidFill>
                <a:latin typeface="Calibri"/>
              </a:rPr>
              <a:t>TOTAL CRM CONSULTATIONS</a:t>
            </a:r>
          </a:p>
        </p:txBody>
      </p:sp>
      <p:sp>
        <p:nvSpPr>
          <p:cNvPr id="10" name="TextBox 9"/>
          <p:cNvSpPr txBox="1"/>
          <p:nvPr/>
        </p:nvSpPr>
        <p:spPr>
          <a:xfrm>
            <a:off x="585216" y="1709928"/>
            <a:ext cx="3401568" cy="502920"/>
          </a:xfrm>
          <a:prstGeom prst="rect">
            <a:avLst/>
          </a:prstGeom>
          <a:noFill/>
        </p:spPr>
        <p:txBody>
          <a:bodyPr wrap="square">
            <a:spAutoFit/>
          </a:bodyPr>
          <a:lstStyle/>
          <a:p>
            <a:pPr algn="l"/>
            <a:r>
              <a:rPr sz="2600" b="0" i="0">
                <a:solidFill>
                  <a:srgbClr val="1C1C1A"/>
                </a:solidFill>
                <a:latin typeface="Cormorant Garamond"/>
              </a:rPr>
              <a:t>192</a:t>
            </a:r>
          </a:p>
        </p:txBody>
      </p:sp>
      <p:sp>
        <p:nvSpPr>
          <p:cNvPr id="11" name="TextBox 10"/>
          <p:cNvSpPr txBox="1"/>
          <p:nvPr/>
        </p:nvSpPr>
        <p:spPr>
          <a:xfrm>
            <a:off x="585216" y="3273552"/>
            <a:ext cx="3401568" cy="256032"/>
          </a:xfrm>
          <a:prstGeom prst="rect">
            <a:avLst/>
          </a:prstGeom>
          <a:noFill/>
        </p:spPr>
        <p:txBody>
          <a:bodyPr wrap="square">
            <a:spAutoFit/>
          </a:bodyPr>
          <a:lstStyle/>
          <a:p>
            <a:pPr algn="l"/>
            <a:r>
              <a:rPr sz="850" b="0" i="0">
                <a:solidFill>
                  <a:srgbClr val="6B6460"/>
                </a:solidFill>
                <a:latin typeface="Calibri"/>
              </a:rPr>
              <a:t>All-source inquiries Apr-Jun 2026</a:t>
            </a:r>
          </a:p>
        </p:txBody>
      </p:sp>
      <p:sp>
        <p:nvSpPr>
          <p:cNvPr id="12" name="Rectangle 11"/>
          <p:cNvSpPr/>
          <p:nvPr/>
        </p:nvSpPr>
        <p:spPr>
          <a:xfrm>
            <a:off x="4315968" y="141732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417320"/>
            <a:ext cx="3657600" cy="54864"/>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3984" y="1527048"/>
            <a:ext cx="3401568" cy="219456"/>
          </a:xfrm>
          <a:prstGeom prst="rect">
            <a:avLst/>
          </a:prstGeom>
          <a:noFill/>
        </p:spPr>
        <p:txBody>
          <a:bodyPr wrap="square">
            <a:spAutoFit/>
          </a:bodyPr>
          <a:lstStyle/>
          <a:p>
            <a:pPr algn="l"/>
            <a:r>
              <a:rPr sz="750" b="1" i="0">
                <a:solidFill>
                  <a:srgbClr val="6B6460"/>
                </a:solidFill>
                <a:latin typeface="Calibri"/>
              </a:rPr>
              <a:t>GOOGLE ADS CRM LEADS</a:t>
            </a:r>
          </a:p>
        </p:txBody>
      </p:sp>
      <p:sp>
        <p:nvSpPr>
          <p:cNvPr id="15" name="TextBox 14"/>
          <p:cNvSpPr txBox="1"/>
          <p:nvPr/>
        </p:nvSpPr>
        <p:spPr>
          <a:xfrm>
            <a:off x="4443984" y="1709928"/>
            <a:ext cx="3401568" cy="502920"/>
          </a:xfrm>
          <a:prstGeom prst="rect">
            <a:avLst/>
          </a:prstGeom>
          <a:noFill/>
        </p:spPr>
        <p:txBody>
          <a:bodyPr wrap="square">
            <a:spAutoFit/>
          </a:bodyPr>
          <a:lstStyle/>
          <a:p>
            <a:pPr algn="l"/>
            <a:r>
              <a:rPr sz="2600" b="0" i="0">
                <a:solidFill>
                  <a:srgbClr val="1C1C1A"/>
                </a:solidFill>
                <a:latin typeface="Cormorant Garamond"/>
              </a:rPr>
              <a:t>87</a:t>
            </a:r>
          </a:p>
        </p:txBody>
      </p:sp>
      <p:sp>
        <p:nvSpPr>
          <p:cNvPr id="16" name="TextBox 15"/>
          <p:cNvSpPr txBox="1"/>
          <p:nvPr/>
        </p:nvSpPr>
        <p:spPr>
          <a:xfrm>
            <a:off x="4443984" y="3273552"/>
            <a:ext cx="3401568" cy="256032"/>
          </a:xfrm>
          <a:prstGeom prst="rect">
            <a:avLst/>
          </a:prstGeom>
          <a:noFill/>
        </p:spPr>
        <p:txBody>
          <a:bodyPr wrap="square">
            <a:spAutoFit/>
          </a:bodyPr>
          <a:lstStyle/>
          <a:p>
            <a:pPr algn="l"/>
            <a:r>
              <a:rPr sz="850" b="0" i="0">
                <a:solidFill>
                  <a:srgbClr val="6B6460"/>
                </a:solidFill>
                <a:latin typeface="Calibri"/>
              </a:rPr>
              <a:t>Paid search leads (API verified)</a:t>
            </a:r>
          </a:p>
        </p:txBody>
      </p:sp>
      <p:sp>
        <p:nvSpPr>
          <p:cNvPr id="17" name="Rectangle 16"/>
          <p:cNvSpPr/>
          <p:nvPr/>
        </p:nvSpPr>
        <p:spPr>
          <a:xfrm>
            <a:off x="8174736" y="141732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74736" y="1417320"/>
            <a:ext cx="3657600" cy="54864"/>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2752" y="1527048"/>
            <a:ext cx="3401568" cy="219456"/>
          </a:xfrm>
          <a:prstGeom prst="rect">
            <a:avLst/>
          </a:prstGeom>
          <a:noFill/>
        </p:spPr>
        <p:txBody>
          <a:bodyPr wrap="square">
            <a:spAutoFit/>
          </a:bodyPr>
          <a:lstStyle/>
          <a:p>
            <a:pPr algn="l"/>
            <a:r>
              <a:rPr sz="750" b="1" i="0">
                <a:solidFill>
                  <a:srgbClr val="6B6460"/>
                </a:solidFill>
                <a:latin typeface="Calibri"/>
              </a:rPr>
              <a:t>GOOGLE SCHEDULING RATE</a:t>
            </a:r>
          </a:p>
        </p:txBody>
      </p:sp>
      <p:sp>
        <p:nvSpPr>
          <p:cNvPr id="20" name="TextBox 19"/>
          <p:cNvSpPr txBox="1"/>
          <p:nvPr/>
        </p:nvSpPr>
        <p:spPr>
          <a:xfrm>
            <a:off x="8302752" y="1709928"/>
            <a:ext cx="3401568" cy="502920"/>
          </a:xfrm>
          <a:prstGeom prst="rect">
            <a:avLst/>
          </a:prstGeom>
          <a:noFill/>
        </p:spPr>
        <p:txBody>
          <a:bodyPr wrap="square">
            <a:spAutoFit/>
          </a:bodyPr>
          <a:lstStyle/>
          <a:p>
            <a:pPr algn="l"/>
            <a:r>
              <a:rPr sz="2600" b="0" i="0">
                <a:solidFill>
                  <a:srgbClr val="1C1C1A"/>
                </a:solidFill>
                <a:latin typeface="Cormorant Garamond"/>
              </a:rPr>
              <a:t>49%</a:t>
            </a:r>
          </a:p>
        </p:txBody>
      </p:sp>
      <p:sp>
        <p:nvSpPr>
          <p:cNvPr id="21" name="TextBox 20"/>
          <p:cNvSpPr txBox="1"/>
          <p:nvPr/>
        </p:nvSpPr>
        <p:spPr>
          <a:xfrm>
            <a:off x="8302752" y="3273552"/>
            <a:ext cx="3401568" cy="256032"/>
          </a:xfrm>
          <a:prstGeom prst="rect">
            <a:avLst/>
          </a:prstGeom>
          <a:noFill/>
        </p:spPr>
        <p:txBody>
          <a:bodyPr wrap="square">
            <a:spAutoFit/>
          </a:bodyPr>
          <a:lstStyle/>
          <a:p>
            <a:pPr algn="l"/>
            <a:r>
              <a:rPr sz="850" b="0" i="0">
                <a:solidFill>
                  <a:srgbClr val="6B6460"/>
                </a:solidFill>
                <a:latin typeface="Calibri"/>
              </a:rPr>
              <a:t>Q2 avg - peaked at 67% in Jun wk 3</a:t>
            </a:r>
          </a:p>
        </p:txBody>
      </p:sp>
      <p:sp>
        <p:nvSpPr>
          <p:cNvPr id="22" name="Rectangle 21"/>
          <p:cNvSpPr/>
          <p:nvPr/>
        </p:nvSpPr>
        <p:spPr>
          <a:xfrm>
            <a:off x="457200" y="374904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749040"/>
            <a:ext cx="365760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5216" y="3858768"/>
            <a:ext cx="3401568" cy="219456"/>
          </a:xfrm>
          <a:prstGeom prst="rect">
            <a:avLst/>
          </a:prstGeom>
          <a:noFill/>
        </p:spPr>
        <p:txBody>
          <a:bodyPr wrap="square">
            <a:spAutoFit/>
          </a:bodyPr>
          <a:lstStyle/>
          <a:p>
            <a:pPr algn="l"/>
            <a:r>
              <a:rPr sz="750" b="1" i="0">
                <a:solidFill>
                  <a:srgbClr val="6B6460"/>
                </a:solidFill>
                <a:latin typeface="Calibri"/>
              </a:rPr>
              <a:t>TOTAL Q2 AD SPEND</a:t>
            </a:r>
          </a:p>
        </p:txBody>
      </p:sp>
      <p:sp>
        <p:nvSpPr>
          <p:cNvPr id="25" name="TextBox 24"/>
          <p:cNvSpPr txBox="1"/>
          <p:nvPr/>
        </p:nvSpPr>
        <p:spPr>
          <a:xfrm>
            <a:off x="585216" y="4041648"/>
            <a:ext cx="3401568" cy="502920"/>
          </a:xfrm>
          <a:prstGeom prst="rect">
            <a:avLst/>
          </a:prstGeom>
          <a:noFill/>
        </p:spPr>
        <p:txBody>
          <a:bodyPr wrap="square">
            <a:spAutoFit/>
          </a:bodyPr>
          <a:lstStyle/>
          <a:p>
            <a:pPr algn="l"/>
            <a:r>
              <a:rPr sz="2600" b="0" i="0">
                <a:solidFill>
                  <a:srgbClr val="1C1C1A"/>
                </a:solidFill>
                <a:latin typeface="Cormorant Garamond"/>
              </a:rPr>
              <a:t>$5,983</a:t>
            </a:r>
          </a:p>
        </p:txBody>
      </p:sp>
      <p:sp>
        <p:nvSpPr>
          <p:cNvPr id="26" name="TextBox 25"/>
          <p:cNvSpPr txBox="1"/>
          <p:nvPr/>
        </p:nvSpPr>
        <p:spPr>
          <a:xfrm>
            <a:off x="585216" y="5605272"/>
            <a:ext cx="3401568" cy="256032"/>
          </a:xfrm>
          <a:prstGeom prst="rect">
            <a:avLst/>
          </a:prstGeom>
          <a:noFill/>
        </p:spPr>
        <p:txBody>
          <a:bodyPr wrap="square">
            <a:spAutoFit/>
          </a:bodyPr>
          <a:lstStyle/>
          <a:p>
            <a:pPr algn="l"/>
            <a:r>
              <a:rPr sz="850" b="0" i="0">
                <a:solidFill>
                  <a:srgbClr val="6B6460"/>
                </a:solidFill>
                <a:latin typeface="Calibri"/>
              </a:rPr>
              <a:t>Google Ads Apr 1-Jun 30 (API verified)</a:t>
            </a:r>
          </a:p>
        </p:txBody>
      </p:sp>
      <p:sp>
        <p:nvSpPr>
          <p:cNvPr id="27" name="Rectangle 26"/>
          <p:cNvSpPr/>
          <p:nvPr/>
        </p:nvSpPr>
        <p:spPr>
          <a:xfrm>
            <a:off x="4315968" y="374904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15968" y="3749040"/>
            <a:ext cx="3657600" cy="54864"/>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43984" y="3858768"/>
            <a:ext cx="3401568" cy="219456"/>
          </a:xfrm>
          <a:prstGeom prst="rect">
            <a:avLst/>
          </a:prstGeom>
          <a:noFill/>
        </p:spPr>
        <p:txBody>
          <a:bodyPr wrap="square">
            <a:spAutoFit/>
          </a:bodyPr>
          <a:lstStyle/>
          <a:p>
            <a:pPr algn="l"/>
            <a:r>
              <a:rPr sz="750" b="1" i="0">
                <a:solidFill>
                  <a:srgbClr val="6B6460"/>
                </a:solidFill>
                <a:latin typeface="Calibri"/>
              </a:rPr>
              <a:t>BEST WEEK CRM CPL</a:t>
            </a:r>
          </a:p>
        </p:txBody>
      </p:sp>
      <p:sp>
        <p:nvSpPr>
          <p:cNvPr id="30" name="TextBox 29"/>
          <p:cNvSpPr txBox="1"/>
          <p:nvPr/>
        </p:nvSpPr>
        <p:spPr>
          <a:xfrm>
            <a:off x="4443984" y="4041648"/>
            <a:ext cx="3401568" cy="502920"/>
          </a:xfrm>
          <a:prstGeom prst="rect">
            <a:avLst/>
          </a:prstGeom>
          <a:noFill/>
        </p:spPr>
        <p:txBody>
          <a:bodyPr wrap="square">
            <a:spAutoFit/>
          </a:bodyPr>
          <a:lstStyle/>
          <a:p>
            <a:pPr algn="l"/>
            <a:r>
              <a:rPr sz="2600" b="0" i="0">
                <a:solidFill>
                  <a:srgbClr val="1C1C1A"/>
                </a:solidFill>
                <a:latin typeface="Cormorant Garamond"/>
              </a:rPr>
              <a:t>$49</a:t>
            </a:r>
          </a:p>
        </p:txBody>
      </p:sp>
      <p:sp>
        <p:nvSpPr>
          <p:cNvPr id="31" name="TextBox 30"/>
          <p:cNvSpPr txBox="1"/>
          <p:nvPr/>
        </p:nvSpPr>
        <p:spPr>
          <a:xfrm>
            <a:off x="4443984" y="5605272"/>
            <a:ext cx="3401568" cy="256032"/>
          </a:xfrm>
          <a:prstGeom prst="rect">
            <a:avLst/>
          </a:prstGeom>
          <a:noFill/>
        </p:spPr>
        <p:txBody>
          <a:bodyPr wrap="square">
            <a:spAutoFit/>
          </a:bodyPr>
          <a:lstStyle/>
          <a:p>
            <a:pPr algn="l"/>
            <a:r>
              <a:rPr sz="850" b="0" i="0">
                <a:solidFill>
                  <a:srgbClr val="6B6460"/>
                </a:solidFill>
                <a:latin typeface="Calibri"/>
              </a:rPr>
              <a:t>Jun 14-21 - 12 leads, 67% sched. rate</a:t>
            </a:r>
          </a:p>
        </p:txBody>
      </p:sp>
      <p:sp>
        <p:nvSpPr>
          <p:cNvPr id="32" name="Rectangle 31"/>
          <p:cNvSpPr/>
          <p:nvPr/>
        </p:nvSpPr>
        <p:spPr>
          <a:xfrm>
            <a:off x="8174736" y="3749040"/>
            <a:ext cx="3657600" cy="21488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74736" y="3749040"/>
            <a:ext cx="365760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2752" y="3858768"/>
            <a:ext cx="3401568" cy="219456"/>
          </a:xfrm>
          <a:prstGeom prst="rect">
            <a:avLst/>
          </a:prstGeom>
          <a:noFill/>
        </p:spPr>
        <p:txBody>
          <a:bodyPr wrap="square">
            <a:spAutoFit/>
          </a:bodyPr>
          <a:lstStyle/>
          <a:p>
            <a:pPr algn="l"/>
            <a:r>
              <a:rPr sz="750" b="1" i="0">
                <a:solidFill>
                  <a:srgbClr val="6B6460"/>
                </a:solidFill>
                <a:latin typeface="Calibri"/>
              </a:rPr>
              <a:t>GSC IMPRESSIONS (ORGANIC)</a:t>
            </a:r>
          </a:p>
        </p:txBody>
      </p:sp>
      <p:sp>
        <p:nvSpPr>
          <p:cNvPr id="35" name="TextBox 34"/>
          <p:cNvSpPr txBox="1"/>
          <p:nvPr/>
        </p:nvSpPr>
        <p:spPr>
          <a:xfrm>
            <a:off x="8302752" y="4041648"/>
            <a:ext cx="3401568" cy="502920"/>
          </a:xfrm>
          <a:prstGeom prst="rect">
            <a:avLst/>
          </a:prstGeom>
          <a:noFill/>
        </p:spPr>
        <p:txBody>
          <a:bodyPr wrap="square">
            <a:spAutoFit/>
          </a:bodyPr>
          <a:lstStyle/>
          <a:p>
            <a:pPr algn="l"/>
            <a:r>
              <a:rPr sz="2600" b="0" i="0">
                <a:solidFill>
                  <a:srgbClr val="1C1C1A"/>
                </a:solidFill>
                <a:latin typeface="Cormorant Garamond"/>
              </a:rPr>
              <a:t>184,815</a:t>
            </a:r>
          </a:p>
        </p:txBody>
      </p:sp>
      <p:sp>
        <p:nvSpPr>
          <p:cNvPr id="36" name="TextBox 35"/>
          <p:cNvSpPr txBox="1"/>
          <p:nvPr/>
        </p:nvSpPr>
        <p:spPr>
          <a:xfrm>
            <a:off x="8302752" y="5605272"/>
            <a:ext cx="3401568" cy="256032"/>
          </a:xfrm>
          <a:prstGeom prst="rect">
            <a:avLst/>
          </a:prstGeom>
          <a:noFill/>
        </p:spPr>
        <p:txBody>
          <a:bodyPr wrap="square">
            <a:spAutoFit/>
          </a:bodyPr>
          <a:lstStyle/>
          <a:p>
            <a:pPr algn="l"/>
            <a:r>
              <a:rPr sz="850" b="0" i="0">
                <a:solidFill>
                  <a:srgbClr val="6B6460"/>
                </a:solidFill>
                <a:latin typeface="Calibri"/>
              </a:rPr>
              <a:t>+67% vs Q1 - 21 AI citations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 - THE SCORECARD</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How Q2 Moved</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04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graphicFrame>
        <p:nvGraphicFramePr>
          <p:cNvPr id="7" name="Table 6"/>
          <p:cNvGraphicFramePr>
            <a:graphicFrameLocks noGrp="1"/>
          </p:cNvGraphicFramePr>
          <p:nvPr/>
        </p:nvGraphicFramePr>
        <p:xfrm>
          <a:off x="457200" y="1417320"/>
          <a:ext cx="7040880" cy="3200400"/>
        </p:xfrm>
        <a:graphic>
          <a:graphicData uri="http://schemas.openxmlformats.org/drawingml/2006/table">
            <a:tbl>
              <a:tblPr firstRow="1" bandRow="1">
                <a:tableStyleId>{5C22544A-7EE6-4342-B048-85BDC9FD1C3A}</a:tableStyleId>
              </a:tblPr>
              <a:tblGrid>
                <a:gridCol w="1371600"/>
                <a:gridCol w="1417320"/>
                <a:gridCol w="1417320"/>
                <a:gridCol w="1417320"/>
                <a:gridCol w="1417320"/>
              </a:tblGrid>
              <a:tr h="640080">
                <a:tc>
                  <a:txBody>
                    <a:bodyPr/>
                    <a:lstStyle/>
                    <a:p>
                      <a:pPr algn="l"/>
                      <a:r>
                        <a:rPr sz="900" b="1">
                          <a:solidFill>
                            <a:srgbClr val="FFFFFF"/>
                          </a:solidFill>
                          <a:latin typeface="Calibri"/>
                        </a:rPr>
                        <a:t>Month</a:t>
                      </a:r>
                    </a:p>
                  </a:txBody>
                  <a:tcPr>
                    <a:solidFill>
                      <a:srgbClr val="3D7A72"/>
                    </a:solidFill>
                  </a:tcPr>
                </a:tc>
                <a:tc>
                  <a:txBody>
                    <a:bodyPr/>
                    <a:lstStyle/>
                    <a:p>
                      <a:pPr algn="ctr"/>
                      <a:r>
                        <a:rPr sz="900" b="1">
                          <a:solidFill>
                            <a:srgbClr val="FFFFFF"/>
                          </a:solidFill>
                          <a:latin typeface="Calibri"/>
                        </a:rPr>
                        <a:t>Spend</a:t>
                      </a:r>
                    </a:p>
                  </a:txBody>
                  <a:tcPr>
                    <a:solidFill>
                      <a:srgbClr val="3D7A72"/>
                    </a:solidFill>
                  </a:tcPr>
                </a:tc>
                <a:tc>
                  <a:txBody>
                    <a:bodyPr/>
                    <a:lstStyle/>
                    <a:p>
                      <a:pPr algn="ctr"/>
                      <a:r>
                        <a:rPr sz="900" b="1">
                          <a:solidFill>
                            <a:srgbClr val="FFFFFF"/>
                          </a:solidFill>
                          <a:latin typeface="Calibri"/>
                        </a:rPr>
                        <a:t>Google Leads</a:t>
                      </a:r>
                    </a:p>
                  </a:txBody>
                  <a:tcPr>
                    <a:solidFill>
                      <a:srgbClr val="3D7A72"/>
                    </a:solidFill>
                  </a:tcPr>
                </a:tc>
                <a:tc>
                  <a:txBody>
                    <a:bodyPr/>
                    <a:lstStyle/>
                    <a:p>
                      <a:pPr algn="ctr"/>
                      <a:r>
                        <a:rPr sz="900" b="1">
                          <a:solidFill>
                            <a:srgbClr val="FFFFFF"/>
                          </a:solidFill>
                          <a:latin typeface="Calibri"/>
                        </a:rPr>
                        <a:t>Sched. Rate</a:t>
                      </a:r>
                    </a:p>
                  </a:txBody>
                  <a:tcPr>
                    <a:solidFill>
                      <a:srgbClr val="3D7A72"/>
                    </a:solidFill>
                  </a:tcPr>
                </a:tc>
                <a:tc>
                  <a:txBody>
                    <a:bodyPr/>
                    <a:lstStyle/>
                    <a:p>
                      <a:pPr algn="ctr"/>
                      <a:r>
                        <a:rPr sz="900" b="1">
                          <a:solidFill>
                            <a:srgbClr val="FFFFFF"/>
                          </a:solidFill>
                          <a:latin typeface="Calibri"/>
                        </a:rPr>
                        <a:t>CRM CPL</a:t>
                      </a:r>
                    </a:p>
                  </a:txBody>
                  <a:tcPr>
                    <a:solidFill>
                      <a:srgbClr val="3D7A72"/>
                    </a:solidFill>
                  </a:tcPr>
                </a:tc>
              </a:tr>
              <a:tr h="640080">
                <a:tc>
                  <a:txBody>
                    <a:bodyPr/>
                    <a:lstStyle/>
                    <a:p>
                      <a:pPr algn="l"/>
                      <a:r>
                        <a:rPr sz="1000" b="0">
                          <a:solidFill>
                            <a:srgbClr val="6B6460"/>
                          </a:solidFill>
                          <a:latin typeface="Calibri"/>
                        </a:rPr>
                        <a:t>April</a:t>
                      </a:r>
                    </a:p>
                  </a:txBody>
                  <a:tcPr>
                    <a:solidFill>
                      <a:srgbClr val="FFFFFF"/>
                    </a:solidFill>
                  </a:tcPr>
                </a:tc>
                <a:tc>
                  <a:txBody>
                    <a:bodyPr/>
                    <a:lstStyle/>
                    <a:p>
                      <a:pPr algn="ctr"/>
                      <a:r>
                        <a:rPr sz="1000" b="0">
                          <a:solidFill>
                            <a:srgbClr val="6B6460"/>
                          </a:solidFill>
                          <a:latin typeface="Calibri"/>
                        </a:rPr>
                        <a:t>$1,529</a:t>
                      </a:r>
                    </a:p>
                  </a:txBody>
                  <a:tcPr>
                    <a:solidFill>
                      <a:srgbClr val="FFFFFF"/>
                    </a:solidFill>
                  </a:tcPr>
                </a:tc>
                <a:tc>
                  <a:txBody>
                    <a:bodyPr/>
                    <a:lstStyle/>
                    <a:p>
                      <a:pPr algn="ctr"/>
                      <a:r>
                        <a:rPr sz="1000" b="0">
                          <a:solidFill>
                            <a:srgbClr val="6B6460"/>
                          </a:solidFill>
                          <a:latin typeface="Calibri"/>
                        </a:rPr>
                        <a:t>30</a:t>
                      </a:r>
                    </a:p>
                  </a:txBody>
                  <a:tcPr>
                    <a:solidFill>
                      <a:srgbClr val="FFFFFF"/>
                    </a:solidFill>
                  </a:tcPr>
                </a:tc>
                <a:tc>
                  <a:txBody>
                    <a:bodyPr/>
                    <a:lstStyle/>
                    <a:p>
                      <a:pPr algn="ctr"/>
                      <a:r>
                        <a:rPr sz="1000" b="0">
                          <a:solidFill>
                            <a:srgbClr val="6B6460"/>
                          </a:solidFill>
                          <a:latin typeface="Calibri"/>
                        </a:rPr>
                        <a:t>44%</a:t>
                      </a:r>
                    </a:p>
                  </a:txBody>
                  <a:tcPr>
                    <a:solidFill>
                      <a:srgbClr val="FFFFFF"/>
                    </a:solidFill>
                  </a:tcPr>
                </a:tc>
                <a:tc>
                  <a:txBody>
                    <a:bodyPr/>
                    <a:lstStyle/>
                    <a:p>
                      <a:pPr algn="ctr"/>
                      <a:r>
                        <a:rPr sz="1000" b="0">
                          <a:solidFill>
                            <a:srgbClr val="6B6460"/>
                          </a:solidFill>
                          <a:latin typeface="Calibri"/>
                        </a:rPr>
                        <a:t>$51</a:t>
                      </a:r>
                    </a:p>
                  </a:txBody>
                  <a:tcPr>
                    <a:solidFill>
                      <a:srgbClr val="FFFFFF"/>
                    </a:solidFill>
                  </a:tcPr>
                </a:tc>
              </a:tr>
              <a:tr h="640080">
                <a:tc>
                  <a:txBody>
                    <a:bodyPr/>
                    <a:lstStyle/>
                    <a:p>
                      <a:pPr algn="l"/>
                      <a:r>
                        <a:rPr sz="1000" b="0">
                          <a:solidFill>
                            <a:srgbClr val="6B6460"/>
                          </a:solidFill>
                          <a:latin typeface="Calibri"/>
                        </a:rPr>
                        <a:t>May</a:t>
                      </a:r>
                    </a:p>
                  </a:txBody>
                  <a:tcPr>
                    <a:solidFill>
                      <a:srgbClr val="FFFFFF"/>
                    </a:solidFill>
                  </a:tcPr>
                </a:tc>
                <a:tc>
                  <a:txBody>
                    <a:bodyPr/>
                    <a:lstStyle/>
                    <a:p>
                      <a:pPr algn="ctr"/>
                      <a:r>
                        <a:rPr sz="1000" b="0">
                          <a:solidFill>
                            <a:srgbClr val="6B6460"/>
                          </a:solidFill>
                          <a:latin typeface="Calibri"/>
                        </a:rPr>
                        <a:t>$2,024</a:t>
                      </a:r>
                    </a:p>
                  </a:txBody>
                  <a:tcPr>
                    <a:solidFill>
                      <a:srgbClr val="FFFFFF"/>
                    </a:solidFill>
                  </a:tcPr>
                </a:tc>
                <a:tc>
                  <a:txBody>
                    <a:bodyPr/>
                    <a:lstStyle/>
                    <a:p>
                      <a:pPr algn="ctr"/>
                      <a:r>
                        <a:rPr sz="1000" b="0">
                          <a:solidFill>
                            <a:srgbClr val="6B6460"/>
                          </a:solidFill>
                          <a:latin typeface="Calibri"/>
                        </a:rPr>
                        <a:t>30</a:t>
                      </a:r>
                    </a:p>
                  </a:txBody>
                  <a:tcPr>
                    <a:solidFill>
                      <a:srgbClr val="FFFFFF"/>
                    </a:solidFill>
                  </a:tcPr>
                </a:tc>
                <a:tc>
                  <a:txBody>
                    <a:bodyPr/>
                    <a:lstStyle/>
                    <a:p>
                      <a:pPr algn="ctr"/>
                      <a:r>
                        <a:rPr sz="1000" b="0">
                          <a:solidFill>
                            <a:srgbClr val="C9882A"/>
                          </a:solidFill>
                          <a:latin typeface="Calibri"/>
                        </a:rPr>
                        <a:t>40%</a:t>
                      </a:r>
                    </a:p>
                  </a:txBody>
                  <a:tcPr>
                    <a:solidFill>
                      <a:srgbClr val="FFFFFF"/>
                    </a:solidFill>
                  </a:tcPr>
                </a:tc>
                <a:tc>
                  <a:txBody>
                    <a:bodyPr/>
                    <a:lstStyle/>
                    <a:p>
                      <a:pPr algn="ctr"/>
                      <a:r>
                        <a:rPr sz="1000" b="0">
                          <a:solidFill>
                            <a:srgbClr val="C9882A"/>
                          </a:solidFill>
                          <a:latin typeface="Calibri"/>
                        </a:rPr>
                        <a:t>$68</a:t>
                      </a:r>
                    </a:p>
                  </a:txBody>
                  <a:tcPr>
                    <a:solidFill>
                      <a:srgbClr val="FFFFFF"/>
                    </a:solidFill>
                  </a:tcPr>
                </a:tc>
              </a:tr>
              <a:tr h="640080">
                <a:tc>
                  <a:txBody>
                    <a:bodyPr/>
                    <a:lstStyle/>
                    <a:p>
                      <a:pPr algn="l"/>
                      <a:r>
                        <a:rPr sz="1000" b="0">
                          <a:solidFill>
                            <a:srgbClr val="6B6460"/>
                          </a:solidFill>
                          <a:latin typeface="Calibri"/>
                        </a:rPr>
                        <a:t>June</a:t>
                      </a:r>
                    </a:p>
                  </a:txBody>
                  <a:tcPr>
                    <a:solidFill>
                      <a:srgbClr val="FFFFFF"/>
                    </a:solidFill>
                  </a:tcPr>
                </a:tc>
                <a:tc>
                  <a:txBody>
                    <a:bodyPr/>
                    <a:lstStyle/>
                    <a:p>
                      <a:pPr algn="ctr"/>
                      <a:r>
                        <a:rPr sz="1000" b="0">
                          <a:solidFill>
                            <a:srgbClr val="6B6460"/>
                          </a:solidFill>
                          <a:latin typeface="Calibri"/>
                        </a:rPr>
                        <a:t>$2,430</a:t>
                      </a:r>
                    </a:p>
                  </a:txBody>
                  <a:tcPr>
                    <a:solidFill>
                      <a:srgbClr val="FFFFFF"/>
                    </a:solidFill>
                  </a:tcPr>
                </a:tc>
                <a:tc>
                  <a:txBody>
                    <a:bodyPr/>
                    <a:lstStyle/>
                    <a:p>
                      <a:pPr algn="ctr"/>
                      <a:r>
                        <a:rPr sz="1000" b="0">
                          <a:solidFill>
                            <a:srgbClr val="6B6460"/>
                          </a:solidFill>
                          <a:latin typeface="Calibri"/>
                        </a:rPr>
                        <a:t>27</a:t>
                      </a:r>
                    </a:p>
                  </a:txBody>
                  <a:tcPr>
                    <a:solidFill>
                      <a:srgbClr val="FFFFFF"/>
                    </a:solidFill>
                  </a:tcPr>
                </a:tc>
                <a:tc>
                  <a:txBody>
                    <a:bodyPr/>
                    <a:lstStyle/>
                    <a:p>
                      <a:pPr algn="ctr"/>
                      <a:r>
                        <a:rPr sz="1000" b="0">
                          <a:solidFill>
                            <a:srgbClr val="3D8A60"/>
                          </a:solidFill>
                          <a:latin typeface="Calibri"/>
                        </a:rPr>
                        <a:t>56% avg</a:t>
                      </a:r>
                    </a:p>
                  </a:txBody>
                  <a:tcPr>
                    <a:solidFill>
                      <a:srgbClr val="FFFFFF"/>
                    </a:solidFill>
                  </a:tcPr>
                </a:tc>
                <a:tc>
                  <a:txBody>
                    <a:bodyPr/>
                    <a:lstStyle/>
                    <a:p>
                      <a:pPr algn="ctr"/>
                      <a:r>
                        <a:rPr sz="1000" b="0">
                          <a:solidFill>
                            <a:srgbClr val="C9882A"/>
                          </a:solidFill>
                          <a:latin typeface="Calibri"/>
                        </a:rPr>
                        <a:t>$76</a:t>
                      </a:r>
                    </a:p>
                  </a:txBody>
                  <a:tcPr>
                    <a:solidFill>
                      <a:srgbClr val="FFFFFF"/>
                    </a:solidFill>
                  </a:tcPr>
                </a:tc>
              </a:tr>
              <a:tr h="640080">
                <a:tc>
                  <a:txBody>
                    <a:bodyPr/>
                    <a:lstStyle/>
                    <a:p>
                      <a:pPr algn="l"/>
                      <a:r>
                        <a:rPr sz="1000" b="1">
                          <a:solidFill>
                            <a:srgbClr val="1C1C1A"/>
                          </a:solidFill>
                          <a:latin typeface="Calibri"/>
                        </a:rPr>
                        <a:t>Q2 Total</a:t>
                      </a:r>
                    </a:p>
                  </a:txBody>
                  <a:tcPr>
                    <a:solidFill>
                      <a:srgbClr val="EDE7DC"/>
                    </a:solidFill>
                  </a:tcPr>
                </a:tc>
                <a:tc>
                  <a:txBody>
                    <a:bodyPr/>
                    <a:lstStyle/>
                    <a:p>
                      <a:pPr algn="ctr"/>
                      <a:r>
                        <a:rPr sz="1000" b="1">
                          <a:solidFill>
                            <a:srgbClr val="1C1C1A"/>
                          </a:solidFill>
                          <a:latin typeface="Calibri"/>
                        </a:rPr>
                        <a:t>$5,983</a:t>
                      </a:r>
                    </a:p>
                  </a:txBody>
                  <a:tcPr>
                    <a:solidFill>
                      <a:srgbClr val="EDE7DC"/>
                    </a:solidFill>
                  </a:tcPr>
                </a:tc>
                <a:tc>
                  <a:txBody>
                    <a:bodyPr/>
                    <a:lstStyle/>
                    <a:p>
                      <a:pPr algn="ctr"/>
                      <a:r>
                        <a:rPr sz="1000" b="1">
                          <a:solidFill>
                            <a:srgbClr val="1C1C1A"/>
                          </a:solidFill>
                          <a:latin typeface="Calibri"/>
                        </a:rPr>
                        <a:t>87</a:t>
                      </a:r>
                    </a:p>
                  </a:txBody>
                  <a:tcPr>
                    <a:solidFill>
                      <a:srgbClr val="EDE7DC"/>
                    </a:solidFill>
                  </a:tcPr>
                </a:tc>
                <a:tc>
                  <a:txBody>
                    <a:bodyPr/>
                    <a:lstStyle/>
                    <a:p>
                      <a:pPr algn="ctr"/>
                      <a:r>
                        <a:rPr sz="1000" b="1">
                          <a:solidFill>
                            <a:srgbClr val="1C1C1A"/>
                          </a:solidFill>
                          <a:latin typeface="Calibri"/>
                        </a:rPr>
                        <a:t>49% avg</a:t>
                      </a:r>
                    </a:p>
                  </a:txBody>
                  <a:tcPr>
                    <a:solidFill>
                      <a:srgbClr val="EDE7DC"/>
                    </a:solidFill>
                  </a:tcPr>
                </a:tc>
                <a:tc>
                  <a:txBody>
                    <a:bodyPr/>
                    <a:lstStyle/>
                    <a:p>
                      <a:pPr algn="ctr"/>
                      <a:r>
                        <a:rPr sz="1000" b="1">
                          <a:solidFill>
                            <a:srgbClr val="1C1C1A"/>
                          </a:solidFill>
                          <a:latin typeface="Calibri"/>
                        </a:rPr>
                        <a:t>~$69 avg</a:t>
                      </a:r>
                    </a:p>
                  </a:txBody>
                  <a:tcPr>
                    <a:solidFill>
                      <a:srgbClr val="EDE7DC"/>
                    </a:solidFill>
                  </a:tcPr>
                </a:tc>
              </a:tr>
            </a:tbl>
          </a:graphicData>
        </a:graphic>
      </p:graphicFrame>
      <p:sp>
        <p:nvSpPr>
          <p:cNvPr id="8" name="TextBox 7"/>
          <p:cNvSpPr txBox="1"/>
          <p:nvPr/>
        </p:nvSpPr>
        <p:spPr>
          <a:xfrm>
            <a:off x="7680960" y="1417320"/>
            <a:ext cx="4023360" cy="274320"/>
          </a:xfrm>
          <a:prstGeom prst="rect">
            <a:avLst/>
          </a:prstGeom>
          <a:noFill/>
        </p:spPr>
        <p:txBody>
          <a:bodyPr wrap="square">
            <a:spAutoFit/>
          </a:bodyPr>
          <a:lstStyle/>
          <a:p>
            <a:pPr algn="l"/>
            <a:r>
              <a:rPr sz="1200" b="0" i="0">
                <a:solidFill>
                  <a:srgbClr val="1C1C1A"/>
                </a:solidFill>
                <a:latin typeface="Cormorant Garamond"/>
              </a:rPr>
              <a:t>Monthly Trend</a:t>
            </a:r>
          </a:p>
        </p:txBody>
      </p:sp>
      <p:sp>
        <p:nvSpPr>
          <p:cNvPr id="9" name="Rectangle 8"/>
          <p:cNvSpPr/>
          <p:nvPr/>
        </p:nvSpPr>
        <p:spPr>
          <a:xfrm>
            <a:off x="7680960" y="1737360"/>
            <a:ext cx="4023360" cy="288036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194560"/>
            <a:ext cx="1005840" cy="256032"/>
          </a:xfrm>
          <a:prstGeom prst="rect">
            <a:avLst/>
          </a:prstGeom>
          <a:noFill/>
        </p:spPr>
        <p:txBody>
          <a:bodyPr wrap="square">
            <a:spAutoFit/>
          </a:bodyPr>
          <a:lstStyle/>
          <a:p>
            <a:pPr algn="l"/>
            <a:r>
              <a:rPr sz="950" b="1" i="0">
                <a:solidFill>
                  <a:srgbClr val="1C1C1A"/>
                </a:solidFill>
                <a:latin typeface="Calibri"/>
              </a:rPr>
              <a:t>April</a:t>
            </a:r>
          </a:p>
        </p:txBody>
      </p:sp>
      <p:sp>
        <p:nvSpPr>
          <p:cNvPr id="11" name="Rectangle 10"/>
          <p:cNvSpPr/>
          <p:nvPr/>
        </p:nvSpPr>
        <p:spPr>
          <a:xfrm>
            <a:off x="8869680" y="2240280"/>
            <a:ext cx="1645920" cy="164592"/>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69680" y="2240280"/>
            <a:ext cx="1371600" cy="164592"/>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87968" y="2194560"/>
            <a:ext cx="1609344" cy="256032"/>
          </a:xfrm>
          <a:prstGeom prst="rect">
            <a:avLst/>
          </a:prstGeom>
          <a:noFill/>
        </p:spPr>
        <p:txBody>
          <a:bodyPr wrap="square">
            <a:spAutoFit/>
          </a:bodyPr>
          <a:lstStyle/>
          <a:p>
            <a:pPr algn="l"/>
            <a:r>
              <a:rPr sz="850" b="1" i="0">
                <a:solidFill>
                  <a:srgbClr val="FFFFFF"/>
                </a:solidFill>
                <a:latin typeface="Calibri"/>
              </a:rPr>
              <a:t>44%</a:t>
            </a:r>
          </a:p>
        </p:txBody>
      </p:sp>
      <p:sp>
        <p:nvSpPr>
          <p:cNvPr id="14" name="TextBox 13"/>
          <p:cNvSpPr txBox="1"/>
          <p:nvPr/>
        </p:nvSpPr>
        <p:spPr>
          <a:xfrm>
            <a:off x="10561320" y="2194560"/>
            <a:ext cx="1097280" cy="256032"/>
          </a:xfrm>
          <a:prstGeom prst="rect">
            <a:avLst/>
          </a:prstGeom>
          <a:noFill/>
        </p:spPr>
        <p:txBody>
          <a:bodyPr wrap="square">
            <a:spAutoFit/>
          </a:bodyPr>
          <a:lstStyle/>
          <a:p>
            <a:pPr algn="l"/>
            <a:r>
              <a:rPr sz="900" b="0" i="0">
                <a:solidFill>
                  <a:srgbClr val="C9882A"/>
                </a:solidFill>
                <a:latin typeface="Calibri"/>
              </a:rPr>
              <a:t>CPL: $51</a:t>
            </a:r>
          </a:p>
        </p:txBody>
      </p:sp>
      <p:sp>
        <p:nvSpPr>
          <p:cNvPr id="15" name="TextBox 14"/>
          <p:cNvSpPr txBox="1"/>
          <p:nvPr/>
        </p:nvSpPr>
        <p:spPr>
          <a:xfrm>
            <a:off x="7818120" y="2670048"/>
            <a:ext cx="1005840" cy="256032"/>
          </a:xfrm>
          <a:prstGeom prst="rect">
            <a:avLst/>
          </a:prstGeom>
          <a:noFill/>
        </p:spPr>
        <p:txBody>
          <a:bodyPr wrap="square">
            <a:spAutoFit/>
          </a:bodyPr>
          <a:lstStyle/>
          <a:p>
            <a:pPr algn="l"/>
            <a:r>
              <a:rPr sz="950" b="1" i="0">
                <a:solidFill>
                  <a:srgbClr val="1C1C1A"/>
                </a:solidFill>
                <a:latin typeface="Calibri"/>
              </a:rPr>
              <a:t>May</a:t>
            </a:r>
          </a:p>
        </p:txBody>
      </p:sp>
      <p:sp>
        <p:nvSpPr>
          <p:cNvPr id="16" name="Rectangle 15"/>
          <p:cNvSpPr/>
          <p:nvPr/>
        </p:nvSpPr>
        <p:spPr>
          <a:xfrm>
            <a:off x="8869680" y="2715768"/>
            <a:ext cx="1645920" cy="164592"/>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69680" y="2715768"/>
            <a:ext cx="1234440" cy="164592"/>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87968" y="2670048"/>
            <a:ext cx="1609344" cy="256032"/>
          </a:xfrm>
          <a:prstGeom prst="rect">
            <a:avLst/>
          </a:prstGeom>
          <a:noFill/>
        </p:spPr>
        <p:txBody>
          <a:bodyPr wrap="square">
            <a:spAutoFit/>
          </a:bodyPr>
          <a:lstStyle/>
          <a:p>
            <a:pPr algn="l"/>
            <a:r>
              <a:rPr sz="850" b="1" i="0">
                <a:solidFill>
                  <a:srgbClr val="FFFFFF"/>
                </a:solidFill>
                <a:latin typeface="Calibri"/>
              </a:rPr>
              <a:t>40%</a:t>
            </a:r>
          </a:p>
        </p:txBody>
      </p:sp>
      <p:sp>
        <p:nvSpPr>
          <p:cNvPr id="19" name="TextBox 18"/>
          <p:cNvSpPr txBox="1"/>
          <p:nvPr/>
        </p:nvSpPr>
        <p:spPr>
          <a:xfrm>
            <a:off x="10561320" y="2670048"/>
            <a:ext cx="1097280" cy="256032"/>
          </a:xfrm>
          <a:prstGeom prst="rect">
            <a:avLst/>
          </a:prstGeom>
          <a:noFill/>
        </p:spPr>
        <p:txBody>
          <a:bodyPr wrap="square">
            <a:spAutoFit/>
          </a:bodyPr>
          <a:lstStyle/>
          <a:p>
            <a:pPr algn="l"/>
            <a:r>
              <a:rPr sz="900" b="0" i="0">
                <a:solidFill>
                  <a:srgbClr val="C9882A"/>
                </a:solidFill>
                <a:latin typeface="Calibri"/>
              </a:rPr>
              <a:t>CPL: $68</a:t>
            </a:r>
          </a:p>
        </p:txBody>
      </p:sp>
      <p:sp>
        <p:nvSpPr>
          <p:cNvPr id="20" name="TextBox 19"/>
          <p:cNvSpPr txBox="1"/>
          <p:nvPr/>
        </p:nvSpPr>
        <p:spPr>
          <a:xfrm>
            <a:off x="7818120" y="3145536"/>
            <a:ext cx="1005840" cy="256032"/>
          </a:xfrm>
          <a:prstGeom prst="rect">
            <a:avLst/>
          </a:prstGeom>
          <a:noFill/>
        </p:spPr>
        <p:txBody>
          <a:bodyPr wrap="square">
            <a:spAutoFit/>
          </a:bodyPr>
          <a:lstStyle/>
          <a:p>
            <a:pPr algn="l"/>
            <a:r>
              <a:rPr sz="950" b="1" i="0">
                <a:solidFill>
                  <a:srgbClr val="1C1C1A"/>
                </a:solidFill>
                <a:latin typeface="Calibri"/>
              </a:rPr>
              <a:t>June</a:t>
            </a:r>
          </a:p>
        </p:txBody>
      </p:sp>
      <p:sp>
        <p:nvSpPr>
          <p:cNvPr id="21" name="Rectangle 20"/>
          <p:cNvSpPr/>
          <p:nvPr/>
        </p:nvSpPr>
        <p:spPr>
          <a:xfrm>
            <a:off x="8869680" y="3191256"/>
            <a:ext cx="1645920" cy="164592"/>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69680" y="3191256"/>
            <a:ext cx="1645920" cy="164592"/>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87968" y="3145536"/>
            <a:ext cx="1609344" cy="256032"/>
          </a:xfrm>
          <a:prstGeom prst="rect">
            <a:avLst/>
          </a:prstGeom>
          <a:noFill/>
        </p:spPr>
        <p:txBody>
          <a:bodyPr wrap="square">
            <a:spAutoFit/>
          </a:bodyPr>
          <a:lstStyle/>
          <a:p>
            <a:pPr algn="l"/>
            <a:r>
              <a:rPr sz="850" b="1" i="0">
                <a:solidFill>
                  <a:srgbClr val="FFFFFF"/>
                </a:solidFill>
                <a:latin typeface="Calibri"/>
              </a:rPr>
              <a:t>56% avg</a:t>
            </a:r>
          </a:p>
        </p:txBody>
      </p:sp>
      <p:sp>
        <p:nvSpPr>
          <p:cNvPr id="24" name="TextBox 23"/>
          <p:cNvSpPr txBox="1"/>
          <p:nvPr/>
        </p:nvSpPr>
        <p:spPr>
          <a:xfrm>
            <a:off x="10561320" y="3145536"/>
            <a:ext cx="1097280" cy="256032"/>
          </a:xfrm>
          <a:prstGeom prst="rect">
            <a:avLst/>
          </a:prstGeom>
          <a:noFill/>
        </p:spPr>
        <p:txBody>
          <a:bodyPr wrap="square">
            <a:spAutoFit/>
          </a:bodyPr>
          <a:lstStyle/>
          <a:p>
            <a:pPr algn="l"/>
            <a:r>
              <a:rPr sz="900" b="0" i="0">
                <a:solidFill>
                  <a:srgbClr val="C9882A"/>
                </a:solidFill>
                <a:latin typeface="Calibri"/>
              </a:rPr>
              <a:t>CPL: $76</a:t>
            </a:r>
          </a:p>
        </p:txBody>
      </p:sp>
      <p:sp>
        <p:nvSpPr>
          <p:cNvPr id="25" name="Rectangle 24"/>
          <p:cNvSpPr/>
          <p:nvPr/>
        </p:nvSpPr>
        <p:spPr>
          <a:xfrm>
            <a:off x="457200" y="4754880"/>
            <a:ext cx="64008" cy="658368"/>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1208" y="4754880"/>
            <a:ext cx="5239512" cy="658368"/>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846320"/>
            <a:ext cx="4983480" cy="475488"/>
          </a:xfrm>
          <a:prstGeom prst="rect">
            <a:avLst/>
          </a:prstGeom>
          <a:noFill/>
        </p:spPr>
        <p:txBody>
          <a:bodyPr wrap="square">
            <a:spAutoFit/>
          </a:bodyPr>
          <a:lstStyle/>
          <a:p>
            <a:pPr algn="l"/>
            <a:r>
              <a:rPr sz="950" b="0" i="0">
                <a:solidFill>
                  <a:srgbClr val="1C1C1A"/>
                </a:solidFill>
                <a:latin typeface="Calibri"/>
              </a:rPr>
              <a:t>Scheduling rate improved every month: April 44% -&gt; May 40% (capacity) -&gt; June 67% peak.</a:t>
            </a:r>
          </a:p>
        </p:txBody>
      </p:sp>
      <p:sp>
        <p:nvSpPr>
          <p:cNvPr id="28" name="Rectangle 27"/>
          <p:cNvSpPr/>
          <p:nvPr/>
        </p:nvSpPr>
        <p:spPr>
          <a:xfrm>
            <a:off x="5943600" y="4754880"/>
            <a:ext cx="64008" cy="658368"/>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007608" y="4754880"/>
            <a:ext cx="5696712" cy="658368"/>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4846320"/>
            <a:ext cx="5440680" cy="475488"/>
          </a:xfrm>
          <a:prstGeom prst="rect">
            <a:avLst/>
          </a:prstGeom>
          <a:noFill/>
        </p:spPr>
        <p:txBody>
          <a:bodyPr wrap="square">
            <a:spAutoFit/>
          </a:bodyPr>
          <a:lstStyle/>
          <a:p>
            <a:pPr algn="l"/>
            <a:r>
              <a:rPr sz="950" b="0" i="0">
                <a:solidFill>
                  <a:srgbClr val="1C1C1A"/>
                </a:solidFill>
                <a:latin typeface="Calibri"/>
              </a:rPr>
              <a:t>CPL rose in May-Jun (API verified): full account spend $2,024 (May) and $2,430 (Jun) due to Regional Search + new Broad campaign launched Jun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III - CHANNEL PERFORMANCE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Paid Media - Capturing Intent</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05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3566160" cy="16002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356616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1527048"/>
            <a:ext cx="3310128" cy="219456"/>
          </a:xfrm>
          <a:prstGeom prst="rect">
            <a:avLst/>
          </a:prstGeom>
          <a:noFill/>
        </p:spPr>
        <p:txBody>
          <a:bodyPr wrap="square">
            <a:spAutoFit/>
          </a:bodyPr>
          <a:lstStyle/>
          <a:p>
            <a:pPr algn="l"/>
            <a:r>
              <a:rPr sz="750" b="1" i="0">
                <a:solidFill>
                  <a:srgbClr val="6B6460"/>
                </a:solidFill>
                <a:latin typeface="Calibri"/>
              </a:rPr>
              <a:t>CLICKS (Q2)</a:t>
            </a:r>
          </a:p>
        </p:txBody>
      </p:sp>
      <p:sp>
        <p:nvSpPr>
          <p:cNvPr id="10" name="TextBox 9"/>
          <p:cNvSpPr txBox="1"/>
          <p:nvPr/>
        </p:nvSpPr>
        <p:spPr>
          <a:xfrm>
            <a:off x="585216" y="1709928"/>
            <a:ext cx="3310128" cy="502920"/>
          </a:xfrm>
          <a:prstGeom prst="rect">
            <a:avLst/>
          </a:prstGeom>
          <a:noFill/>
        </p:spPr>
        <p:txBody>
          <a:bodyPr wrap="square">
            <a:spAutoFit/>
          </a:bodyPr>
          <a:lstStyle/>
          <a:p>
            <a:pPr algn="l"/>
            <a:r>
              <a:rPr sz="2600" b="0" i="0">
                <a:solidFill>
                  <a:srgbClr val="1C1C1A"/>
                </a:solidFill>
                <a:latin typeface="Cormorant Garamond"/>
              </a:rPr>
              <a:t>1,373</a:t>
            </a:r>
          </a:p>
        </p:txBody>
      </p:sp>
      <p:sp>
        <p:nvSpPr>
          <p:cNvPr id="11" name="TextBox 10"/>
          <p:cNvSpPr txBox="1"/>
          <p:nvPr/>
        </p:nvSpPr>
        <p:spPr>
          <a:xfrm>
            <a:off x="585216" y="2724912"/>
            <a:ext cx="3310128" cy="256032"/>
          </a:xfrm>
          <a:prstGeom prst="rect">
            <a:avLst/>
          </a:prstGeom>
          <a:noFill/>
        </p:spPr>
        <p:txBody>
          <a:bodyPr wrap="square">
            <a:spAutoFit/>
          </a:bodyPr>
          <a:lstStyle/>
          <a:p>
            <a:pPr algn="l"/>
            <a:r>
              <a:rPr sz="850" b="0" i="0">
                <a:solidFill>
                  <a:srgbClr val="6B6460"/>
                </a:solidFill>
                <a:latin typeface="Calibri"/>
              </a:rPr>
              <a:t>Apr 1-Jun 30 . API verified</a:t>
            </a:r>
          </a:p>
        </p:txBody>
      </p:sp>
      <p:sp>
        <p:nvSpPr>
          <p:cNvPr id="12" name="Rectangle 11"/>
          <p:cNvSpPr/>
          <p:nvPr/>
        </p:nvSpPr>
        <p:spPr>
          <a:xfrm>
            <a:off x="4160520" y="1417320"/>
            <a:ext cx="3566160" cy="16002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1417320"/>
            <a:ext cx="3566160" cy="54864"/>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1527048"/>
            <a:ext cx="3310128" cy="219456"/>
          </a:xfrm>
          <a:prstGeom prst="rect">
            <a:avLst/>
          </a:prstGeom>
          <a:noFill/>
        </p:spPr>
        <p:txBody>
          <a:bodyPr wrap="square">
            <a:spAutoFit/>
          </a:bodyPr>
          <a:lstStyle/>
          <a:p>
            <a:pPr algn="l"/>
            <a:r>
              <a:rPr sz="750" b="1" i="0">
                <a:solidFill>
                  <a:srgbClr val="6B6460"/>
                </a:solidFill>
                <a:latin typeface="Calibri"/>
              </a:rPr>
              <a:t>CTR (GOOGLE ADS)</a:t>
            </a:r>
          </a:p>
        </p:txBody>
      </p:sp>
      <p:sp>
        <p:nvSpPr>
          <p:cNvPr id="15" name="TextBox 14"/>
          <p:cNvSpPr txBox="1"/>
          <p:nvPr/>
        </p:nvSpPr>
        <p:spPr>
          <a:xfrm>
            <a:off x="4288536" y="1709928"/>
            <a:ext cx="3310128" cy="502920"/>
          </a:xfrm>
          <a:prstGeom prst="rect">
            <a:avLst/>
          </a:prstGeom>
          <a:noFill/>
        </p:spPr>
        <p:txBody>
          <a:bodyPr wrap="square">
            <a:spAutoFit/>
          </a:bodyPr>
          <a:lstStyle/>
          <a:p>
            <a:pPr algn="l"/>
            <a:r>
              <a:rPr sz="2600" b="0" i="0">
                <a:solidFill>
                  <a:srgbClr val="1C1C1A"/>
                </a:solidFill>
                <a:latin typeface="Cormorant Garamond"/>
              </a:rPr>
              <a:t>5.78%</a:t>
            </a:r>
          </a:p>
        </p:txBody>
      </p:sp>
      <p:sp>
        <p:nvSpPr>
          <p:cNvPr id="16" name="TextBox 15"/>
          <p:cNvSpPr txBox="1"/>
          <p:nvPr/>
        </p:nvSpPr>
        <p:spPr>
          <a:xfrm>
            <a:off x="4288536" y="2724912"/>
            <a:ext cx="3310128" cy="256032"/>
          </a:xfrm>
          <a:prstGeom prst="rect">
            <a:avLst/>
          </a:prstGeom>
          <a:noFill/>
        </p:spPr>
        <p:txBody>
          <a:bodyPr wrap="square">
            <a:spAutoFit/>
          </a:bodyPr>
          <a:lstStyle/>
          <a:p>
            <a:pPr algn="l"/>
            <a:r>
              <a:rPr sz="850" b="0" i="0">
                <a:solidFill>
                  <a:srgbClr val="6B6460"/>
                </a:solidFill>
                <a:latin typeface="Calibri"/>
              </a:rPr>
              <a:t>vs 3-4% healthcare benchmark</a:t>
            </a:r>
          </a:p>
        </p:txBody>
      </p:sp>
      <p:sp>
        <p:nvSpPr>
          <p:cNvPr id="17" name="Rectangle 16"/>
          <p:cNvSpPr/>
          <p:nvPr/>
        </p:nvSpPr>
        <p:spPr>
          <a:xfrm>
            <a:off x="7863840" y="1417320"/>
            <a:ext cx="3566160" cy="16002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63840" y="1417320"/>
            <a:ext cx="3566160" cy="54864"/>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91856" y="1527048"/>
            <a:ext cx="3310128" cy="219456"/>
          </a:xfrm>
          <a:prstGeom prst="rect">
            <a:avLst/>
          </a:prstGeom>
          <a:noFill/>
        </p:spPr>
        <p:txBody>
          <a:bodyPr wrap="square">
            <a:spAutoFit/>
          </a:bodyPr>
          <a:lstStyle/>
          <a:p>
            <a:pPr algn="l"/>
            <a:r>
              <a:rPr sz="750" b="1" i="0">
                <a:solidFill>
                  <a:srgbClr val="6B6460"/>
                </a:solidFill>
                <a:latin typeface="Calibri"/>
              </a:rPr>
              <a:t>PLATFORM CPL</a:t>
            </a:r>
          </a:p>
        </p:txBody>
      </p:sp>
      <p:sp>
        <p:nvSpPr>
          <p:cNvPr id="20" name="TextBox 19"/>
          <p:cNvSpPr txBox="1"/>
          <p:nvPr/>
        </p:nvSpPr>
        <p:spPr>
          <a:xfrm>
            <a:off x="7991856" y="1709928"/>
            <a:ext cx="3310128" cy="502920"/>
          </a:xfrm>
          <a:prstGeom prst="rect">
            <a:avLst/>
          </a:prstGeom>
          <a:noFill/>
        </p:spPr>
        <p:txBody>
          <a:bodyPr wrap="square">
            <a:spAutoFit/>
          </a:bodyPr>
          <a:lstStyle/>
          <a:p>
            <a:pPr algn="l"/>
            <a:r>
              <a:rPr sz="2600" b="0" i="0">
                <a:solidFill>
                  <a:srgbClr val="1C1C1A"/>
                </a:solidFill>
                <a:latin typeface="Cormorant Garamond"/>
              </a:rPr>
              <a:t>$100</a:t>
            </a:r>
          </a:p>
        </p:txBody>
      </p:sp>
      <p:sp>
        <p:nvSpPr>
          <p:cNvPr id="21" name="TextBox 20"/>
          <p:cNvSpPr txBox="1"/>
          <p:nvPr/>
        </p:nvSpPr>
        <p:spPr>
          <a:xfrm>
            <a:off x="7991856" y="2724912"/>
            <a:ext cx="3310128" cy="256032"/>
          </a:xfrm>
          <a:prstGeom prst="rect">
            <a:avLst/>
          </a:prstGeom>
          <a:noFill/>
        </p:spPr>
        <p:txBody>
          <a:bodyPr wrap="square">
            <a:spAutoFit/>
          </a:bodyPr>
          <a:lstStyle/>
          <a:p>
            <a:pPr algn="l"/>
            <a:r>
              <a:rPr sz="850" b="0" i="0">
                <a:solidFill>
                  <a:srgbClr val="6B6460"/>
                </a:solidFill>
                <a:latin typeface="Calibri"/>
              </a:rPr>
              <a:t>Form fills + calls tracked by Google</a:t>
            </a:r>
          </a:p>
        </p:txBody>
      </p:sp>
      <p:sp>
        <p:nvSpPr>
          <p:cNvPr id="22" name="TextBox 21"/>
          <p:cNvSpPr txBox="1"/>
          <p:nvPr/>
        </p:nvSpPr>
        <p:spPr>
          <a:xfrm>
            <a:off x="457200" y="3200400"/>
            <a:ext cx="4572000" cy="320040"/>
          </a:xfrm>
          <a:prstGeom prst="rect">
            <a:avLst/>
          </a:prstGeom>
          <a:noFill/>
        </p:spPr>
        <p:txBody>
          <a:bodyPr wrap="square">
            <a:spAutoFit/>
          </a:bodyPr>
          <a:lstStyle/>
          <a:p>
            <a:pPr algn="l"/>
            <a:r>
              <a:rPr sz="1400" b="0" i="0">
                <a:solidFill>
                  <a:srgbClr val="1C1C1A"/>
                </a:solidFill>
                <a:latin typeface="Cormorant Garamond"/>
              </a:rPr>
              <a:t>Campaign Split</a:t>
            </a:r>
          </a:p>
        </p:txBody>
      </p:sp>
      <p:sp>
        <p:nvSpPr>
          <p:cNvPr id="23" name="Rectangle 22"/>
          <p:cNvSpPr/>
          <p:nvPr/>
        </p:nvSpPr>
        <p:spPr>
          <a:xfrm>
            <a:off x="457200" y="3566160"/>
            <a:ext cx="5074920" cy="1280160"/>
          </a:xfrm>
          <a:prstGeom prst="rect">
            <a:avLst/>
          </a:prstGeom>
          <a:solidFill>
            <a:srgbClr val="FDF6EC"/>
          </a:solidFill>
          <a:ln w="6350">
            <a:solidFill>
              <a:srgbClr val="F0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566160"/>
            <a:ext cx="64008" cy="128016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611880"/>
            <a:ext cx="4754880" cy="274320"/>
          </a:xfrm>
          <a:prstGeom prst="rect">
            <a:avLst/>
          </a:prstGeom>
          <a:noFill/>
        </p:spPr>
        <p:txBody>
          <a:bodyPr wrap="square">
            <a:spAutoFit/>
          </a:bodyPr>
          <a:lstStyle/>
          <a:p>
            <a:pPr algn="l"/>
            <a:r>
              <a:rPr sz="900" b="1" i="0">
                <a:solidFill>
                  <a:srgbClr val="C9882A"/>
                </a:solidFill>
                <a:latin typeface="Calibri"/>
              </a:rPr>
              <a:t>Generic Search (orig + new Broad, launched Jun 9)</a:t>
            </a:r>
          </a:p>
        </p:txBody>
      </p:sp>
      <p:sp>
        <p:nvSpPr>
          <p:cNvPr id="26" name="TextBox 25"/>
          <p:cNvSpPr txBox="1"/>
          <p:nvPr/>
        </p:nvSpPr>
        <p:spPr>
          <a:xfrm>
            <a:off x="640080" y="3886200"/>
            <a:ext cx="2286000" cy="365760"/>
          </a:xfrm>
          <a:prstGeom prst="rect">
            <a:avLst/>
          </a:prstGeom>
          <a:noFill/>
        </p:spPr>
        <p:txBody>
          <a:bodyPr wrap="square">
            <a:spAutoFit/>
          </a:bodyPr>
          <a:lstStyle/>
          <a:p>
            <a:pPr algn="l"/>
            <a:r>
              <a:rPr sz="2200" b="0" i="0">
                <a:solidFill>
                  <a:srgbClr val="1C1C1A"/>
                </a:solidFill>
                <a:latin typeface="Cormorant Garamond"/>
              </a:rPr>
              <a:t>71% of spend</a:t>
            </a:r>
          </a:p>
        </p:txBody>
      </p:sp>
      <p:sp>
        <p:nvSpPr>
          <p:cNvPr id="27" name="TextBox 26"/>
          <p:cNvSpPr txBox="1"/>
          <p:nvPr/>
        </p:nvSpPr>
        <p:spPr>
          <a:xfrm>
            <a:off x="640080" y="4251960"/>
            <a:ext cx="4754880" cy="228600"/>
          </a:xfrm>
          <a:prstGeom prst="rect">
            <a:avLst/>
          </a:prstGeom>
          <a:noFill/>
        </p:spPr>
        <p:txBody>
          <a:bodyPr wrap="square">
            <a:spAutoFit/>
          </a:bodyPr>
          <a:lstStyle/>
          <a:p>
            <a:pPr algn="l"/>
            <a:r>
              <a:rPr sz="900" b="0" i="0">
                <a:solidFill>
                  <a:srgbClr val="6B6460"/>
                </a:solidFill>
                <a:latin typeface="Calibri"/>
              </a:rPr>
              <a:t>$4.73-$6.79/click  .  $117-120 platform CPL</a:t>
            </a:r>
          </a:p>
        </p:txBody>
      </p:sp>
      <p:sp>
        <p:nvSpPr>
          <p:cNvPr id="28" name="Rectangle 27"/>
          <p:cNvSpPr/>
          <p:nvPr/>
        </p:nvSpPr>
        <p:spPr>
          <a:xfrm>
            <a:off x="5715000" y="3566160"/>
            <a:ext cx="5989320" cy="1280160"/>
          </a:xfrm>
          <a:prstGeom prst="rect">
            <a:avLst/>
          </a:prstGeom>
          <a:solidFill>
            <a:srgbClr val="E8F5EC"/>
          </a:solidFill>
          <a:ln w="6350">
            <a:solidFill>
              <a:srgbClr val="D0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15000" y="3566160"/>
            <a:ext cx="64008" cy="1280160"/>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897880" y="3611880"/>
            <a:ext cx="5669280" cy="274320"/>
          </a:xfrm>
          <a:prstGeom prst="rect">
            <a:avLst/>
          </a:prstGeom>
          <a:noFill/>
        </p:spPr>
        <p:txBody>
          <a:bodyPr wrap="square">
            <a:spAutoFit/>
          </a:bodyPr>
          <a:lstStyle/>
          <a:p>
            <a:pPr algn="l"/>
            <a:r>
              <a:rPr sz="900" b="1" i="0">
                <a:solidFill>
                  <a:srgbClr val="3D8A60"/>
                </a:solidFill>
                <a:latin typeface="Calibri"/>
              </a:rPr>
              <a:t>DSA - Dynamic Search Ads</a:t>
            </a:r>
          </a:p>
        </p:txBody>
      </p:sp>
      <p:sp>
        <p:nvSpPr>
          <p:cNvPr id="31" name="TextBox 30"/>
          <p:cNvSpPr txBox="1"/>
          <p:nvPr/>
        </p:nvSpPr>
        <p:spPr>
          <a:xfrm>
            <a:off x="5897880" y="3886200"/>
            <a:ext cx="2743200" cy="365760"/>
          </a:xfrm>
          <a:prstGeom prst="rect">
            <a:avLst/>
          </a:prstGeom>
          <a:noFill/>
        </p:spPr>
        <p:txBody>
          <a:bodyPr wrap="square">
            <a:spAutoFit/>
          </a:bodyPr>
          <a:lstStyle/>
          <a:p>
            <a:pPr algn="l"/>
            <a:r>
              <a:rPr sz="2200" b="0" i="0">
                <a:solidFill>
                  <a:srgbClr val="1C1C1A"/>
                </a:solidFill>
                <a:latin typeface="Cormorant Garamond"/>
              </a:rPr>
              <a:t>26% of spend</a:t>
            </a:r>
          </a:p>
        </p:txBody>
      </p:sp>
      <p:sp>
        <p:nvSpPr>
          <p:cNvPr id="32" name="TextBox 31"/>
          <p:cNvSpPr txBox="1"/>
          <p:nvPr/>
        </p:nvSpPr>
        <p:spPr>
          <a:xfrm>
            <a:off x="5897880" y="4251960"/>
            <a:ext cx="5669280" cy="228600"/>
          </a:xfrm>
          <a:prstGeom prst="rect">
            <a:avLst/>
          </a:prstGeom>
          <a:noFill/>
        </p:spPr>
        <p:txBody>
          <a:bodyPr wrap="square">
            <a:spAutoFit/>
          </a:bodyPr>
          <a:lstStyle/>
          <a:p>
            <a:pPr algn="l"/>
            <a:r>
              <a:rPr sz="900" b="0" i="0">
                <a:solidFill>
                  <a:srgbClr val="6B6460"/>
                </a:solidFill>
                <a:latin typeface="Calibri"/>
              </a:rPr>
              <a:t>$2.78/click  .  $67 platform CPL  .  1.75x cheaper than Generic</a:t>
            </a:r>
          </a:p>
        </p:txBody>
      </p:sp>
      <p:sp>
        <p:nvSpPr>
          <p:cNvPr id="33" name="Rectangle 32"/>
          <p:cNvSpPr/>
          <p:nvPr/>
        </p:nvSpPr>
        <p:spPr>
          <a:xfrm>
            <a:off x="457200" y="5029200"/>
            <a:ext cx="64008" cy="6583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1208" y="5029200"/>
            <a:ext cx="7616952" cy="658368"/>
          </a:xfrm>
          <a:prstGeom prst="rect">
            <a:avLst/>
          </a:prstGeom>
          <a:solidFill>
            <a:srgbClr val="FB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5120640"/>
            <a:ext cx="7360920" cy="475488"/>
          </a:xfrm>
          <a:prstGeom prst="rect">
            <a:avLst/>
          </a:prstGeom>
          <a:noFill/>
        </p:spPr>
        <p:txBody>
          <a:bodyPr wrap="square">
            <a:spAutoFit/>
          </a:bodyPr>
          <a:lstStyle/>
          <a:p>
            <a:pPr algn="l"/>
            <a:r>
              <a:rPr sz="950" b="0" i="0">
                <a:solidFill>
                  <a:srgbClr val="1C1C1A"/>
                </a:solidFill>
                <a:latin typeface="Calibri"/>
              </a:rPr>
              <a:t>API verified: DSA delivered $67 platform CPL vs $117-$120 for Generic Search. Yet it received only 26% of Q2 budget. Shifting to DSA-first in Q3 is the highest-ROI campaign change available.</a:t>
            </a:r>
          </a:p>
        </p:txBody>
      </p:sp>
      <p:sp>
        <p:nvSpPr>
          <p:cNvPr id="36" name="Rectangle 35"/>
          <p:cNvSpPr/>
          <p:nvPr/>
        </p:nvSpPr>
        <p:spPr>
          <a:xfrm>
            <a:off x="8321040" y="5029200"/>
            <a:ext cx="64008" cy="658368"/>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85048" y="5029200"/>
            <a:ext cx="3319272" cy="658368"/>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0" y="5120640"/>
            <a:ext cx="3063240" cy="475488"/>
          </a:xfrm>
          <a:prstGeom prst="rect">
            <a:avLst/>
          </a:prstGeom>
          <a:noFill/>
        </p:spPr>
        <p:txBody>
          <a:bodyPr wrap="square">
            <a:spAutoFit/>
          </a:bodyPr>
          <a:lstStyle/>
          <a:p>
            <a:pPr algn="l"/>
            <a:r>
              <a:rPr sz="950" b="0" i="0">
                <a:solidFill>
                  <a:srgbClr val="1C1C1A"/>
                </a:solidFill>
                <a:latin typeface="Calibri"/>
              </a:rPr>
              <a:t>Best week: Jun 14-21 - 12 leads, 67% scheduling rate, $49 CRM CPL.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III - CHANNEL PERFORMANCE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SEO - Building Organic Visibility</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06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TextBox 6"/>
          <p:cNvSpPr txBox="1"/>
          <p:nvPr/>
        </p:nvSpPr>
        <p:spPr>
          <a:xfrm>
            <a:off x="457200" y="1417320"/>
            <a:ext cx="5029200" cy="274320"/>
          </a:xfrm>
          <a:prstGeom prst="rect">
            <a:avLst/>
          </a:prstGeom>
          <a:noFill/>
        </p:spPr>
        <p:txBody>
          <a:bodyPr wrap="square">
            <a:spAutoFit/>
          </a:bodyPr>
          <a:lstStyle/>
          <a:p>
            <a:pPr algn="l"/>
            <a:r>
              <a:rPr sz="900" b="1" i="0">
                <a:solidFill>
                  <a:srgbClr val="3D7A72"/>
                </a:solidFill>
                <a:latin typeface="Calibri"/>
              </a:rPr>
              <a:t>What We Completed in Q2</a:t>
            </a:r>
          </a:p>
        </p:txBody>
      </p:sp>
      <p:sp>
        <p:nvSpPr>
          <p:cNvPr id="8" name="Rectangle 7"/>
          <p:cNvSpPr/>
          <p:nvPr/>
        </p:nvSpPr>
        <p:spPr>
          <a:xfrm>
            <a:off x="457200" y="1737360"/>
            <a:ext cx="5029200" cy="12344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47088"/>
            <a:ext cx="4754880" cy="256032"/>
          </a:xfrm>
          <a:prstGeom prst="rect">
            <a:avLst/>
          </a:prstGeom>
          <a:noFill/>
        </p:spPr>
        <p:txBody>
          <a:bodyPr wrap="square">
            <a:spAutoFit/>
          </a:bodyPr>
          <a:lstStyle/>
          <a:p>
            <a:pPr algn="l"/>
            <a:r>
              <a:rPr sz="1100" b="1" i="0">
                <a:solidFill>
                  <a:srgbClr val="1C1C1A"/>
                </a:solidFill>
                <a:latin typeface="Calibri"/>
              </a:rPr>
              <a:t>📍  GMB Optimisation</a:t>
            </a:r>
          </a:p>
        </p:txBody>
      </p:sp>
      <p:sp>
        <p:nvSpPr>
          <p:cNvPr id="10" name="TextBox 9"/>
          <p:cNvSpPr txBox="1"/>
          <p:nvPr/>
        </p:nvSpPr>
        <p:spPr>
          <a:xfrm>
            <a:off x="594360" y="2121408"/>
            <a:ext cx="4754880" cy="749808"/>
          </a:xfrm>
          <a:prstGeom prst="rect">
            <a:avLst/>
          </a:prstGeom>
          <a:noFill/>
        </p:spPr>
        <p:txBody>
          <a:bodyPr wrap="square">
            <a:spAutoFit/>
          </a:bodyPr>
          <a:lstStyle/>
          <a:p>
            <a:pPr algn="l"/>
            <a:r>
              <a:rPr sz="950" b="0" i="0">
                <a:solidFill>
                  <a:srgbClr val="6B6460"/>
                </a:solidFill>
                <a:latin typeface="Calibri"/>
              </a:rPr>
              <a:t>Profile fully completed for Troy + Clinton Township. Services, categories, photos populated. Eligible for local pack inclusion.</a:t>
            </a:r>
          </a:p>
        </p:txBody>
      </p:sp>
      <p:sp>
        <p:nvSpPr>
          <p:cNvPr id="11" name="Rectangle 10"/>
          <p:cNvSpPr/>
          <p:nvPr/>
        </p:nvSpPr>
        <p:spPr>
          <a:xfrm>
            <a:off x="457200" y="3108960"/>
            <a:ext cx="5029200" cy="12344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218688"/>
            <a:ext cx="4754880" cy="256032"/>
          </a:xfrm>
          <a:prstGeom prst="rect">
            <a:avLst/>
          </a:prstGeom>
          <a:noFill/>
        </p:spPr>
        <p:txBody>
          <a:bodyPr wrap="square">
            <a:spAutoFit/>
          </a:bodyPr>
          <a:lstStyle/>
          <a:p>
            <a:pPr algn="l"/>
            <a:r>
              <a:rPr sz="1100" b="1" i="0">
                <a:solidFill>
                  <a:srgbClr val="1C1C1A"/>
                </a:solidFill>
                <a:latin typeface="Calibri"/>
              </a:rPr>
              <a:t>📄  On-Page SEO</a:t>
            </a:r>
          </a:p>
        </p:txBody>
      </p:sp>
      <p:sp>
        <p:nvSpPr>
          <p:cNvPr id="13" name="TextBox 12"/>
          <p:cNvSpPr txBox="1"/>
          <p:nvPr/>
        </p:nvSpPr>
        <p:spPr>
          <a:xfrm>
            <a:off x="594360" y="3493008"/>
            <a:ext cx="4754880" cy="749808"/>
          </a:xfrm>
          <a:prstGeom prst="rect">
            <a:avLst/>
          </a:prstGeom>
          <a:noFill/>
        </p:spPr>
        <p:txBody>
          <a:bodyPr wrap="square">
            <a:spAutoFit/>
          </a:bodyPr>
          <a:lstStyle/>
          <a:p>
            <a:pPr algn="l"/>
            <a:r>
              <a:rPr sz="950" b="0" i="0">
                <a:solidFill>
                  <a:srgbClr val="6B6460"/>
                </a:solidFill>
                <a:latin typeface="Calibri"/>
              </a:rPr>
              <a:t>Core service pages optimised for local intent. Title tags, meta descriptions, heading structure improved across the site.</a:t>
            </a:r>
          </a:p>
        </p:txBody>
      </p:sp>
      <p:sp>
        <p:nvSpPr>
          <p:cNvPr id="14" name="Rectangle 13"/>
          <p:cNvSpPr/>
          <p:nvPr/>
        </p:nvSpPr>
        <p:spPr>
          <a:xfrm>
            <a:off x="457200" y="4480560"/>
            <a:ext cx="5029200" cy="123444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590288"/>
            <a:ext cx="4754880" cy="256032"/>
          </a:xfrm>
          <a:prstGeom prst="rect">
            <a:avLst/>
          </a:prstGeom>
          <a:noFill/>
        </p:spPr>
        <p:txBody>
          <a:bodyPr wrap="square">
            <a:spAutoFit/>
          </a:bodyPr>
          <a:lstStyle/>
          <a:p>
            <a:pPr algn="l"/>
            <a:r>
              <a:rPr sz="1100" b="1" i="0">
                <a:solidFill>
                  <a:srgbClr val="1C1C1A"/>
                </a:solidFill>
                <a:latin typeface="Calibri"/>
              </a:rPr>
              <a:t>⚙️  Technical SEO</a:t>
            </a:r>
          </a:p>
        </p:txBody>
      </p:sp>
      <p:sp>
        <p:nvSpPr>
          <p:cNvPr id="16" name="TextBox 15"/>
          <p:cNvSpPr txBox="1"/>
          <p:nvPr/>
        </p:nvSpPr>
        <p:spPr>
          <a:xfrm>
            <a:off x="594360" y="4864608"/>
            <a:ext cx="4754880" cy="749808"/>
          </a:xfrm>
          <a:prstGeom prst="rect">
            <a:avLst/>
          </a:prstGeom>
          <a:noFill/>
        </p:spPr>
        <p:txBody>
          <a:bodyPr wrap="square">
            <a:spAutoFit/>
          </a:bodyPr>
          <a:lstStyle/>
          <a:p>
            <a:pPr algn="l"/>
            <a:r>
              <a:rPr sz="950" b="0" i="0">
                <a:solidFill>
                  <a:srgbClr val="6B6460"/>
                </a:solidFill>
                <a:latin typeface="Calibri"/>
              </a:rPr>
              <a:t>Site speed, mobile, structured data (LocalBusiness + healthcare schema) addressed. Technical foundation is clean for ranking growth.</a:t>
            </a:r>
          </a:p>
        </p:txBody>
      </p:sp>
      <p:sp>
        <p:nvSpPr>
          <p:cNvPr id="17" name="Rectangle 16"/>
          <p:cNvSpPr/>
          <p:nvPr/>
        </p:nvSpPr>
        <p:spPr>
          <a:xfrm>
            <a:off x="5852160" y="1417320"/>
            <a:ext cx="3017520" cy="1554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0" y="1417320"/>
            <a:ext cx="301752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80176" y="1527048"/>
            <a:ext cx="2761488" cy="219456"/>
          </a:xfrm>
          <a:prstGeom prst="rect">
            <a:avLst/>
          </a:prstGeom>
          <a:noFill/>
        </p:spPr>
        <p:txBody>
          <a:bodyPr wrap="square">
            <a:spAutoFit/>
          </a:bodyPr>
          <a:lstStyle/>
          <a:p>
            <a:pPr algn="l"/>
            <a:r>
              <a:rPr sz="750" b="1" i="0">
                <a:solidFill>
                  <a:srgbClr val="6B6460"/>
                </a:solidFill>
                <a:latin typeface="Calibri"/>
              </a:rPr>
              <a:t>GSC IMPRESSIONS</a:t>
            </a:r>
          </a:p>
        </p:txBody>
      </p:sp>
      <p:sp>
        <p:nvSpPr>
          <p:cNvPr id="20" name="TextBox 19"/>
          <p:cNvSpPr txBox="1"/>
          <p:nvPr/>
        </p:nvSpPr>
        <p:spPr>
          <a:xfrm>
            <a:off x="5980176" y="1709928"/>
            <a:ext cx="2761488" cy="502920"/>
          </a:xfrm>
          <a:prstGeom prst="rect">
            <a:avLst/>
          </a:prstGeom>
          <a:noFill/>
        </p:spPr>
        <p:txBody>
          <a:bodyPr wrap="square">
            <a:spAutoFit/>
          </a:bodyPr>
          <a:lstStyle/>
          <a:p>
            <a:pPr algn="l"/>
            <a:r>
              <a:rPr sz="2600" b="0" i="0">
                <a:solidFill>
                  <a:srgbClr val="1C1C1A"/>
                </a:solidFill>
                <a:latin typeface="Cormorant Garamond"/>
              </a:rPr>
              <a:t>184,815</a:t>
            </a:r>
          </a:p>
        </p:txBody>
      </p:sp>
      <p:sp>
        <p:nvSpPr>
          <p:cNvPr id="21" name="TextBox 20"/>
          <p:cNvSpPr txBox="1"/>
          <p:nvPr/>
        </p:nvSpPr>
        <p:spPr>
          <a:xfrm>
            <a:off x="5980176" y="2679192"/>
            <a:ext cx="2761488" cy="256032"/>
          </a:xfrm>
          <a:prstGeom prst="rect">
            <a:avLst/>
          </a:prstGeom>
          <a:noFill/>
        </p:spPr>
        <p:txBody>
          <a:bodyPr wrap="square">
            <a:spAutoFit/>
          </a:bodyPr>
          <a:lstStyle/>
          <a:p>
            <a:pPr algn="l"/>
            <a:r>
              <a:rPr sz="850" b="0" i="0">
                <a:solidFill>
                  <a:srgbClr val="6B6460"/>
                </a:solidFill>
                <a:latin typeface="Calibri"/>
              </a:rPr>
              <a:t>+67% vs Q1</a:t>
            </a:r>
          </a:p>
        </p:txBody>
      </p:sp>
      <p:sp>
        <p:nvSpPr>
          <p:cNvPr id="22" name="Rectangle 21"/>
          <p:cNvSpPr/>
          <p:nvPr/>
        </p:nvSpPr>
        <p:spPr>
          <a:xfrm>
            <a:off x="9052560" y="1417320"/>
            <a:ext cx="2743200" cy="1554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52560" y="1417320"/>
            <a:ext cx="2743200" cy="54864"/>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0576" y="1527048"/>
            <a:ext cx="2487168" cy="219456"/>
          </a:xfrm>
          <a:prstGeom prst="rect">
            <a:avLst/>
          </a:prstGeom>
          <a:noFill/>
        </p:spPr>
        <p:txBody>
          <a:bodyPr wrap="square">
            <a:spAutoFit/>
          </a:bodyPr>
          <a:lstStyle/>
          <a:p>
            <a:pPr algn="l"/>
            <a:r>
              <a:rPr sz="750" b="1" i="0">
                <a:solidFill>
                  <a:srgbClr val="6B6460"/>
                </a:solidFill>
                <a:latin typeface="Calibri"/>
              </a:rPr>
              <a:t>ORGANIC SESSIONS</a:t>
            </a:r>
          </a:p>
        </p:txBody>
      </p:sp>
      <p:sp>
        <p:nvSpPr>
          <p:cNvPr id="25" name="TextBox 24"/>
          <p:cNvSpPr txBox="1"/>
          <p:nvPr/>
        </p:nvSpPr>
        <p:spPr>
          <a:xfrm>
            <a:off x="9180576" y="1709928"/>
            <a:ext cx="2487168" cy="502920"/>
          </a:xfrm>
          <a:prstGeom prst="rect">
            <a:avLst/>
          </a:prstGeom>
          <a:noFill/>
        </p:spPr>
        <p:txBody>
          <a:bodyPr wrap="square">
            <a:spAutoFit/>
          </a:bodyPr>
          <a:lstStyle/>
          <a:p>
            <a:pPr algn="l"/>
            <a:r>
              <a:rPr sz="2600" b="0" i="0">
                <a:solidFill>
                  <a:srgbClr val="1C1C1A"/>
                </a:solidFill>
                <a:latin typeface="Cormorant Garamond"/>
              </a:rPr>
              <a:t>1,297</a:t>
            </a:r>
          </a:p>
        </p:txBody>
      </p:sp>
      <p:sp>
        <p:nvSpPr>
          <p:cNvPr id="26" name="TextBox 25"/>
          <p:cNvSpPr txBox="1"/>
          <p:nvPr/>
        </p:nvSpPr>
        <p:spPr>
          <a:xfrm>
            <a:off x="9180576" y="2679192"/>
            <a:ext cx="2487168" cy="256032"/>
          </a:xfrm>
          <a:prstGeom prst="rect">
            <a:avLst/>
          </a:prstGeom>
          <a:noFill/>
        </p:spPr>
        <p:txBody>
          <a:bodyPr wrap="square">
            <a:spAutoFit/>
          </a:bodyPr>
          <a:lstStyle/>
          <a:p>
            <a:pPr algn="l"/>
            <a:r>
              <a:rPr sz="850" b="0" i="0">
                <a:solidFill>
                  <a:srgbClr val="6B6460"/>
                </a:solidFill>
                <a:latin typeface="Calibri"/>
              </a:rPr>
              <a:t>60.4% engagement rate</a:t>
            </a:r>
          </a:p>
        </p:txBody>
      </p:sp>
      <p:sp>
        <p:nvSpPr>
          <p:cNvPr id="27" name="Rectangle 26"/>
          <p:cNvSpPr/>
          <p:nvPr/>
        </p:nvSpPr>
        <p:spPr>
          <a:xfrm>
            <a:off x="5852160" y="3108960"/>
            <a:ext cx="3017520" cy="1554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852160" y="3108960"/>
            <a:ext cx="3017520" cy="54864"/>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0176" y="3218688"/>
            <a:ext cx="2761488" cy="219456"/>
          </a:xfrm>
          <a:prstGeom prst="rect">
            <a:avLst/>
          </a:prstGeom>
          <a:noFill/>
        </p:spPr>
        <p:txBody>
          <a:bodyPr wrap="square">
            <a:spAutoFit/>
          </a:bodyPr>
          <a:lstStyle/>
          <a:p>
            <a:pPr algn="l"/>
            <a:r>
              <a:rPr sz="750" b="1" i="0">
                <a:solidFill>
                  <a:srgbClr val="6B6460"/>
                </a:solidFill>
                <a:latin typeface="Calibri"/>
              </a:rPr>
              <a:t>ORGANIC LEADS</a:t>
            </a:r>
          </a:p>
        </p:txBody>
      </p:sp>
      <p:sp>
        <p:nvSpPr>
          <p:cNvPr id="30" name="TextBox 29"/>
          <p:cNvSpPr txBox="1"/>
          <p:nvPr/>
        </p:nvSpPr>
        <p:spPr>
          <a:xfrm>
            <a:off x="5980176" y="3401568"/>
            <a:ext cx="2761488" cy="502920"/>
          </a:xfrm>
          <a:prstGeom prst="rect">
            <a:avLst/>
          </a:prstGeom>
          <a:noFill/>
        </p:spPr>
        <p:txBody>
          <a:bodyPr wrap="square">
            <a:spAutoFit/>
          </a:bodyPr>
          <a:lstStyle/>
          <a:p>
            <a:pPr algn="l"/>
            <a:r>
              <a:rPr sz="2600" b="0" i="0">
                <a:solidFill>
                  <a:srgbClr val="1C1C1A"/>
                </a:solidFill>
                <a:latin typeface="Cormorant Garamond"/>
              </a:rPr>
              <a:t>419</a:t>
            </a:r>
          </a:p>
        </p:txBody>
      </p:sp>
      <p:sp>
        <p:nvSpPr>
          <p:cNvPr id="31" name="TextBox 30"/>
          <p:cNvSpPr txBox="1"/>
          <p:nvPr/>
        </p:nvSpPr>
        <p:spPr>
          <a:xfrm>
            <a:off x="5980176" y="4370832"/>
            <a:ext cx="2761488" cy="256032"/>
          </a:xfrm>
          <a:prstGeom prst="rect">
            <a:avLst/>
          </a:prstGeom>
          <a:noFill/>
        </p:spPr>
        <p:txBody>
          <a:bodyPr wrap="square">
            <a:spAutoFit/>
          </a:bodyPr>
          <a:lstStyle/>
          <a:p>
            <a:pPr algn="l"/>
            <a:r>
              <a:rPr sz="850" b="0" i="0">
                <a:solidFill>
                  <a:srgbClr val="6B6460"/>
                </a:solidFill>
                <a:latin typeface="Calibri"/>
              </a:rPr>
              <a:t>Avg session time: 53s</a:t>
            </a:r>
          </a:p>
        </p:txBody>
      </p:sp>
      <p:sp>
        <p:nvSpPr>
          <p:cNvPr id="32" name="Rectangle 31"/>
          <p:cNvSpPr/>
          <p:nvPr/>
        </p:nvSpPr>
        <p:spPr>
          <a:xfrm>
            <a:off x="9052560" y="3108960"/>
            <a:ext cx="2743200" cy="1554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52560" y="3108960"/>
            <a:ext cx="2743200" cy="54864"/>
          </a:xfrm>
          <a:prstGeom prst="rect">
            <a:avLst/>
          </a:prstGeom>
          <a:solidFill>
            <a:srgbClr val="C25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0576" y="3218688"/>
            <a:ext cx="2487168" cy="219456"/>
          </a:xfrm>
          <a:prstGeom prst="rect">
            <a:avLst/>
          </a:prstGeom>
          <a:noFill/>
        </p:spPr>
        <p:txBody>
          <a:bodyPr wrap="square">
            <a:spAutoFit/>
          </a:bodyPr>
          <a:lstStyle/>
          <a:p>
            <a:pPr algn="l"/>
            <a:r>
              <a:rPr sz="750" b="1" i="0">
                <a:solidFill>
                  <a:srgbClr val="6B6460"/>
                </a:solidFill>
                <a:latin typeface="Calibri"/>
              </a:rPr>
              <a:t>ORGANIC CTR</a:t>
            </a:r>
          </a:p>
        </p:txBody>
      </p:sp>
      <p:sp>
        <p:nvSpPr>
          <p:cNvPr id="35" name="TextBox 34"/>
          <p:cNvSpPr txBox="1"/>
          <p:nvPr/>
        </p:nvSpPr>
        <p:spPr>
          <a:xfrm>
            <a:off x="9180576" y="3401568"/>
            <a:ext cx="2487168" cy="502920"/>
          </a:xfrm>
          <a:prstGeom prst="rect">
            <a:avLst/>
          </a:prstGeom>
          <a:noFill/>
        </p:spPr>
        <p:txBody>
          <a:bodyPr wrap="square">
            <a:spAutoFit/>
          </a:bodyPr>
          <a:lstStyle/>
          <a:p>
            <a:pPr algn="l"/>
            <a:r>
              <a:rPr sz="2600" b="0" i="0">
                <a:solidFill>
                  <a:srgbClr val="1C1C1A"/>
                </a:solidFill>
                <a:latin typeface="Cormorant Garamond"/>
              </a:rPr>
              <a:t>0.61%</a:t>
            </a:r>
          </a:p>
        </p:txBody>
      </p:sp>
      <p:sp>
        <p:nvSpPr>
          <p:cNvPr id="36" name="TextBox 35"/>
          <p:cNvSpPr txBox="1"/>
          <p:nvPr/>
        </p:nvSpPr>
        <p:spPr>
          <a:xfrm>
            <a:off x="9180576" y="4370832"/>
            <a:ext cx="2487168" cy="256032"/>
          </a:xfrm>
          <a:prstGeom prst="rect">
            <a:avLst/>
          </a:prstGeom>
          <a:noFill/>
        </p:spPr>
        <p:txBody>
          <a:bodyPr wrap="square">
            <a:spAutoFit/>
          </a:bodyPr>
          <a:lstStyle/>
          <a:p>
            <a:pPr algn="l"/>
            <a:r>
              <a:rPr sz="850" b="0" i="0">
                <a:solidFill>
                  <a:srgbClr val="6B6460"/>
                </a:solidFill>
                <a:latin typeface="Calibri"/>
              </a:rPr>
              <a:t>Industry benchmark: 2-9%</a:t>
            </a:r>
          </a:p>
        </p:txBody>
      </p:sp>
      <p:sp>
        <p:nvSpPr>
          <p:cNvPr id="37" name="Rectangle 36"/>
          <p:cNvSpPr/>
          <p:nvPr/>
        </p:nvSpPr>
        <p:spPr>
          <a:xfrm>
            <a:off x="5852160" y="4846320"/>
            <a:ext cx="64008" cy="749808"/>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16168" y="4846320"/>
            <a:ext cx="5879592" cy="749808"/>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35040" y="4937760"/>
            <a:ext cx="5623560" cy="566928"/>
          </a:xfrm>
          <a:prstGeom prst="rect">
            <a:avLst/>
          </a:prstGeom>
          <a:noFill/>
        </p:spPr>
        <p:txBody>
          <a:bodyPr wrap="square">
            <a:spAutoFit/>
          </a:bodyPr>
          <a:lstStyle/>
          <a:p>
            <a:pPr algn="l"/>
            <a:r>
              <a:rPr sz="950" b="0" i="0">
                <a:solidFill>
                  <a:srgbClr val="1C1C1A"/>
                </a:solidFill>
                <a:latin typeface="Calibri"/>
              </a:rPr>
              <a:t>The gap is the click, not the impression. Communication blog: 50,748 impressions at position 8.9 but only 31 clicks (0.06% CTR). Rewriting titles + meta is Q3's single biggest organic lever - no new content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III - CHANNEL PERFORMANCE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Search Is Changing - We're Ahead of It</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07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TextBox 6"/>
          <p:cNvSpPr txBox="1"/>
          <p:nvPr/>
        </p:nvSpPr>
        <p:spPr>
          <a:xfrm>
            <a:off x="457200" y="1325880"/>
            <a:ext cx="7315200" cy="457200"/>
          </a:xfrm>
          <a:prstGeom prst="rect">
            <a:avLst/>
          </a:prstGeom>
          <a:noFill/>
        </p:spPr>
        <p:txBody>
          <a:bodyPr wrap="square">
            <a:spAutoFit/>
          </a:bodyPr>
          <a:lstStyle/>
          <a:p>
            <a:pPr algn="l"/>
            <a:r>
              <a:rPr sz="1000" b="0" i="0">
                <a:solidFill>
                  <a:srgbClr val="6B6460"/>
                </a:solidFill>
                <a:latin typeface="Calibri"/>
              </a:rPr>
              <a:t>Google AI Overviews, ChatGPT, and Perplexity increasingly answer healthcare searches directly before a user clicks any result. For mental health, people ask for therapist recommendations and receive AI-generated answers.</a:t>
            </a:r>
          </a:p>
        </p:txBody>
      </p:sp>
      <p:sp>
        <p:nvSpPr>
          <p:cNvPr id="8" name="Rectangle 7"/>
          <p:cNvSpPr/>
          <p:nvPr/>
        </p:nvSpPr>
        <p:spPr>
          <a:xfrm>
            <a:off x="457200" y="1920240"/>
            <a:ext cx="64008" cy="86868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1920240"/>
            <a:ext cx="6793992" cy="868680"/>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11680"/>
            <a:ext cx="6537960" cy="685800"/>
          </a:xfrm>
          <a:prstGeom prst="rect">
            <a:avLst/>
          </a:prstGeom>
          <a:noFill/>
        </p:spPr>
        <p:txBody>
          <a:bodyPr wrap="square">
            <a:spAutoFit/>
          </a:bodyPr>
          <a:lstStyle/>
          <a:p>
            <a:pPr algn="l"/>
            <a:r>
              <a:rPr sz="950" b="0" i="0">
                <a:solidFill>
                  <a:srgbClr val="1C1C1A"/>
                </a:solidFill>
                <a:latin typeface="Calibri"/>
              </a:rPr>
              <a:t>What this means for Wellspring: A practice that only ranks on paid ads will be invisible in AI answers. The on-page SEO and GMB work done in Q2 is also AEO work - structured, authoritative content is what AI engines cite.</a:t>
            </a:r>
          </a:p>
        </p:txBody>
      </p:sp>
      <p:sp>
        <p:nvSpPr>
          <p:cNvPr id="11" name="Rectangle 10"/>
          <p:cNvSpPr/>
          <p:nvPr/>
        </p:nvSpPr>
        <p:spPr>
          <a:xfrm>
            <a:off x="457200" y="2926080"/>
            <a:ext cx="64008" cy="86868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2926080"/>
            <a:ext cx="6793992" cy="868680"/>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17520"/>
            <a:ext cx="6537960" cy="685800"/>
          </a:xfrm>
          <a:prstGeom prst="rect">
            <a:avLst/>
          </a:prstGeom>
          <a:noFill/>
        </p:spPr>
        <p:txBody>
          <a:bodyPr wrap="square">
            <a:spAutoFit/>
          </a:bodyPr>
          <a:lstStyle/>
          <a:p>
            <a:pPr algn="l"/>
            <a:r>
              <a:rPr sz="950" b="0" i="0">
                <a:solidFill>
                  <a:srgbClr val="1C1C1A"/>
                </a:solidFill>
                <a:latin typeface="Calibri"/>
              </a:rPr>
              <a:t>Wellspring is already being cited: Semrush confirms 21 pages cited across ChatGPT, AI Overview/Mode, and Gemini. We went from 0 AI sessions in Q1 to 5 in Q2. Most local competitors are not on the board yet.</a:t>
            </a:r>
          </a:p>
        </p:txBody>
      </p:sp>
      <p:sp>
        <p:nvSpPr>
          <p:cNvPr id="14" name="Rectangle 13"/>
          <p:cNvSpPr/>
          <p:nvPr/>
        </p:nvSpPr>
        <p:spPr>
          <a:xfrm>
            <a:off x="457200" y="3931920"/>
            <a:ext cx="64008" cy="86868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931920"/>
            <a:ext cx="6793992" cy="868680"/>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23360"/>
            <a:ext cx="6537960" cy="685800"/>
          </a:xfrm>
          <a:prstGeom prst="rect">
            <a:avLst/>
          </a:prstGeom>
          <a:noFill/>
        </p:spPr>
        <p:txBody>
          <a:bodyPr wrap="square">
            <a:spAutoFit/>
          </a:bodyPr>
          <a:lstStyle/>
          <a:p>
            <a:pPr algn="l"/>
            <a:r>
              <a:rPr sz="950" b="0" i="0">
                <a:solidFill>
                  <a:srgbClr val="1C1C1A"/>
                </a:solidFill>
                <a:latin typeface="Calibri"/>
              </a:rPr>
              <a:t>The gap is AI Mode: 0 citations in AI Mode today. Q3 priority: ship every service page with FAQPage schema + citable action sentence. Target: 30+ total citations, 5+ AI Mode entries by Sep 30.</a:t>
            </a:r>
          </a:p>
        </p:txBody>
      </p:sp>
      <p:sp>
        <p:nvSpPr>
          <p:cNvPr id="17" name="Rectangle 16"/>
          <p:cNvSpPr/>
          <p:nvPr/>
        </p:nvSpPr>
        <p:spPr>
          <a:xfrm>
            <a:off x="7589520" y="1417320"/>
            <a:ext cx="4114800" cy="4389120"/>
          </a:xfrm>
          <a:prstGeom prst="rect">
            <a:avLst/>
          </a:prstGeom>
          <a:solidFill>
            <a:srgbClr val="1C2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1554480"/>
            <a:ext cx="3749039" cy="256032"/>
          </a:xfrm>
          <a:prstGeom prst="rect">
            <a:avLst/>
          </a:prstGeom>
          <a:noFill/>
        </p:spPr>
        <p:txBody>
          <a:bodyPr wrap="square">
            <a:spAutoFit/>
          </a:bodyPr>
          <a:lstStyle/>
          <a:p>
            <a:pPr algn="l"/>
            <a:r>
              <a:rPr sz="800" b="1" i="0">
                <a:solidFill>
                  <a:srgbClr val="C9A84C"/>
                </a:solidFill>
                <a:latin typeface="Calibri"/>
              </a:rPr>
              <a:t>WELLSPRING AI PRESENCE  .  Q2 2026</a:t>
            </a:r>
          </a:p>
        </p:txBody>
      </p:sp>
      <p:sp>
        <p:nvSpPr>
          <p:cNvPr id="19" name="TextBox 18"/>
          <p:cNvSpPr txBox="1"/>
          <p:nvPr/>
        </p:nvSpPr>
        <p:spPr>
          <a:xfrm>
            <a:off x="7772400" y="1920240"/>
            <a:ext cx="1097280" cy="640080"/>
          </a:xfrm>
          <a:prstGeom prst="rect">
            <a:avLst/>
          </a:prstGeom>
          <a:noFill/>
        </p:spPr>
        <p:txBody>
          <a:bodyPr wrap="square">
            <a:spAutoFit/>
          </a:bodyPr>
          <a:lstStyle/>
          <a:p>
            <a:pPr algn="l"/>
            <a:r>
              <a:rPr sz="4000" b="0" i="0">
                <a:solidFill>
                  <a:srgbClr val="C9A84C"/>
                </a:solidFill>
                <a:latin typeface="Cormorant Garamond"/>
              </a:rPr>
              <a:t>21</a:t>
            </a:r>
          </a:p>
        </p:txBody>
      </p:sp>
      <p:sp>
        <p:nvSpPr>
          <p:cNvPr id="20" name="TextBox 19"/>
          <p:cNvSpPr txBox="1"/>
          <p:nvPr/>
        </p:nvSpPr>
        <p:spPr>
          <a:xfrm>
            <a:off x="8961120" y="1993392"/>
            <a:ext cx="2560320" cy="292608"/>
          </a:xfrm>
          <a:prstGeom prst="rect">
            <a:avLst/>
          </a:prstGeom>
          <a:noFill/>
        </p:spPr>
        <p:txBody>
          <a:bodyPr wrap="square">
            <a:spAutoFit/>
          </a:bodyPr>
          <a:lstStyle/>
          <a:p>
            <a:pPr algn="l"/>
            <a:r>
              <a:rPr sz="1100" b="1" i="0">
                <a:solidFill>
                  <a:srgbClr val="F7F3EE"/>
                </a:solidFill>
                <a:latin typeface="Calibri"/>
              </a:rPr>
              <a:t>AI citations (Semrush)</a:t>
            </a:r>
          </a:p>
        </p:txBody>
      </p:sp>
      <p:sp>
        <p:nvSpPr>
          <p:cNvPr id="21" name="TextBox 20"/>
          <p:cNvSpPr txBox="1"/>
          <p:nvPr/>
        </p:nvSpPr>
        <p:spPr>
          <a:xfrm>
            <a:off x="8961120" y="2304288"/>
            <a:ext cx="2560320" cy="228600"/>
          </a:xfrm>
          <a:prstGeom prst="rect">
            <a:avLst/>
          </a:prstGeom>
          <a:noFill/>
        </p:spPr>
        <p:txBody>
          <a:bodyPr wrap="square">
            <a:spAutoFit/>
          </a:bodyPr>
          <a:lstStyle/>
          <a:p>
            <a:pPr algn="l"/>
            <a:r>
              <a:rPr sz="900" b="0" i="0">
                <a:solidFill>
                  <a:srgbClr val="8AA8A4"/>
                </a:solidFill>
                <a:latin typeface="Calibri"/>
              </a:rPr>
              <a:t>ChatGPT, AI Overview, Gemini</a:t>
            </a:r>
          </a:p>
        </p:txBody>
      </p:sp>
      <p:sp>
        <p:nvSpPr>
          <p:cNvPr id="22" name="TextBox 21"/>
          <p:cNvSpPr txBox="1"/>
          <p:nvPr/>
        </p:nvSpPr>
        <p:spPr>
          <a:xfrm>
            <a:off x="7772400" y="3108960"/>
            <a:ext cx="1097280" cy="640080"/>
          </a:xfrm>
          <a:prstGeom prst="rect">
            <a:avLst/>
          </a:prstGeom>
          <a:noFill/>
        </p:spPr>
        <p:txBody>
          <a:bodyPr wrap="square">
            <a:spAutoFit/>
          </a:bodyPr>
          <a:lstStyle/>
          <a:p>
            <a:pPr algn="l"/>
            <a:r>
              <a:rPr sz="4000" b="0" i="0">
                <a:solidFill>
                  <a:srgbClr val="C9A84C"/>
                </a:solidFill>
                <a:latin typeface="Cormorant Garamond"/>
              </a:rPr>
              <a:t>5</a:t>
            </a:r>
          </a:p>
        </p:txBody>
      </p:sp>
      <p:sp>
        <p:nvSpPr>
          <p:cNvPr id="23" name="TextBox 22"/>
          <p:cNvSpPr txBox="1"/>
          <p:nvPr/>
        </p:nvSpPr>
        <p:spPr>
          <a:xfrm>
            <a:off x="8961120" y="3182112"/>
            <a:ext cx="2560320" cy="292608"/>
          </a:xfrm>
          <a:prstGeom prst="rect">
            <a:avLst/>
          </a:prstGeom>
          <a:noFill/>
        </p:spPr>
        <p:txBody>
          <a:bodyPr wrap="square">
            <a:spAutoFit/>
          </a:bodyPr>
          <a:lstStyle/>
          <a:p>
            <a:pPr algn="l"/>
            <a:r>
              <a:rPr sz="1100" b="1" i="0">
                <a:solidFill>
                  <a:srgbClr val="F7F3EE"/>
                </a:solidFill>
                <a:latin typeface="Calibri"/>
              </a:rPr>
              <a:t>AI sessions (GA4)</a:t>
            </a:r>
          </a:p>
        </p:txBody>
      </p:sp>
      <p:sp>
        <p:nvSpPr>
          <p:cNvPr id="24" name="TextBox 23"/>
          <p:cNvSpPr txBox="1"/>
          <p:nvPr/>
        </p:nvSpPr>
        <p:spPr>
          <a:xfrm>
            <a:off x="8961120" y="3493008"/>
            <a:ext cx="2560320" cy="228600"/>
          </a:xfrm>
          <a:prstGeom prst="rect">
            <a:avLst/>
          </a:prstGeom>
          <a:noFill/>
        </p:spPr>
        <p:txBody>
          <a:bodyPr wrap="square">
            <a:spAutoFit/>
          </a:bodyPr>
          <a:lstStyle/>
          <a:p>
            <a:pPr algn="l"/>
            <a:r>
              <a:rPr sz="900" b="0" i="0">
                <a:solidFill>
                  <a:srgbClr val="8AA8A4"/>
                </a:solidFill>
                <a:latin typeface="Calibri"/>
              </a:rPr>
              <a:t>vs 0 in Q1</a:t>
            </a:r>
          </a:p>
        </p:txBody>
      </p:sp>
      <p:sp>
        <p:nvSpPr>
          <p:cNvPr id="25" name="TextBox 24"/>
          <p:cNvSpPr txBox="1"/>
          <p:nvPr/>
        </p:nvSpPr>
        <p:spPr>
          <a:xfrm>
            <a:off x="7772400" y="4297680"/>
            <a:ext cx="1097280" cy="640080"/>
          </a:xfrm>
          <a:prstGeom prst="rect">
            <a:avLst/>
          </a:prstGeom>
          <a:noFill/>
        </p:spPr>
        <p:txBody>
          <a:bodyPr wrap="square">
            <a:spAutoFit/>
          </a:bodyPr>
          <a:lstStyle/>
          <a:p>
            <a:pPr algn="l"/>
            <a:r>
              <a:rPr sz="4000" b="0" i="0">
                <a:solidFill>
                  <a:srgbClr val="C9A84C"/>
                </a:solidFill>
                <a:latin typeface="Cormorant Garamond"/>
              </a:rPr>
              <a:t>14</a:t>
            </a:r>
          </a:p>
        </p:txBody>
      </p:sp>
      <p:sp>
        <p:nvSpPr>
          <p:cNvPr id="26" name="TextBox 25"/>
          <p:cNvSpPr txBox="1"/>
          <p:nvPr/>
        </p:nvSpPr>
        <p:spPr>
          <a:xfrm>
            <a:off x="8961120" y="4370832"/>
            <a:ext cx="2560320" cy="292608"/>
          </a:xfrm>
          <a:prstGeom prst="rect">
            <a:avLst/>
          </a:prstGeom>
          <a:noFill/>
        </p:spPr>
        <p:txBody>
          <a:bodyPr wrap="square">
            <a:spAutoFit/>
          </a:bodyPr>
          <a:lstStyle/>
          <a:p>
            <a:pPr algn="l"/>
            <a:r>
              <a:rPr sz="1100" b="1" i="0">
                <a:solidFill>
                  <a:srgbClr val="F7F3EE"/>
                </a:solidFill>
                <a:latin typeface="Calibri"/>
              </a:rPr>
              <a:t>AI Visibility Score</a:t>
            </a:r>
          </a:p>
        </p:txBody>
      </p:sp>
      <p:sp>
        <p:nvSpPr>
          <p:cNvPr id="27" name="TextBox 26"/>
          <p:cNvSpPr txBox="1"/>
          <p:nvPr/>
        </p:nvSpPr>
        <p:spPr>
          <a:xfrm>
            <a:off x="8961120" y="4681728"/>
            <a:ext cx="2560320" cy="228600"/>
          </a:xfrm>
          <a:prstGeom prst="rect">
            <a:avLst/>
          </a:prstGeom>
          <a:noFill/>
        </p:spPr>
        <p:txBody>
          <a:bodyPr wrap="square">
            <a:spAutoFit/>
          </a:bodyPr>
          <a:lstStyle/>
          <a:p>
            <a:pPr algn="l"/>
            <a:r>
              <a:rPr sz="900" b="0" i="0">
                <a:solidFill>
                  <a:srgbClr val="8AA8A4"/>
                </a:solidFill>
                <a:latin typeface="Calibri"/>
              </a:rPr>
              <a:t>Semrush benchmark</a:t>
            </a:r>
          </a:p>
        </p:txBody>
      </p:sp>
      <p:sp>
        <p:nvSpPr>
          <p:cNvPr id="28" name="TextBox 27"/>
          <p:cNvSpPr txBox="1"/>
          <p:nvPr/>
        </p:nvSpPr>
        <p:spPr>
          <a:xfrm>
            <a:off x="7772400" y="5440680"/>
            <a:ext cx="3749039" cy="274320"/>
          </a:xfrm>
          <a:prstGeom prst="rect">
            <a:avLst/>
          </a:prstGeom>
          <a:noFill/>
        </p:spPr>
        <p:txBody>
          <a:bodyPr wrap="square">
            <a:spAutoFit/>
          </a:bodyPr>
          <a:lstStyle/>
          <a:p>
            <a:pPr algn="l"/>
            <a:r>
              <a:rPr sz="900" b="0" i="0">
                <a:solidFill>
                  <a:srgbClr val="70928E"/>
                </a:solidFill>
                <a:latin typeface="Calibri"/>
              </a:rPr>
              <a:t>AI Mode citations: 0 today - closing this is Q3's AEO priority.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III - CHANNEL PERFORMANCE</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Instagram - The Foundation We Laid</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08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5760720" cy="3840480"/>
          </a:xfrm>
          <a:prstGeom prst="rect">
            <a:avLst/>
          </a:prstGeom>
          <a:solidFill>
            <a:srgbClr val="FFFFFF"/>
          </a:solidFill>
          <a:ln w="1905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576072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17904"/>
            <a:ext cx="5394960" cy="219456"/>
          </a:xfrm>
          <a:prstGeom prst="rect">
            <a:avLst/>
          </a:prstGeom>
          <a:noFill/>
        </p:spPr>
        <p:txBody>
          <a:bodyPr wrap="square">
            <a:spAutoFit/>
          </a:bodyPr>
          <a:lstStyle/>
          <a:p>
            <a:pPr algn="l"/>
            <a:r>
              <a:rPr sz="800" b="1" i="0">
                <a:solidFill>
                  <a:srgbClr val="C9A84C"/>
                </a:solidFill>
                <a:latin typeface="Calibri"/>
              </a:rPr>
              <a:t>WHAT WE'RE SAYING UP FRONT</a:t>
            </a:r>
          </a:p>
        </p:txBody>
      </p:sp>
      <p:sp>
        <p:nvSpPr>
          <p:cNvPr id="10" name="TextBox 9"/>
          <p:cNvSpPr txBox="1"/>
          <p:nvPr/>
        </p:nvSpPr>
        <p:spPr>
          <a:xfrm>
            <a:off x="640080" y="1783080"/>
            <a:ext cx="5394960" cy="777240"/>
          </a:xfrm>
          <a:prstGeom prst="rect">
            <a:avLst/>
          </a:prstGeom>
          <a:noFill/>
        </p:spPr>
        <p:txBody>
          <a:bodyPr wrap="square">
            <a:spAutoFit/>
          </a:bodyPr>
          <a:lstStyle/>
          <a:p>
            <a:pPr algn="l"/>
            <a:r>
              <a:rPr sz="1400" b="0" i="1">
                <a:solidFill>
                  <a:srgbClr val="1C1C1A"/>
                </a:solidFill>
                <a:latin typeface="Cormorant Garamond"/>
              </a:rPr>
              <a:t>Instagram launched late June 2026. There is no Q2 performance data to report - and that is entirely by design.</a:t>
            </a:r>
          </a:p>
        </p:txBody>
      </p:sp>
      <p:sp>
        <p:nvSpPr>
          <p:cNvPr id="11" name="TextBox 10"/>
          <p:cNvSpPr txBox="1"/>
          <p:nvPr/>
        </p:nvSpPr>
        <p:spPr>
          <a:xfrm>
            <a:off x="640080" y="2606040"/>
            <a:ext cx="5394960" cy="914400"/>
          </a:xfrm>
          <a:prstGeom prst="rect">
            <a:avLst/>
          </a:prstGeom>
          <a:noFill/>
        </p:spPr>
        <p:txBody>
          <a:bodyPr wrap="square">
            <a:spAutoFit/>
          </a:bodyPr>
          <a:lstStyle/>
          <a:p>
            <a:pPr algn="l"/>
            <a:r>
              <a:rPr sz="1000" b="0" i="0">
                <a:solidFill>
                  <a:srgbClr val="6B6460"/>
                </a:solidFill>
                <a:latin typeface="Calibri"/>
              </a:rPr>
              <a:t>Building brand recognition before measuring it is deliberate. Instagram's role is to plant the Wellspring name before someone feels the need for therapy. Awareness doesn't convert in week one - it shows up as better paid performance six to twelve weeks later.</a:t>
            </a:r>
          </a:p>
        </p:txBody>
      </p:sp>
      <p:sp>
        <p:nvSpPr>
          <p:cNvPr id="12" name="Rectangle 11"/>
          <p:cNvSpPr/>
          <p:nvPr/>
        </p:nvSpPr>
        <p:spPr>
          <a:xfrm>
            <a:off x="640080" y="3657600"/>
            <a:ext cx="64008" cy="8229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4088" y="3657600"/>
            <a:ext cx="5330952" cy="822960"/>
          </a:xfrm>
          <a:prstGeom prst="rect">
            <a:avLst/>
          </a:prstGeom>
          <a:solidFill>
            <a:srgbClr val="FBF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749040"/>
            <a:ext cx="5074920" cy="640080"/>
          </a:xfrm>
          <a:prstGeom prst="rect">
            <a:avLst/>
          </a:prstGeom>
          <a:noFill/>
        </p:spPr>
        <p:txBody>
          <a:bodyPr wrap="square">
            <a:spAutoFit/>
          </a:bodyPr>
          <a:lstStyle/>
          <a:p>
            <a:pPr algn="l"/>
            <a:r>
              <a:rPr sz="950" b="0" i="0">
                <a:solidFill>
                  <a:srgbClr val="1C1C1A"/>
                </a:solidFill>
                <a:latin typeface="Calibri"/>
              </a:rPr>
              <a:t>Why now: Google Ads captures people already searching. Instagram reaches people before they search. As paid competition increases, upstream brand awareness is the only durable defence. We're building that now.</a:t>
            </a:r>
          </a:p>
        </p:txBody>
      </p:sp>
      <p:sp>
        <p:nvSpPr>
          <p:cNvPr id="15" name="TextBox 14"/>
          <p:cNvSpPr txBox="1"/>
          <p:nvPr/>
        </p:nvSpPr>
        <p:spPr>
          <a:xfrm>
            <a:off x="6492240" y="1417320"/>
            <a:ext cx="5212080" cy="292608"/>
          </a:xfrm>
          <a:prstGeom prst="rect">
            <a:avLst/>
          </a:prstGeom>
          <a:noFill/>
        </p:spPr>
        <p:txBody>
          <a:bodyPr wrap="square">
            <a:spAutoFit/>
          </a:bodyPr>
          <a:lstStyle/>
          <a:p>
            <a:pPr algn="l"/>
            <a:r>
              <a:rPr sz="1200" b="0" i="0">
                <a:solidFill>
                  <a:srgbClr val="1C1C1A"/>
                </a:solidFill>
                <a:latin typeface="Cormorant Garamond"/>
              </a:rPr>
              <a:t>What We Set Up in Q2</a:t>
            </a:r>
          </a:p>
        </p:txBody>
      </p:sp>
      <p:sp>
        <p:nvSpPr>
          <p:cNvPr id="16" name="Rectangle 15"/>
          <p:cNvSpPr/>
          <p:nvPr/>
        </p:nvSpPr>
        <p:spPr>
          <a:xfrm>
            <a:off x="6492240" y="1828800"/>
            <a:ext cx="5212080" cy="9144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920240"/>
            <a:ext cx="4937760" cy="256032"/>
          </a:xfrm>
          <a:prstGeom prst="rect">
            <a:avLst/>
          </a:prstGeom>
          <a:noFill/>
        </p:spPr>
        <p:txBody>
          <a:bodyPr wrap="square">
            <a:spAutoFit/>
          </a:bodyPr>
          <a:lstStyle/>
          <a:p>
            <a:pPr algn="l"/>
            <a:r>
              <a:rPr sz="1050" b="1" i="0">
                <a:solidFill>
                  <a:srgbClr val="1C1C1A"/>
                </a:solidFill>
                <a:latin typeface="Calibri"/>
              </a:rPr>
              <a:t>Account created and branded</a:t>
            </a:r>
          </a:p>
        </p:txBody>
      </p:sp>
      <p:sp>
        <p:nvSpPr>
          <p:cNvPr id="18" name="TextBox 17"/>
          <p:cNvSpPr txBox="1"/>
          <p:nvPr/>
        </p:nvSpPr>
        <p:spPr>
          <a:xfrm>
            <a:off x="6629400" y="2194560"/>
            <a:ext cx="4937760" cy="457200"/>
          </a:xfrm>
          <a:prstGeom prst="rect">
            <a:avLst/>
          </a:prstGeom>
          <a:noFill/>
        </p:spPr>
        <p:txBody>
          <a:bodyPr wrap="square">
            <a:spAutoFit/>
          </a:bodyPr>
          <a:lstStyle/>
          <a:p>
            <a:pPr algn="l"/>
            <a:r>
              <a:rPr sz="950" b="0" i="0">
                <a:solidFill>
                  <a:srgbClr val="6B6460"/>
                </a:solidFill>
                <a:latin typeface="Calibri"/>
              </a:rPr>
              <a:t>Profile, bio, link-in-bio, and highlight covers aligned with Wellspring's visual identity.</a:t>
            </a:r>
          </a:p>
        </p:txBody>
      </p:sp>
      <p:sp>
        <p:nvSpPr>
          <p:cNvPr id="19" name="Rectangle 18"/>
          <p:cNvSpPr/>
          <p:nvPr/>
        </p:nvSpPr>
        <p:spPr>
          <a:xfrm>
            <a:off x="6492240" y="2852928"/>
            <a:ext cx="5212080" cy="9144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2944368"/>
            <a:ext cx="4937760" cy="256032"/>
          </a:xfrm>
          <a:prstGeom prst="rect">
            <a:avLst/>
          </a:prstGeom>
          <a:noFill/>
        </p:spPr>
        <p:txBody>
          <a:bodyPr wrap="square">
            <a:spAutoFit/>
          </a:bodyPr>
          <a:lstStyle/>
          <a:p>
            <a:pPr algn="l"/>
            <a:r>
              <a:rPr sz="1050" b="1" i="0">
                <a:solidFill>
                  <a:srgbClr val="1C1C1A"/>
                </a:solidFill>
                <a:latin typeface="Calibri"/>
              </a:rPr>
              <a:t>Content pillars defined</a:t>
            </a:r>
          </a:p>
        </p:txBody>
      </p:sp>
      <p:sp>
        <p:nvSpPr>
          <p:cNvPr id="21" name="TextBox 20"/>
          <p:cNvSpPr txBox="1"/>
          <p:nvPr/>
        </p:nvSpPr>
        <p:spPr>
          <a:xfrm>
            <a:off x="6629400" y="3218688"/>
            <a:ext cx="4937760" cy="457200"/>
          </a:xfrm>
          <a:prstGeom prst="rect">
            <a:avLst/>
          </a:prstGeom>
          <a:noFill/>
        </p:spPr>
        <p:txBody>
          <a:bodyPr wrap="square">
            <a:spAutoFit/>
          </a:bodyPr>
          <a:lstStyle/>
          <a:p>
            <a:pPr algn="l"/>
            <a:r>
              <a:rPr sz="950" b="0" i="0">
                <a:solidFill>
                  <a:srgbClr val="6B6460"/>
                </a:solidFill>
                <a:latin typeface="Calibri"/>
              </a:rPr>
              <a:t>Three themes: Mental health education, Practice culture, and Patient journey stories.</a:t>
            </a:r>
          </a:p>
        </p:txBody>
      </p:sp>
      <p:sp>
        <p:nvSpPr>
          <p:cNvPr id="22" name="Rectangle 21"/>
          <p:cNvSpPr/>
          <p:nvPr/>
        </p:nvSpPr>
        <p:spPr>
          <a:xfrm>
            <a:off x="6492240" y="3877056"/>
            <a:ext cx="5212080" cy="9144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3968496"/>
            <a:ext cx="4937760" cy="256032"/>
          </a:xfrm>
          <a:prstGeom prst="rect">
            <a:avLst/>
          </a:prstGeom>
          <a:noFill/>
        </p:spPr>
        <p:txBody>
          <a:bodyPr wrap="square">
            <a:spAutoFit/>
          </a:bodyPr>
          <a:lstStyle/>
          <a:p>
            <a:pPr algn="l"/>
            <a:r>
              <a:rPr sz="1050" b="1" i="0">
                <a:solidFill>
                  <a:srgbClr val="1C1C1A"/>
                </a:solidFill>
                <a:latin typeface="Calibri"/>
              </a:rPr>
              <a:t>Posting cadence established</a:t>
            </a:r>
          </a:p>
        </p:txBody>
      </p:sp>
      <p:sp>
        <p:nvSpPr>
          <p:cNvPr id="24" name="TextBox 23"/>
          <p:cNvSpPr txBox="1"/>
          <p:nvPr/>
        </p:nvSpPr>
        <p:spPr>
          <a:xfrm>
            <a:off x="6629400" y="4242816"/>
            <a:ext cx="4937760" cy="457200"/>
          </a:xfrm>
          <a:prstGeom prst="rect">
            <a:avLst/>
          </a:prstGeom>
          <a:noFill/>
        </p:spPr>
        <p:txBody>
          <a:bodyPr wrap="square">
            <a:spAutoFit/>
          </a:bodyPr>
          <a:lstStyle/>
          <a:p>
            <a:pPr algn="l"/>
            <a:r>
              <a:rPr sz="950" b="0" i="0">
                <a:solidFill>
                  <a:srgbClr val="6B6460"/>
                </a:solidFill>
                <a:latin typeface="Calibri"/>
              </a:rPr>
              <a:t>3x per week target for Q3. Q2 = setup and initial posts only.</a:t>
            </a:r>
          </a:p>
        </p:txBody>
      </p:sp>
      <p:sp>
        <p:nvSpPr>
          <p:cNvPr id="25" name="Rectangle 24"/>
          <p:cNvSpPr/>
          <p:nvPr/>
        </p:nvSpPr>
        <p:spPr>
          <a:xfrm>
            <a:off x="6492240" y="4901184"/>
            <a:ext cx="5212080" cy="91440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4992624"/>
            <a:ext cx="4937760" cy="256032"/>
          </a:xfrm>
          <a:prstGeom prst="rect">
            <a:avLst/>
          </a:prstGeom>
          <a:noFill/>
        </p:spPr>
        <p:txBody>
          <a:bodyPr wrap="square">
            <a:spAutoFit/>
          </a:bodyPr>
          <a:lstStyle/>
          <a:p>
            <a:pPr algn="l"/>
            <a:r>
              <a:rPr sz="1050" b="1" i="0">
                <a:solidFill>
                  <a:srgbClr val="1C1C1A"/>
                </a:solidFill>
                <a:latin typeface="Calibri"/>
              </a:rPr>
              <a:t>What to watch in Q3</a:t>
            </a:r>
          </a:p>
        </p:txBody>
      </p:sp>
      <p:sp>
        <p:nvSpPr>
          <p:cNvPr id="27" name="TextBox 26"/>
          <p:cNvSpPr txBox="1"/>
          <p:nvPr/>
        </p:nvSpPr>
        <p:spPr>
          <a:xfrm>
            <a:off x="6629400" y="5266944"/>
            <a:ext cx="4937760" cy="457200"/>
          </a:xfrm>
          <a:prstGeom prst="rect">
            <a:avLst/>
          </a:prstGeom>
          <a:noFill/>
        </p:spPr>
        <p:txBody>
          <a:bodyPr wrap="square">
            <a:spAutoFit/>
          </a:bodyPr>
          <a:lstStyle/>
          <a:p>
            <a:pPr algn="l"/>
            <a:r>
              <a:rPr sz="950" b="0" i="0">
                <a:solidFill>
                  <a:srgbClr val="6B6460"/>
                </a:solidFill>
                <a:latin typeface="Calibri"/>
              </a:rPr>
              <a:t>Profile visits, reach growth, story views are the leading indicators. 90-day review in October.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IV - INSIGHTS</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Who Is Reaching Out</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09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TextBox 6"/>
          <p:cNvSpPr txBox="1"/>
          <p:nvPr/>
        </p:nvSpPr>
        <p:spPr>
          <a:xfrm>
            <a:off x="457200" y="1417320"/>
            <a:ext cx="5486400" cy="274320"/>
          </a:xfrm>
          <a:prstGeom prst="rect">
            <a:avLst/>
          </a:prstGeom>
          <a:noFill/>
        </p:spPr>
        <p:txBody>
          <a:bodyPr wrap="square">
            <a:spAutoFit/>
          </a:bodyPr>
          <a:lstStyle/>
          <a:p>
            <a:pPr algn="l"/>
            <a:r>
              <a:rPr sz="1100" b="0" i="0">
                <a:solidFill>
                  <a:srgbClr val="1C1C1A"/>
                </a:solidFill>
                <a:latin typeface="Cormorant Garamond"/>
              </a:rPr>
              <a:t>Where Q2 Leads Came From (192 consultations)</a:t>
            </a:r>
          </a:p>
        </p:txBody>
      </p:sp>
      <p:sp>
        <p:nvSpPr>
          <p:cNvPr id="8" name="TextBox 7"/>
          <p:cNvSpPr txBox="1"/>
          <p:nvPr/>
        </p:nvSpPr>
        <p:spPr>
          <a:xfrm>
            <a:off x="457200" y="1828800"/>
            <a:ext cx="2286000" cy="256032"/>
          </a:xfrm>
          <a:prstGeom prst="rect">
            <a:avLst/>
          </a:prstGeom>
          <a:noFill/>
        </p:spPr>
        <p:txBody>
          <a:bodyPr wrap="square">
            <a:spAutoFit/>
          </a:bodyPr>
          <a:lstStyle/>
          <a:p>
            <a:pPr algn="l"/>
            <a:r>
              <a:rPr sz="1050" b="1" i="0">
                <a:solidFill>
                  <a:srgbClr val="1C1C1A"/>
                </a:solidFill>
                <a:latin typeface="Calibri"/>
              </a:rPr>
              <a:t>Google Ads</a:t>
            </a:r>
          </a:p>
        </p:txBody>
      </p:sp>
      <p:sp>
        <p:nvSpPr>
          <p:cNvPr id="9" name="Rectangle 8"/>
          <p:cNvSpPr/>
          <p:nvPr/>
        </p:nvSpPr>
        <p:spPr>
          <a:xfrm>
            <a:off x="2834640" y="1874520"/>
            <a:ext cx="2286000" cy="18288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34640" y="1874520"/>
            <a:ext cx="4114800" cy="18288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57800" y="1828800"/>
            <a:ext cx="640080" cy="256032"/>
          </a:xfrm>
          <a:prstGeom prst="rect">
            <a:avLst/>
          </a:prstGeom>
          <a:noFill/>
        </p:spPr>
        <p:txBody>
          <a:bodyPr wrap="square">
            <a:spAutoFit/>
          </a:bodyPr>
          <a:lstStyle/>
          <a:p>
            <a:pPr algn="l"/>
            <a:r>
              <a:rPr sz="1050" b="1" i="0">
                <a:solidFill>
                  <a:srgbClr val="3D7A72"/>
                </a:solidFill>
                <a:latin typeface="Calibri"/>
              </a:rPr>
              <a:t>45%</a:t>
            </a:r>
          </a:p>
        </p:txBody>
      </p:sp>
      <p:sp>
        <p:nvSpPr>
          <p:cNvPr id="12" name="TextBox 11"/>
          <p:cNvSpPr txBox="1"/>
          <p:nvPr/>
        </p:nvSpPr>
        <p:spPr>
          <a:xfrm>
            <a:off x="457200" y="2331720"/>
            <a:ext cx="2286000" cy="256032"/>
          </a:xfrm>
          <a:prstGeom prst="rect">
            <a:avLst/>
          </a:prstGeom>
          <a:noFill/>
        </p:spPr>
        <p:txBody>
          <a:bodyPr wrap="square">
            <a:spAutoFit/>
          </a:bodyPr>
          <a:lstStyle/>
          <a:p>
            <a:pPr algn="l"/>
            <a:r>
              <a:rPr sz="1050" b="1" i="0">
                <a:solidFill>
                  <a:srgbClr val="1C1C1A"/>
                </a:solidFill>
                <a:latin typeface="Calibri"/>
              </a:rPr>
              <a:t>Internal Referrals</a:t>
            </a:r>
          </a:p>
        </p:txBody>
      </p:sp>
      <p:sp>
        <p:nvSpPr>
          <p:cNvPr id="13" name="Rectangle 12"/>
          <p:cNvSpPr/>
          <p:nvPr/>
        </p:nvSpPr>
        <p:spPr>
          <a:xfrm>
            <a:off x="2834640" y="2377440"/>
            <a:ext cx="2286000" cy="18288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34640" y="2377440"/>
            <a:ext cx="2377440" cy="18288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331720"/>
            <a:ext cx="640080" cy="256032"/>
          </a:xfrm>
          <a:prstGeom prst="rect">
            <a:avLst/>
          </a:prstGeom>
          <a:noFill/>
        </p:spPr>
        <p:txBody>
          <a:bodyPr wrap="square">
            <a:spAutoFit/>
          </a:bodyPr>
          <a:lstStyle/>
          <a:p>
            <a:pPr algn="l"/>
            <a:r>
              <a:rPr sz="1050" b="1" i="0">
                <a:solidFill>
                  <a:srgbClr val="C9882A"/>
                </a:solidFill>
                <a:latin typeface="Calibri"/>
              </a:rPr>
              <a:t>26%</a:t>
            </a:r>
          </a:p>
        </p:txBody>
      </p:sp>
      <p:sp>
        <p:nvSpPr>
          <p:cNvPr id="16" name="TextBox 15"/>
          <p:cNvSpPr txBox="1"/>
          <p:nvPr/>
        </p:nvSpPr>
        <p:spPr>
          <a:xfrm>
            <a:off x="457200" y="2834640"/>
            <a:ext cx="2286000" cy="256032"/>
          </a:xfrm>
          <a:prstGeom prst="rect">
            <a:avLst/>
          </a:prstGeom>
          <a:noFill/>
        </p:spPr>
        <p:txBody>
          <a:bodyPr wrap="square">
            <a:spAutoFit/>
          </a:bodyPr>
          <a:lstStyle/>
          <a:p>
            <a:pPr algn="l"/>
            <a:r>
              <a:rPr sz="1050" b="1" i="0">
                <a:solidFill>
                  <a:srgbClr val="1C1C1A"/>
                </a:solidFill>
                <a:latin typeface="Calibri"/>
              </a:rPr>
              <a:t>External (PT, Other)</a:t>
            </a:r>
          </a:p>
        </p:txBody>
      </p:sp>
      <p:sp>
        <p:nvSpPr>
          <p:cNvPr id="17" name="Rectangle 16"/>
          <p:cNvSpPr/>
          <p:nvPr/>
        </p:nvSpPr>
        <p:spPr>
          <a:xfrm>
            <a:off x="2834640" y="2880360"/>
            <a:ext cx="2286000" cy="18288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34640" y="2880360"/>
            <a:ext cx="1645920" cy="182880"/>
          </a:xfrm>
          <a:prstGeom prst="rect">
            <a:avLst/>
          </a:prstGeom>
          <a:solidFill>
            <a:srgbClr val="C25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2834640"/>
            <a:ext cx="640080" cy="256032"/>
          </a:xfrm>
          <a:prstGeom prst="rect">
            <a:avLst/>
          </a:prstGeom>
          <a:noFill/>
        </p:spPr>
        <p:txBody>
          <a:bodyPr wrap="square">
            <a:spAutoFit/>
          </a:bodyPr>
          <a:lstStyle/>
          <a:p>
            <a:pPr algn="l"/>
            <a:r>
              <a:rPr sz="1050" b="1" i="0">
                <a:solidFill>
                  <a:srgbClr val="C25B3F"/>
                </a:solidFill>
                <a:latin typeface="Calibri"/>
              </a:rPr>
              <a:t>18%</a:t>
            </a:r>
          </a:p>
        </p:txBody>
      </p:sp>
      <p:sp>
        <p:nvSpPr>
          <p:cNvPr id="20" name="TextBox 19"/>
          <p:cNvSpPr txBox="1"/>
          <p:nvPr/>
        </p:nvSpPr>
        <p:spPr>
          <a:xfrm>
            <a:off x="457200" y="3337560"/>
            <a:ext cx="2286000" cy="256032"/>
          </a:xfrm>
          <a:prstGeom prst="rect">
            <a:avLst/>
          </a:prstGeom>
          <a:noFill/>
        </p:spPr>
        <p:txBody>
          <a:bodyPr wrap="square">
            <a:spAutoFit/>
          </a:bodyPr>
          <a:lstStyle/>
          <a:p>
            <a:pPr algn="l"/>
            <a:r>
              <a:rPr sz="1050" b="1" i="0">
                <a:solidFill>
                  <a:srgbClr val="1C1C1A"/>
                </a:solidFill>
                <a:latin typeface="Calibri"/>
              </a:rPr>
              <a:t>Other / Organic</a:t>
            </a:r>
          </a:p>
        </p:txBody>
      </p:sp>
      <p:sp>
        <p:nvSpPr>
          <p:cNvPr id="21" name="Rectangle 20"/>
          <p:cNvSpPr/>
          <p:nvPr/>
        </p:nvSpPr>
        <p:spPr>
          <a:xfrm>
            <a:off x="2834640" y="3383280"/>
            <a:ext cx="2286000" cy="18288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834640" y="3383280"/>
            <a:ext cx="1005840" cy="182880"/>
          </a:xfrm>
          <a:prstGeom prst="rect">
            <a:avLst/>
          </a:prstGeom>
          <a:solidFill>
            <a:srgbClr val="6B6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3337560"/>
            <a:ext cx="640080" cy="256032"/>
          </a:xfrm>
          <a:prstGeom prst="rect">
            <a:avLst/>
          </a:prstGeom>
          <a:noFill/>
        </p:spPr>
        <p:txBody>
          <a:bodyPr wrap="square">
            <a:spAutoFit/>
          </a:bodyPr>
          <a:lstStyle/>
          <a:p>
            <a:pPr algn="l"/>
            <a:r>
              <a:rPr sz="1050" b="1" i="0">
                <a:solidFill>
                  <a:srgbClr val="6B6460"/>
                </a:solidFill>
                <a:latin typeface="Calibri"/>
              </a:rPr>
              <a:t>11%</a:t>
            </a:r>
          </a:p>
        </p:txBody>
      </p:sp>
      <p:sp>
        <p:nvSpPr>
          <p:cNvPr id="24" name="TextBox 23"/>
          <p:cNvSpPr txBox="1"/>
          <p:nvPr/>
        </p:nvSpPr>
        <p:spPr>
          <a:xfrm>
            <a:off x="457200" y="3931920"/>
            <a:ext cx="5486400" cy="274320"/>
          </a:xfrm>
          <a:prstGeom prst="rect">
            <a:avLst/>
          </a:prstGeom>
          <a:noFill/>
        </p:spPr>
        <p:txBody>
          <a:bodyPr wrap="square">
            <a:spAutoFit/>
          </a:bodyPr>
          <a:lstStyle/>
          <a:p>
            <a:pPr algn="l"/>
            <a:r>
              <a:rPr sz="1100" b="0" i="0">
                <a:solidFill>
                  <a:srgbClr val="1C1C1A"/>
                </a:solidFill>
                <a:latin typeface="Cormorant Garamond"/>
              </a:rPr>
              <a:t>Service Mix</a:t>
            </a:r>
          </a:p>
        </p:txBody>
      </p:sp>
      <p:sp>
        <p:nvSpPr>
          <p:cNvPr id="25" name="Rectangle 24"/>
          <p:cNvSpPr/>
          <p:nvPr/>
        </p:nvSpPr>
        <p:spPr>
          <a:xfrm>
            <a:off x="457200" y="4297680"/>
            <a:ext cx="256032" cy="256032"/>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97680"/>
            <a:ext cx="5029200" cy="256032"/>
          </a:xfrm>
          <a:prstGeom prst="rect">
            <a:avLst/>
          </a:prstGeom>
          <a:noFill/>
        </p:spPr>
        <p:txBody>
          <a:bodyPr wrap="square">
            <a:spAutoFit/>
          </a:bodyPr>
          <a:lstStyle/>
          <a:p>
            <a:pPr algn="l"/>
            <a:r>
              <a:rPr sz="1050" b="0" i="0">
                <a:solidFill>
                  <a:srgbClr val="1C1C1A"/>
                </a:solidFill>
                <a:latin typeface="Calibri"/>
              </a:rPr>
              <a:t>Psychotherapy  59%</a:t>
            </a:r>
          </a:p>
        </p:txBody>
      </p:sp>
      <p:sp>
        <p:nvSpPr>
          <p:cNvPr id="27" name="Rectangle 26"/>
          <p:cNvSpPr/>
          <p:nvPr/>
        </p:nvSpPr>
        <p:spPr>
          <a:xfrm>
            <a:off x="457200" y="4681728"/>
            <a:ext cx="256032" cy="256032"/>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681728"/>
            <a:ext cx="5029200" cy="256032"/>
          </a:xfrm>
          <a:prstGeom prst="rect">
            <a:avLst/>
          </a:prstGeom>
          <a:noFill/>
        </p:spPr>
        <p:txBody>
          <a:bodyPr wrap="square">
            <a:spAutoFit/>
          </a:bodyPr>
          <a:lstStyle/>
          <a:p>
            <a:pPr algn="l"/>
            <a:r>
              <a:rPr sz="1050" b="0" i="0">
                <a:solidFill>
                  <a:srgbClr val="1C1C1A"/>
                </a:solidFill>
                <a:latin typeface="Calibri"/>
              </a:rPr>
              <a:t>Medication Mgmt  15%</a:t>
            </a:r>
          </a:p>
        </p:txBody>
      </p:sp>
      <p:sp>
        <p:nvSpPr>
          <p:cNvPr id="29" name="Rectangle 28"/>
          <p:cNvSpPr/>
          <p:nvPr/>
        </p:nvSpPr>
        <p:spPr>
          <a:xfrm>
            <a:off x="457200" y="5065776"/>
            <a:ext cx="256032" cy="256032"/>
          </a:xfrm>
          <a:prstGeom prst="rect">
            <a:avLst/>
          </a:prstGeom>
          <a:solidFill>
            <a:srgbClr val="5C4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065776"/>
            <a:ext cx="5029200" cy="256032"/>
          </a:xfrm>
          <a:prstGeom prst="rect">
            <a:avLst/>
          </a:prstGeom>
          <a:noFill/>
        </p:spPr>
        <p:txBody>
          <a:bodyPr wrap="square">
            <a:spAutoFit/>
          </a:bodyPr>
          <a:lstStyle/>
          <a:p>
            <a:pPr algn="l"/>
            <a:r>
              <a:rPr sz="1050" b="0" i="0">
                <a:solidFill>
                  <a:srgbClr val="1C1C1A"/>
                </a:solidFill>
                <a:latin typeface="Calibri"/>
              </a:rPr>
              <a:t>Testing / ADHD  4%</a:t>
            </a:r>
          </a:p>
        </p:txBody>
      </p:sp>
      <p:sp>
        <p:nvSpPr>
          <p:cNvPr id="31" name="Rectangle 30"/>
          <p:cNvSpPr/>
          <p:nvPr/>
        </p:nvSpPr>
        <p:spPr>
          <a:xfrm>
            <a:off x="457200" y="5449824"/>
            <a:ext cx="256032" cy="256032"/>
          </a:xfrm>
          <a:prstGeom prst="rect">
            <a:avLst/>
          </a:prstGeom>
          <a:solidFill>
            <a:srgbClr val="6B6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449824"/>
            <a:ext cx="5029200" cy="256032"/>
          </a:xfrm>
          <a:prstGeom prst="rect">
            <a:avLst/>
          </a:prstGeom>
          <a:noFill/>
        </p:spPr>
        <p:txBody>
          <a:bodyPr wrap="square">
            <a:spAutoFit/>
          </a:bodyPr>
          <a:lstStyle/>
          <a:p>
            <a:pPr algn="l"/>
            <a:r>
              <a:rPr sz="1050" b="0" i="0">
                <a:solidFill>
                  <a:srgbClr val="1C1C1A"/>
                </a:solidFill>
                <a:latin typeface="Calibri"/>
              </a:rPr>
              <a:t>Combined / Other  22%</a:t>
            </a:r>
          </a:p>
        </p:txBody>
      </p:sp>
      <p:sp>
        <p:nvSpPr>
          <p:cNvPr id="33" name="TextBox 32"/>
          <p:cNvSpPr txBox="1"/>
          <p:nvPr/>
        </p:nvSpPr>
        <p:spPr>
          <a:xfrm>
            <a:off x="6400800" y="1417320"/>
            <a:ext cx="5303520" cy="274320"/>
          </a:xfrm>
          <a:prstGeom prst="rect">
            <a:avLst/>
          </a:prstGeom>
          <a:noFill/>
        </p:spPr>
        <p:txBody>
          <a:bodyPr wrap="square">
            <a:spAutoFit/>
          </a:bodyPr>
          <a:lstStyle/>
          <a:p>
            <a:pPr algn="l"/>
            <a:r>
              <a:rPr sz="1100" b="0" i="0">
                <a:solidFill>
                  <a:srgbClr val="1C1C1A"/>
                </a:solidFill>
                <a:latin typeface="Cormorant Garamond"/>
              </a:rPr>
              <a:t>Why Leads Don't Convert</a:t>
            </a:r>
          </a:p>
        </p:txBody>
      </p:sp>
      <p:sp>
        <p:nvSpPr>
          <p:cNvPr id="34" name="Rectangle 33"/>
          <p:cNvSpPr/>
          <p:nvPr/>
        </p:nvSpPr>
        <p:spPr>
          <a:xfrm>
            <a:off x="6400800" y="1828800"/>
            <a:ext cx="5303520" cy="128016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1828800"/>
            <a:ext cx="64008" cy="1280160"/>
          </a:xfrm>
          <a:prstGeom prst="rect">
            <a:avLst/>
          </a:prstGeom>
          <a:solidFill>
            <a:srgbClr val="C25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0" y="1938528"/>
            <a:ext cx="5029200" cy="274320"/>
          </a:xfrm>
          <a:prstGeom prst="rect">
            <a:avLst/>
          </a:prstGeom>
          <a:noFill/>
        </p:spPr>
        <p:txBody>
          <a:bodyPr wrap="square">
            <a:spAutoFit/>
          </a:bodyPr>
          <a:lstStyle/>
          <a:p>
            <a:pPr algn="l"/>
            <a:r>
              <a:rPr sz="1050" b="1" i="0">
                <a:solidFill>
                  <a:srgbClr val="1C1C1A"/>
                </a:solidFill>
                <a:latin typeface="Calibri"/>
              </a:rPr>
              <a:t>Insurance Not Accepted (HAP / Medicaid)</a:t>
            </a:r>
          </a:p>
        </p:txBody>
      </p:sp>
      <p:sp>
        <p:nvSpPr>
          <p:cNvPr id="37" name="TextBox 36"/>
          <p:cNvSpPr txBox="1"/>
          <p:nvPr/>
        </p:nvSpPr>
        <p:spPr>
          <a:xfrm>
            <a:off x="6583680" y="2240280"/>
            <a:ext cx="5029200" cy="777240"/>
          </a:xfrm>
          <a:prstGeom prst="rect">
            <a:avLst/>
          </a:prstGeom>
          <a:noFill/>
        </p:spPr>
        <p:txBody>
          <a:bodyPr wrap="square">
            <a:spAutoFit/>
          </a:bodyPr>
          <a:lstStyle/>
          <a:p>
            <a:pPr algn="l"/>
            <a:r>
              <a:rPr sz="950" b="0" i="0">
                <a:solidFill>
                  <a:srgbClr val="6B6460"/>
                </a:solidFill>
                <a:latin typeface="Calibri"/>
              </a:rPr>
              <a:t>~25-30% of lost leads every month. HAP status remains unresolved. Single highest-impact business decision for Q3.</a:t>
            </a:r>
          </a:p>
        </p:txBody>
      </p:sp>
      <p:sp>
        <p:nvSpPr>
          <p:cNvPr id="38" name="Rectangle 37"/>
          <p:cNvSpPr/>
          <p:nvPr/>
        </p:nvSpPr>
        <p:spPr>
          <a:xfrm>
            <a:off x="6400800" y="3246120"/>
            <a:ext cx="5303520" cy="128016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400800" y="3246120"/>
            <a:ext cx="64008" cy="128016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0" y="3355848"/>
            <a:ext cx="5029200" cy="274320"/>
          </a:xfrm>
          <a:prstGeom prst="rect">
            <a:avLst/>
          </a:prstGeom>
          <a:noFill/>
        </p:spPr>
        <p:txBody>
          <a:bodyPr wrap="square">
            <a:spAutoFit/>
          </a:bodyPr>
          <a:lstStyle/>
          <a:p>
            <a:pPr algn="l"/>
            <a:r>
              <a:rPr sz="1050" b="1" i="0">
                <a:solidFill>
                  <a:srgbClr val="1C1C1A"/>
                </a:solidFill>
                <a:latin typeface="Calibri"/>
              </a:rPr>
              <a:t>No Response / Follow-Up Pending</a:t>
            </a:r>
          </a:p>
        </p:txBody>
      </p:sp>
      <p:sp>
        <p:nvSpPr>
          <p:cNvPr id="41" name="TextBox 40"/>
          <p:cNvSpPr txBox="1"/>
          <p:nvPr/>
        </p:nvSpPr>
        <p:spPr>
          <a:xfrm>
            <a:off x="6583680" y="3657600"/>
            <a:ext cx="5029200" cy="777240"/>
          </a:xfrm>
          <a:prstGeom prst="rect">
            <a:avLst/>
          </a:prstGeom>
          <a:noFill/>
        </p:spPr>
        <p:txBody>
          <a:bodyPr wrap="square">
            <a:spAutoFit/>
          </a:bodyPr>
          <a:lstStyle/>
          <a:p>
            <a:pPr algn="l"/>
            <a:r>
              <a:rPr sz="950" b="0" i="0">
                <a:solidFill>
                  <a:srgbClr val="6B6460"/>
                </a:solidFill>
                <a:latin typeface="Calibri"/>
              </a:rPr>
              <a:t>~20% of leads marked pending. Fast follow-up materially improves conversion - Jun 14-21 best week correlated with quick response.</a:t>
            </a:r>
          </a:p>
        </p:txBody>
      </p:sp>
      <p:sp>
        <p:nvSpPr>
          <p:cNvPr id="42" name="Rectangle 41"/>
          <p:cNvSpPr/>
          <p:nvPr/>
        </p:nvSpPr>
        <p:spPr>
          <a:xfrm>
            <a:off x="6400800" y="4663440"/>
            <a:ext cx="5303520" cy="128016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4663440"/>
            <a:ext cx="64008" cy="128016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4773168"/>
            <a:ext cx="5029200" cy="274320"/>
          </a:xfrm>
          <a:prstGeom prst="rect">
            <a:avLst/>
          </a:prstGeom>
          <a:noFill/>
        </p:spPr>
        <p:txBody>
          <a:bodyPr wrap="square">
            <a:spAutoFit/>
          </a:bodyPr>
          <a:lstStyle/>
          <a:p>
            <a:pPr algn="l"/>
            <a:r>
              <a:rPr sz="1050" b="1" i="0">
                <a:solidFill>
                  <a:srgbClr val="1C1C1A"/>
                </a:solidFill>
                <a:latin typeface="Calibri"/>
              </a:rPr>
              <a:t>Capacity / Waitlist</a:t>
            </a:r>
          </a:p>
        </p:txBody>
      </p:sp>
      <p:sp>
        <p:nvSpPr>
          <p:cNvPr id="45" name="TextBox 44"/>
          <p:cNvSpPr txBox="1"/>
          <p:nvPr/>
        </p:nvSpPr>
        <p:spPr>
          <a:xfrm>
            <a:off x="6583680" y="5074920"/>
            <a:ext cx="5029200" cy="777240"/>
          </a:xfrm>
          <a:prstGeom prst="rect">
            <a:avLst/>
          </a:prstGeom>
          <a:noFill/>
        </p:spPr>
        <p:txBody>
          <a:bodyPr wrap="square">
            <a:spAutoFit/>
          </a:bodyPr>
          <a:lstStyle/>
          <a:p>
            <a:pPr algn="l"/>
            <a:r>
              <a:rPr sz="950" b="0" i="0">
                <a:solidFill>
                  <a:srgbClr val="6B6460"/>
                </a:solidFill>
                <a:latin typeface="Calibri"/>
              </a:rPr>
              <a:t>Some weeks scheduling rate drops due to therapist availability, not lead quality. A Wellspring-side variable, not a campaign problem.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2A"/>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C9A84C"/>
                </a:solidFill>
                <a:latin typeface="Calibri"/>
              </a:rPr>
              <a:t>ACT IV - INSIGHTS</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F7F3EE"/>
                </a:solidFill>
                <a:latin typeface="Cormorant Garamond"/>
              </a:rPr>
              <a:t>Four Things Q2 Confirmed</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8C89"/>
                </a:solidFill>
                <a:latin typeface="Calibri"/>
              </a:rPr>
              <a:t>10 / 16</a:t>
            </a:r>
          </a:p>
        </p:txBody>
      </p:sp>
      <p:sp>
        <p:nvSpPr>
          <p:cNvPr id="5" name="Rectangle 4"/>
          <p:cNvSpPr/>
          <p:nvPr/>
        </p:nvSpPr>
        <p:spPr>
          <a:xfrm>
            <a:off x="0" y="6601968"/>
            <a:ext cx="12188952" cy="256032"/>
          </a:xfrm>
          <a:prstGeom prst="rect">
            <a:avLst/>
          </a:prstGeom>
          <a:solidFill>
            <a:srgbClr val="142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5A7A76"/>
                </a:solidFill>
                <a:latin typeface="Calibri"/>
              </a:rPr>
              <a:t>Damco Digital  .  Wellspring Therapeutic Partners  .  Q2 2026 QBR  .  Confidential</a:t>
            </a:r>
          </a:p>
        </p:txBody>
      </p:sp>
      <p:sp>
        <p:nvSpPr>
          <p:cNvPr id="7" name="Rectangle 6"/>
          <p:cNvSpPr/>
          <p:nvPr/>
        </p:nvSpPr>
        <p:spPr>
          <a:xfrm>
            <a:off x="457200" y="1463040"/>
            <a:ext cx="3675887" cy="4892040"/>
          </a:xfrm>
          <a:prstGeom prst="rect">
            <a:avLst/>
          </a:prstGeom>
          <a:solidFill>
            <a:srgbClr val="253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63040"/>
            <a:ext cx="3675887"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536192"/>
            <a:ext cx="822960" cy="685800"/>
          </a:xfrm>
          <a:prstGeom prst="rect">
            <a:avLst/>
          </a:prstGeom>
          <a:noFill/>
        </p:spPr>
        <p:txBody>
          <a:bodyPr wrap="square">
            <a:spAutoFit/>
          </a:bodyPr>
          <a:lstStyle/>
          <a:p>
            <a:pPr algn="l"/>
            <a:r>
              <a:rPr sz="4000" b="0" i="0">
                <a:solidFill>
                  <a:srgbClr val="3A5652"/>
                </a:solidFill>
                <a:latin typeface="Cormorant Garamond"/>
              </a:rPr>
              <a:t>01</a:t>
            </a:r>
          </a:p>
        </p:txBody>
      </p:sp>
      <p:sp>
        <p:nvSpPr>
          <p:cNvPr id="10" name="TextBox 9"/>
          <p:cNvSpPr txBox="1"/>
          <p:nvPr/>
        </p:nvSpPr>
        <p:spPr>
          <a:xfrm>
            <a:off x="621792" y="2121408"/>
            <a:ext cx="3346703" cy="658368"/>
          </a:xfrm>
          <a:prstGeom prst="rect">
            <a:avLst/>
          </a:prstGeom>
          <a:noFill/>
        </p:spPr>
        <p:txBody>
          <a:bodyPr wrap="square">
            <a:spAutoFit/>
          </a:bodyPr>
          <a:lstStyle/>
          <a:p>
            <a:pPr algn="l"/>
            <a:r>
              <a:rPr sz="1500" b="0" i="0">
                <a:solidFill>
                  <a:srgbClr val="FFFFFF"/>
                </a:solidFill>
                <a:latin typeface="Cormorant Garamond"/>
              </a:rPr>
              <a:t>DSA proved to be our most efficient campaign</a:t>
            </a:r>
          </a:p>
        </p:txBody>
      </p:sp>
      <p:sp>
        <p:nvSpPr>
          <p:cNvPr id="11" name="TextBox 10"/>
          <p:cNvSpPr txBox="1"/>
          <p:nvPr/>
        </p:nvSpPr>
        <p:spPr>
          <a:xfrm>
            <a:off x="621792" y="2834640"/>
            <a:ext cx="3346703" cy="2468880"/>
          </a:xfrm>
          <a:prstGeom prst="rect">
            <a:avLst/>
          </a:prstGeom>
          <a:noFill/>
        </p:spPr>
        <p:txBody>
          <a:bodyPr wrap="square">
            <a:spAutoFit/>
          </a:bodyPr>
          <a:lstStyle/>
          <a:p>
            <a:pPr algn="l"/>
            <a:r>
              <a:rPr sz="950" b="0" i="0">
                <a:solidFill>
                  <a:srgbClr val="A0BDB9"/>
                </a:solidFill>
                <a:latin typeface="Calibri"/>
              </a:rPr>
              <a:t>Dynamic Search Ads consistently outperformed every other campaign type this quarter - delivering a $67 platform CPL against $117-120 for Generic Search. At $2.78 per click vs $4.73-6.79 for search campaigns, DSA did more with less. It received only 26% of Q2 budget, which is exactly why CPL rose as the quarter progressed. Q3 reverses that ratio.</a:t>
            </a:r>
          </a:p>
        </p:txBody>
      </p:sp>
      <p:sp>
        <p:nvSpPr>
          <p:cNvPr id="12" name="Rectangle 11"/>
          <p:cNvSpPr/>
          <p:nvPr/>
        </p:nvSpPr>
        <p:spPr>
          <a:xfrm>
            <a:off x="621792" y="5852160"/>
            <a:ext cx="3346703" cy="292608"/>
          </a:xfrm>
          <a:prstGeom prst="rect">
            <a:avLst/>
          </a:prstGeom>
          <a:solidFill>
            <a:srgbClr val="304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9592"/>
            <a:ext cx="3273551" cy="256032"/>
          </a:xfrm>
          <a:prstGeom prst="rect">
            <a:avLst/>
          </a:prstGeom>
          <a:noFill/>
        </p:spPr>
        <p:txBody>
          <a:bodyPr wrap="square">
            <a:spAutoFit/>
          </a:bodyPr>
          <a:lstStyle/>
          <a:p>
            <a:pPr algn="l"/>
            <a:r>
              <a:rPr sz="850" b="1" i="0">
                <a:solidFill>
                  <a:srgbClr val="C9A84C"/>
                </a:solidFill>
                <a:latin typeface="Calibri"/>
              </a:rPr>
              <a:t>Action: Shift to 70% DSA budget allocation in Q3</a:t>
            </a:r>
          </a:p>
        </p:txBody>
      </p:sp>
      <p:sp>
        <p:nvSpPr>
          <p:cNvPr id="14" name="Rectangle 13"/>
          <p:cNvSpPr/>
          <p:nvPr/>
        </p:nvSpPr>
        <p:spPr>
          <a:xfrm>
            <a:off x="4334255" y="1463040"/>
            <a:ext cx="3675887" cy="4892040"/>
          </a:xfrm>
          <a:prstGeom prst="rect">
            <a:avLst/>
          </a:prstGeom>
          <a:solidFill>
            <a:srgbClr val="253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34255" y="1463040"/>
            <a:ext cx="3675887" cy="4572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7" y="1536192"/>
            <a:ext cx="822960" cy="685800"/>
          </a:xfrm>
          <a:prstGeom prst="rect">
            <a:avLst/>
          </a:prstGeom>
          <a:noFill/>
        </p:spPr>
        <p:txBody>
          <a:bodyPr wrap="square">
            <a:spAutoFit/>
          </a:bodyPr>
          <a:lstStyle/>
          <a:p>
            <a:pPr algn="l"/>
            <a:r>
              <a:rPr sz="4000" b="0" i="0">
                <a:solidFill>
                  <a:srgbClr val="3A5652"/>
                </a:solidFill>
                <a:latin typeface="Cormorant Garamond"/>
              </a:rPr>
              <a:t>02</a:t>
            </a:r>
          </a:p>
        </p:txBody>
      </p:sp>
      <p:sp>
        <p:nvSpPr>
          <p:cNvPr id="17" name="TextBox 16"/>
          <p:cNvSpPr txBox="1"/>
          <p:nvPr/>
        </p:nvSpPr>
        <p:spPr>
          <a:xfrm>
            <a:off x="4498847" y="2121408"/>
            <a:ext cx="3346703" cy="658368"/>
          </a:xfrm>
          <a:prstGeom prst="rect">
            <a:avLst/>
          </a:prstGeom>
          <a:noFill/>
        </p:spPr>
        <p:txBody>
          <a:bodyPr wrap="square">
            <a:spAutoFit/>
          </a:bodyPr>
          <a:lstStyle/>
          <a:p>
            <a:pPr algn="l"/>
            <a:r>
              <a:rPr sz="1500" b="0" i="0">
                <a:solidFill>
                  <a:srgbClr val="FFFFFF"/>
                </a:solidFill>
                <a:latin typeface="Cormorant Garamond"/>
              </a:rPr>
              <a:t>Broad Match expanded reach when demand was soft</a:t>
            </a:r>
          </a:p>
        </p:txBody>
      </p:sp>
      <p:sp>
        <p:nvSpPr>
          <p:cNvPr id="18" name="TextBox 17"/>
          <p:cNvSpPr txBox="1"/>
          <p:nvPr/>
        </p:nvSpPr>
        <p:spPr>
          <a:xfrm>
            <a:off x="4498847" y="2834640"/>
            <a:ext cx="3346703" cy="2468880"/>
          </a:xfrm>
          <a:prstGeom prst="rect">
            <a:avLst/>
          </a:prstGeom>
          <a:noFill/>
        </p:spPr>
        <p:txBody>
          <a:bodyPr wrap="square">
            <a:spAutoFit/>
          </a:bodyPr>
          <a:lstStyle/>
          <a:p>
            <a:pPr algn="l"/>
            <a:r>
              <a:rPr sz="950" b="0" i="0">
                <a:solidFill>
                  <a:srgbClr val="A0BDB9"/>
                </a:solidFill>
                <a:latin typeface="Calibri"/>
              </a:rPr>
              <a:t>Launching the Generic Search Broad campaign opened up a wider range of search queries beyond our exact-match terms. In a quarter where overall therapy search demand in Michigan was lower than expected, this proved critical - it captured adjacent intent signals and kept lead volume steady even when direct demand dipped, complementing DSA rather than competing with it.</a:t>
            </a:r>
          </a:p>
        </p:txBody>
      </p:sp>
      <p:sp>
        <p:nvSpPr>
          <p:cNvPr id="19" name="Rectangle 18"/>
          <p:cNvSpPr/>
          <p:nvPr/>
        </p:nvSpPr>
        <p:spPr>
          <a:xfrm>
            <a:off x="4498847" y="5852160"/>
            <a:ext cx="3346703" cy="292608"/>
          </a:xfrm>
          <a:prstGeom prst="rect">
            <a:avLst/>
          </a:prstGeom>
          <a:solidFill>
            <a:srgbClr val="304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3" y="5879592"/>
            <a:ext cx="3273551" cy="256032"/>
          </a:xfrm>
          <a:prstGeom prst="rect">
            <a:avLst/>
          </a:prstGeom>
          <a:noFill/>
        </p:spPr>
        <p:txBody>
          <a:bodyPr wrap="square">
            <a:spAutoFit/>
          </a:bodyPr>
          <a:lstStyle/>
          <a:p>
            <a:pPr algn="l"/>
            <a:r>
              <a:rPr sz="850" b="1" i="0">
                <a:solidFill>
                  <a:srgbClr val="C9882A"/>
                </a:solidFill>
                <a:latin typeface="Calibri"/>
              </a:rPr>
              <a:t>Action: Maintain Broad with tighter negative keyword list</a:t>
            </a:r>
          </a:p>
        </p:txBody>
      </p:sp>
      <p:sp>
        <p:nvSpPr>
          <p:cNvPr id="21" name="Rectangle 20"/>
          <p:cNvSpPr/>
          <p:nvPr/>
        </p:nvSpPr>
        <p:spPr>
          <a:xfrm>
            <a:off x="8211310" y="1463040"/>
            <a:ext cx="3675887" cy="4892040"/>
          </a:xfrm>
          <a:prstGeom prst="rect">
            <a:avLst/>
          </a:prstGeom>
          <a:solidFill>
            <a:srgbClr val="253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11310" y="1463040"/>
            <a:ext cx="3675887" cy="45720"/>
          </a:xfrm>
          <a:prstGeom prst="rect">
            <a:avLst/>
          </a:prstGeom>
          <a:solidFill>
            <a:srgbClr val="3D8A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5902" y="1536192"/>
            <a:ext cx="822960" cy="685800"/>
          </a:xfrm>
          <a:prstGeom prst="rect">
            <a:avLst/>
          </a:prstGeom>
          <a:noFill/>
        </p:spPr>
        <p:txBody>
          <a:bodyPr wrap="square">
            <a:spAutoFit/>
          </a:bodyPr>
          <a:lstStyle/>
          <a:p>
            <a:pPr algn="l"/>
            <a:r>
              <a:rPr sz="4000" b="0" i="0">
                <a:solidFill>
                  <a:srgbClr val="3A5652"/>
                </a:solidFill>
                <a:latin typeface="Cormorant Garamond"/>
              </a:rPr>
              <a:t>03</a:t>
            </a:r>
          </a:p>
        </p:txBody>
      </p:sp>
      <p:sp>
        <p:nvSpPr>
          <p:cNvPr id="24" name="TextBox 23"/>
          <p:cNvSpPr txBox="1"/>
          <p:nvPr/>
        </p:nvSpPr>
        <p:spPr>
          <a:xfrm>
            <a:off x="8375902" y="2121408"/>
            <a:ext cx="3346703" cy="658368"/>
          </a:xfrm>
          <a:prstGeom prst="rect">
            <a:avLst/>
          </a:prstGeom>
          <a:noFill/>
        </p:spPr>
        <p:txBody>
          <a:bodyPr wrap="square">
            <a:spAutoFit/>
          </a:bodyPr>
          <a:lstStyle/>
          <a:p>
            <a:pPr algn="l"/>
            <a:r>
              <a:rPr sz="1500" b="0" i="0">
                <a:solidFill>
                  <a:srgbClr val="FFFFFF"/>
                </a:solidFill>
                <a:latin typeface="Cormorant Garamond"/>
              </a:rPr>
              <a:t>Ad relevance stayed strong throughout the quarter</a:t>
            </a:r>
          </a:p>
        </p:txBody>
      </p:sp>
      <p:sp>
        <p:nvSpPr>
          <p:cNvPr id="25" name="TextBox 24"/>
          <p:cNvSpPr txBox="1"/>
          <p:nvPr/>
        </p:nvSpPr>
        <p:spPr>
          <a:xfrm>
            <a:off x="8375902" y="2834640"/>
            <a:ext cx="3346703" cy="2468880"/>
          </a:xfrm>
          <a:prstGeom prst="rect">
            <a:avLst/>
          </a:prstGeom>
          <a:noFill/>
        </p:spPr>
        <p:txBody>
          <a:bodyPr wrap="square">
            <a:spAutoFit/>
          </a:bodyPr>
          <a:lstStyle/>
          <a:p>
            <a:pPr algn="l"/>
            <a:r>
              <a:rPr sz="950" b="0" i="0">
                <a:solidFill>
                  <a:srgbClr val="A0BDB9"/>
                </a:solidFill>
                <a:latin typeface="Calibri"/>
              </a:rPr>
              <a:t>CTR held at 5.78% across Q2 - consistently above the 3-4% healthcare benchmark - across all campaign types, audience expansions, and budget fluctuations. The targeting and messaging are landing. Patients are finding the ads relevant and choosing to click. The Q3 focus shifts from attracting the right click to converting it into a scheduled consultation.</a:t>
            </a:r>
          </a:p>
        </p:txBody>
      </p:sp>
      <p:sp>
        <p:nvSpPr>
          <p:cNvPr id="26" name="Rectangle 25"/>
          <p:cNvSpPr/>
          <p:nvPr/>
        </p:nvSpPr>
        <p:spPr>
          <a:xfrm>
            <a:off x="8375902" y="5852160"/>
            <a:ext cx="3346703" cy="292608"/>
          </a:xfrm>
          <a:prstGeom prst="rect">
            <a:avLst/>
          </a:prstGeom>
          <a:solidFill>
            <a:srgbClr val="304A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78" y="5879592"/>
            <a:ext cx="3273551" cy="256032"/>
          </a:xfrm>
          <a:prstGeom prst="rect">
            <a:avLst/>
          </a:prstGeom>
          <a:noFill/>
        </p:spPr>
        <p:txBody>
          <a:bodyPr wrap="square">
            <a:spAutoFit/>
          </a:bodyPr>
          <a:lstStyle/>
          <a:p>
            <a:pPr algn="l"/>
            <a:r>
              <a:rPr sz="850" b="1" i="0">
                <a:solidFill>
                  <a:srgbClr val="3D8A60"/>
                </a:solidFill>
                <a:latin typeface="Calibri"/>
              </a:rPr>
              <a:t>Action: Strengthen post-click landing page experience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V - Q3 STRATEGY</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What Q2 Revealed We Should Go After</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11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3657600" cy="4983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3657600" cy="54864"/>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17904"/>
            <a:ext cx="3383280" cy="219456"/>
          </a:xfrm>
          <a:prstGeom prst="rect">
            <a:avLst/>
          </a:prstGeom>
          <a:noFill/>
        </p:spPr>
        <p:txBody>
          <a:bodyPr wrap="square">
            <a:spAutoFit/>
          </a:bodyPr>
          <a:lstStyle/>
          <a:p>
            <a:pPr algn="l"/>
            <a:r>
              <a:rPr sz="750" b="1" i="0">
                <a:solidFill>
                  <a:srgbClr val="3D7A72"/>
                </a:solidFill>
                <a:latin typeface="Calibri"/>
              </a:rPr>
              <a:t>CAMPAIGN OPTIMISATION</a:t>
            </a:r>
          </a:p>
        </p:txBody>
      </p:sp>
      <p:sp>
        <p:nvSpPr>
          <p:cNvPr id="10" name="TextBox 9"/>
          <p:cNvSpPr txBox="1"/>
          <p:nvPr/>
        </p:nvSpPr>
        <p:spPr>
          <a:xfrm>
            <a:off x="594360" y="1719072"/>
            <a:ext cx="3383280" cy="640080"/>
          </a:xfrm>
          <a:prstGeom prst="rect">
            <a:avLst/>
          </a:prstGeom>
          <a:noFill/>
        </p:spPr>
        <p:txBody>
          <a:bodyPr wrap="square">
            <a:spAutoFit/>
          </a:bodyPr>
          <a:lstStyle/>
          <a:p>
            <a:pPr algn="l"/>
            <a:r>
              <a:rPr sz="4600" b="0" i="0">
                <a:solidFill>
                  <a:srgbClr val="3D7A72"/>
                </a:solidFill>
                <a:latin typeface="Cormorant Garamond"/>
              </a:rPr>
              <a:t>01</a:t>
            </a:r>
          </a:p>
        </p:txBody>
      </p:sp>
      <p:sp>
        <p:nvSpPr>
          <p:cNvPr id="11" name="TextBox 10"/>
          <p:cNvSpPr txBox="1"/>
          <p:nvPr/>
        </p:nvSpPr>
        <p:spPr>
          <a:xfrm>
            <a:off x="594360" y="2359152"/>
            <a:ext cx="3383280" cy="502920"/>
          </a:xfrm>
          <a:prstGeom prst="rect">
            <a:avLst/>
          </a:prstGeom>
          <a:noFill/>
        </p:spPr>
        <p:txBody>
          <a:bodyPr wrap="square">
            <a:spAutoFit/>
          </a:bodyPr>
          <a:lstStyle/>
          <a:p>
            <a:pPr algn="l"/>
            <a:r>
              <a:rPr sz="1600" b="0" i="0">
                <a:solidFill>
                  <a:srgbClr val="1C1C1A"/>
                </a:solidFill>
                <a:latin typeface="Cormorant Garamond"/>
              </a:rPr>
              <a:t>Shift budget toward DSA</a:t>
            </a:r>
          </a:p>
        </p:txBody>
      </p:sp>
      <p:sp>
        <p:nvSpPr>
          <p:cNvPr id="12" name="TextBox 11"/>
          <p:cNvSpPr txBox="1"/>
          <p:nvPr/>
        </p:nvSpPr>
        <p:spPr>
          <a:xfrm>
            <a:off x="594360" y="2926080"/>
            <a:ext cx="3383280" cy="2194560"/>
          </a:xfrm>
          <a:prstGeom prst="rect">
            <a:avLst/>
          </a:prstGeom>
          <a:noFill/>
        </p:spPr>
        <p:txBody>
          <a:bodyPr wrap="square">
            <a:spAutoFit/>
          </a:bodyPr>
          <a:lstStyle/>
          <a:p>
            <a:pPr algn="l"/>
            <a:r>
              <a:rPr sz="1000" b="0" i="0">
                <a:solidFill>
                  <a:srgbClr val="6B6460"/>
                </a:solidFill>
                <a:latin typeface="Calibri"/>
              </a:rPr>
              <a:t>DSA has proven 1.75x efficiency advantage over Generic Search ($67 vs $117-120 platform CPL). Moving from 26/71 to a 65/35 DSA-led split removes the biggest drag on CPL and is the highest-ROI campaign change available in Q3.</a:t>
            </a:r>
          </a:p>
        </p:txBody>
      </p:sp>
      <p:sp>
        <p:nvSpPr>
          <p:cNvPr id="13" name="Rectangle 12"/>
          <p:cNvSpPr/>
          <p:nvPr/>
        </p:nvSpPr>
        <p:spPr>
          <a:xfrm>
            <a:off x="594360" y="5943600"/>
            <a:ext cx="3383280" cy="18288"/>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989320"/>
            <a:ext cx="3383280" cy="256032"/>
          </a:xfrm>
          <a:prstGeom prst="rect">
            <a:avLst/>
          </a:prstGeom>
          <a:noFill/>
        </p:spPr>
        <p:txBody>
          <a:bodyPr wrap="square">
            <a:spAutoFit/>
          </a:bodyPr>
          <a:lstStyle/>
          <a:p>
            <a:pPr algn="l"/>
            <a:r>
              <a:rPr sz="1000" b="1" i="0">
                <a:solidFill>
                  <a:srgbClr val="3D7A72"/>
                </a:solidFill>
                <a:latin typeface="Calibri"/>
              </a:rPr>
              <a:t>CPL target: from ~$69 avg to &lt;$55</a:t>
            </a:r>
          </a:p>
        </p:txBody>
      </p:sp>
      <p:sp>
        <p:nvSpPr>
          <p:cNvPr id="15" name="Rectangle 14"/>
          <p:cNvSpPr/>
          <p:nvPr/>
        </p:nvSpPr>
        <p:spPr>
          <a:xfrm>
            <a:off x="4315968" y="1417320"/>
            <a:ext cx="3657600" cy="4983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417320"/>
            <a:ext cx="3657600" cy="54864"/>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3128" y="1517904"/>
            <a:ext cx="3383280" cy="219456"/>
          </a:xfrm>
          <a:prstGeom prst="rect">
            <a:avLst/>
          </a:prstGeom>
          <a:noFill/>
        </p:spPr>
        <p:txBody>
          <a:bodyPr wrap="square">
            <a:spAutoFit/>
          </a:bodyPr>
          <a:lstStyle/>
          <a:p>
            <a:pPr algn="l"/>
            <a:r>
              <a:rPr sz="750" b="1" i="0">
                <a:solidFill>
                  <a:srgbClr val="C9882A"/>
                </a:solidFill>
                <a:latin typeface="Calibri"/>
              </a:rPr>
              <a:t>NEW CHANNEL ACTIVATION</a:t>
            </a:r>
          </a:p>
        </p:txBody>
      </p:sp>
      <p:sp>
        <p:nvSpPr>
          <p:cNvPr id="18" name="TextBox 17"/>
          <p:cNvSpPr txBox="1"/>
          <p:nvPr/>
        </p:nvSpPr>
        <p:spPr>
          <a:xfrm>
            <a:off x="4453128" y="1719072"/>
            <a:ext cx="3383280" cy="640080"/>
          </a:xfrm>
          <a:prstGeom prst="rect">
            <a:avLst/>
          </a:prstGeom>
          <a:noFill/>
        </p:spPr>
        <p:txBody>
          <a:bodyPr wrap="square">
            <a:spAutoFit/>
          </a:bodyPr>
          <a:lstStyle/>
          <a:p>
            <a:pPr algn="l"/>
            <a:r>
              <a:rPr sz="4600" b="0" i="0">
                <a:solidFill>
                  <a:srgbClr val="C9882A"/>
                </a:solidFill>
                <a:latin typeface="Cormorant Garamond"/>
              </a:rPr>
              <a:t>02</a:t>
            </a:r>
          </a:p>
        </p:txBody>
      </p:sp>
      <p:sp>
        <p:nvSpPr>
          <p:cNvPr id="19" name="TextBox 18"/>
          <p:cNvSpPr txBox="1"/>
          <p:nvPr/>
        </p:nvSpPr>
        <p:spPr>
          <a:xfrm>
            <a:off x="4453128" y="2359152"/>
            <a:ext cx="3383280" cy="502920"/>
          </a:xfrm>
          <a:prstGeom prst="rect">
            <a:avLst/>
          </a:prstGeom>
          <a:noFill/>
        </p:spPr>
        <p:txBody>
          <a:bodyPr wrap="square">
            <a:spAutoFit/>
          </a:bodyPr>
          <a:lstStyle/>
          <a:p>
            <a:pPr algn="l"/>
            <a:r>
              <a:rPr sz="1600" b="0" i="0">
                <a:solidFill>
                  <a:srgbClr val="1C1C1A"/>
                </a:solidFill>
                <a:latin typeface="Cormorant Garamond"/>
              </a:rPr>
              <a:t>Close the funnel with social-powered remarketing</a:t>
            </a:r>
          </a:p>
        </p:txBody>
      </p:sp>
      <p:sp>
        <p:nvSpPr>
          <p:cNvPr id="20" name="TextBox 19"/>
          <p:cNvSpPr txBox="1"/>
          <p:nvPr/>
        </p:nvSpPr>
        <p:spPr>
          <a:xfrm>
            <a:off x="4453128" y="2926080"/>
            <a:ext cx="3383280" cy="2194560"/>
          </a:xfrm>
          <a:prstGeom prst="rect">
            <a:avLst/>
          </a:prstGeom>
          <a:noFill/>
        </p:spPr>
        <p:txBody>
          <a:bodyPr wrap="square">
            <a:spAutoFit/>
          </a:bodyPr>
          <a:lstStyle/>
          <a:p>
            <a:pPr algn="l"/>
            <a:r>
              <a:rPr sz="1000" b="0" i="0">
                <a:solidFill>
                  <a:srgbClr val="6B6460"/>
                </a:solidFill>
                <a:latin typeface="Calibri"/>
              </a:rPr>
              <a:t>Instagram is now building awareness and driving visitors to the Wellspring site. That warm audience - people who engaged with content and clicked through - is the ideal pool for Google Display and Meta retargeting. Social creates the warm audience. Remarketing closes the loop and converts it.</a:t>
            </a:r>
          </a:p>
        </p:txBody>
      </p:sp>
      <p:sp>
        <p:nvSpPr>
          <p:cNvPr id="21" name="Rectangle 20"/>
          <p:cNvSpPr/>
          <p:nvPr/>
        </p:nvSpPr>
        <p:spPr>
          <a:xfrm>
            <a:off x="4453128" y="5943600"/>
            <a:ext cx="3383280" cy="18288"/>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3128" y="5989320"/>
            <a:ext cx="3383280" cy="256032"/>
          </a:xfrm>
          <a:prstGeom prst="rect">
            <a:avLst/>
          </a:prstGeom>
          <a:noFill/>
        </p:spPr>
        <p:txBody>
          <a:bodyPr wrap="square">
            <a:spAutoFit/>
          </a:bodyPr>
          <a:lstStyle/>
          <a:p>
            <a:pPr algn="l"/>
            <a:r>
              <a:rPr sz="1000" b="1" i="0">
                <a:solidFill>
                  <a:srgbClr val="C9882A"/>
                </a:solidFill>
                <a:latin typeface="Calibri"/>
              </a:rPr>
              <a:t>CPL for retargeted leads: 40-60% lower than cold traffic</a:t>
            </a:r>
          </a:p>
        </p:txBody>
      </p:sp>
      <p:sp>
        <p:nvSpPr>
          <p:cNvPr id="23" name="Rectangle 22"/>
          <p:cNvSpPr/>
          <p:nvPr/>
        </p:nvSpPr>
        <p:spPr>
          <a:xfrm>
            <a:off x="8174736" y="1417320"/>
            <a:ext cx="3657600" cy="498348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74736" y="1417320"/>
            <a:ext cx="3657600" cy="54864"/>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1896" y="1517904"/>
            <a:ext cx="3383280" cy="219456"/>
          </a:xfrm>
          <a:prstGeom prst="rect">
            <a:avLst/>
          </a:prstGeom>
          <a:noFill/>
        </p:spPr>
        <p:txBody>
          <a:bodyPr wrap="square">
            <a:spAutoFit/>
          </a:bodyPr>
          <a:lstStyle/>
          <a:p>
            <a:pPr algn="l"/>
            <a:r>
              <a:rPr sz="750" b="1" i="0">
                <a:solidFill>
                  <a:srgbClr val="C9A84C"/>
                </a:solidFill>
                <a:latin typeface="Calibri"/>
              </a:rPr>
              <a:t>SEO OPPORTUNITY</a:t>
            </a:r>
          </a:p>
        </p:txBody>
      </p:sp>
      <p:sp>
        <p:nvSpPr>
          <p:cNvPr id="26" name="TextBox 25"/>
          <p:cNvSpPr txBox="1"/>
          <p:nvPr/>
        </p:nvSpPr>
        <p:spPr>
          <a:xfrm>
            <a:off x="8311896" y="1719072"/>
            <a:ext cx="3383280" cy="640080"/>
          </a:xfrm>
          <a:prstGeom prst="rect">
            <a:avLst/>
          </a:prstGeom>
          <a:noFill/>
        </p:spPr>
        <p:txBody>
          <a:bodyPr wrap="square">
            <a:spAutoFit/>
          </a:bodyPr>
          <a:lstStyle/>
          <a:p>
            <a:pPr algn="l"/>
            <a:r>
              <a:rPr sz="4600" b="0" i="0">
                <a:solidFill>
                  <a:srgbClr val="C9A84C"/>
                </a:solidFill>
                <a:latin typeface="Cormorant Garamond"/>
              </a:rPr>
              <a:t>03</a:t>
            </a:r>
          </a:p>
        </p:txBody>
      </p:sp>
      <p:sp>
        <p:nvSpPr>
          <p:cNvPr id="27" name="TextBox 26"/>
          <p:cNvSpPr txBox="1"/>
          <p:nvPr/>
        </p:nvSpPr>
        <p:spPr>
          <a:xfrm>
            <a:off x="8311896" y="2359152"/>
            <a:ext cx="3383280" cy="502920"/>
          </a:xfrm>
          <a:prstGeom prst="rect">
            <a:avLst/>
          </a:prstGeom>
          <a:noFill/>
        </p:spPr>
        <p:txBody>
          <a:bodyPr wrap="square">
            <a:spAutoFit/>
          </a:bodyPr>
          <a:lstStyle/>
          <a:p>
            <a:pPr algn="l"/>
            <a:r>
              <a:rPr sz="1600" b="0" i="0">
                <a:solidFill>
                  <a:srgbClr val="1C1C1A"/>
                </a:solidFill>
                <a:latin typeface="Cormorant Garamond"/>
              </a:rPr>
              <a:t>Turn 184K impressions into organic leads</a:t>
            </a:r>
          </a:p>
        </p:txBody>
      </p:sp>
      <p:sp>
        <p:nvSpPr>
          <p:cNvPr id="28" name="TextBox 27"/>
          <p:cNvSpPr txBox="1"/>
          <p:nvPr/>
        </p:nvSpPr>
        <p:spPr>
          <a:xfrm>
            <a:off x="8311896" y="2926080"/>
            <a:ext cx="3383280" cy="2194560"/>
          </a:xfrm>
          <a:prstGeom prst="rect">
            <a:avLst/>
          </a:prstGeom>
          <a:noFill/>
        </p:spPr>
        <p:txBody>
          <a:bodyPr wrap="square">
            <a:spAutoFit/>
          </a:bodyPr>
          <a:lstStyle/>
          <a:p>
            <a:pPr algn="l"/>
            <a:r>
              <a:rPr sz="1000" b="0" i="0">
                <a:solidFill>
                  <a:srgbClr val="6B6460"/>
                </a:solidFill>
                <a:latin typeface="Calibri"/>
              </a:rPr>
              <a:t>We earned 184,815 GSC impressions in Q2 at only 0.61% CTR - well below the 2-9% benchmark. The communication blog sits at position 8.9 with 50,748 impressions and 31 clicks. Rewriting titles and meta is Q3's fastest organic win. 3 new AEO-ready service pages (Adult Therapy, Teen Therapy, Life Transitions) will compound organic lead flow into Q4.</a:t>
            </a:r>
          </a:p>
        </p:txBody>
      </p:sp>
      <p:sp>
        <p:nvSpPr>
          <p:cNvPr id="29" name="Rectangle 28"/>
          <p:cNvSpPr/>
          <p:nvPr/>
        </p:nvSpPr>
        <p:spPr>
          <a:xfrm>
            <a:off x="8311896" y="5943600"/>
            <a:ext cx="3383280" cy="18288"/>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5989320"/>
            <a:ext cx="3383280" cy="256032"/>
          </a:xfrm>
          <a:prstGeom prst="rect">
            <a:avLst/>
          </a:prstGeom>
          <a:noFill/>
        </p:spPr>
        <p:txBody>
          <a:bodyPr wrap="square">
            <a:spAutoFit/>
          </a:bodyPr>
          <a:lstStyle/>
          <a:p>
            <a:pPr algn="l"/>
            <a:r>
              <a:rPr sz="1000" b="1" i="0">
                <a:solidFill>
                  <a:srgbClr val="C9A84C"/>
                </a:solidFill>
                <a:latin typeface="Calibri"/>
              </a:rPr>
              <a:t>Organic sessions target: 1,297 -&gt; 1,400-1,800 by Sep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2B2A"/>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C9A84C"/>
                </a:solidFill>
                <a:latin typeface="Calibri"/>
              </a:rPr>
              <a:t>ACT V - Q3 STRATEGY</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F7F3EE"/>
                </a:solidFill>
                <a:latin typeface="Cormorant Garamond"/>
              </a:rPr>
              <a:t>The Q3 System - Three Channels, One Goal</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8C89"/>
                </a:solidFill>
                <a:latin typeface="Calibri"/>
              </a:rPr>
              <a:t>12 / 16</a:t>
            </a:r>
          </a:p>
        </p:txBody>
      </p:sp>
      <p:sp>
        <p:nvSpPr>
          <p:cNvPr id="5" name="Rectangle 4"/>
          <p:cNvSpPr/>
          <p:nvPr/>
        </p:nvSpPr>
        <p:spPr>
          <a:xfrm>
            <a:off x="0" y="6601968"/>
            <a:ext cx="12188952" cy="256032"/>
          </a:xfrm>
          <a:prstGeom prst="rect">
            <a:avLst/>
          </a:prstGeom>
          <a:solidFill>
            <a:srgbClr val="142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5A7A76"/>
                </a:solidFill>
                <a:latin typeface="Calibri"/>
              </a:rPr>
              <a:t>Damco Digital  .  Wellspring Therapeutic Partners  .  Q2 2026 QBR  .  Confidential</a:t>
            </a:r>
          </a:p>
        </p:txBody>
      </p:sp>
      <p:sp>
        <p:nvSpPr>
          <p:cNvPr id="7" name="TextBox 6"/>
          <p:cNvSpPr txBox="1"/>
          <p:nvPr/>
        </p:nvSpPr>
        <p:spPr>
          <a:xfrm>
            <a:off x="457200" y="1371600"/>
            <a:ext cx="9144000" cy="256032"/>
          </a:xfrm>
          <a:prstGeom prst="rect">
            <a:avLst/>
          </a:prstGeom>
          <a:noFill/>
        </p:spPr>
        <p:txBody>
          <a:bodyPr wrap="square">
            <a:spAutoFit/>
          </a:bodyPr>
          <a:lstStyle/>
          <a:p>
            <a:pPr algn="l"/>
            <a:r>
              <a:rPr sz="1100" b="0" i="0">
                <a:solidFill>
                  <a:srgbClr val="8AA8A4"/>
                </a:solidFill>
                <a:latin typeface="Calibri"/>
              </a:rPr>
              <a:t>Every channel has a defined role. No channel works in isolation.</a:t>
            </a:r>
          </a:p>
        </p:txBody>
      </p:sp>
      <p:sp>
        <p:nvSpPr>
          <p:cNvPr id="8" name="Rectangle 7"/>
          <p:cNvSpPr/>
          <p:nvPr/>
        </p:nvSpPr>
        <p:spPr>
          <a:xfrm>
            <a:off x="457200" y="1737360"/>
            <a:ext cx="2606040" cy="3931920"/>
          </a:xfrm>
          <a:prstGeom prst="rect">
            <a:avLst/>
          </a:prstGeom>
          <a:solidFill>
            <a:srgbClr val="253836"/>
          </a:solidFill>
          <a:ln>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2423160" cy="457200"/>
          </a:xfrm>
          <a:prstGeom prst="rect">
            <a:avLst/>
          </a:prstGeom>
          <a:noFill/>
        </p:spPr>
        <p:txBody>
          <a:bodyPr wrap="square">
            <a:spAutoFit/>
          </a:bodyPr>
          <a:lstStyle/>
          <a:p>
            <a:pPr algn="ctr"/>
            <a:r>
              <a:rPr sz="2600" b="0" i="0">
                <a:solidFill>
                  <a:srgbClr val="1C1C1A"/>
                </a:solidFill>
                <a:latin typeface="Calibri"/>
              </a:rPr>
              <a:t>📸</a:t>
            </a:r>
          </a:p>
        </p:txBody>
      </p:sp>
      <p:sp>
        <p:nvSpPr>
          <p:cNvPr id="10" name="TextBox 9"/>
          <p:cNvSpPr txBox="1"/>
          <p:nvPr/>
        </p:nvSpPr>
        <p:spPr>
          <a:xfrm>
            <a:off x="548640" y="2331720"/>
            <a:ext cx="2423160" cy="411480"/>
          </a:xfrm>
          <a:prstGeom prst="rect">
            <a:avLst/>
          </a:prstGeom>
          <a:noFill/>
        </p:spPr>
        <p:txBody>
          <a:bodyPr wrap="square">
            <a:spAutoFit/>
          </a:bodyPr>
          <a:lstStyle/>
          <a:p>
            <a:pPr algn="ctr"/>
            <a:r>
              <a:rPr sz="1700" b="0" i="0">
                <a:solidFill>
                  <a:srgbClr val="FFFFFF"/>
                </a:solidFill>
                <a:latin typeface="Cormorant Garamond"/>
              </a:rPr>
              <a:t>Instagram</a:t>
            </a:r>
          </a:p>
        </p:txBody>
      </p:sp>
      <p:sp>
        <p:nvSpPr>
          <p:cNvPr id="11" name="Rectangle 10"/>
          <p:cNvSpPr/>
          <p:nvPr/>
        </p:nvSpPr>
        <p:spPr>
          <a:xfrm>
            <a:off x="822960" y="2798064"/>
            <a:ext cx="1874520" cy="201168"/>
          </a:xfrm>
          <a:prstGeom prst="rect">
            <a:avLst/>
          </a:prstGeom>
          <a:solidFill>
            <a:srgbClr val="3D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807208"/>
            <a:ext cx="1874520" cy="182880"/>
          </a:xfrm>
          <a:prstGeom prst="rect">
            <a:avLst/>
          </a:prstGeom>
          <a:noFill/>
        </p:spPr>
        <p:txBody>
          <a:bodyPr wrap="square">
            <a:spAutoFit/>
          </a:bodyPr>
          <a:lstStyle/>
          <a:p>
            <a:pPr algn="ctr"/>
            <a:r>
              <a:rPr sz="750" b="1" i="0">
                <a:solidFill>
                  <a:srgbClr val="C9A84C"/>
                </a:solidFill>
                <a:latin typeface="Calibri"/>
              </a:rPr>
              <a:t>AWARENESS</a:t>
            </a:r>
          </a:p>
        </p:txBody>
      </p:sp>
      <p:sp>
        <p:nvSpPr>
          <p:cNvPr id="13" name="TextBox 12"/>
          <p:cNvSpPr txBox="1"/>
          <p:nvPr/>
        </p:nvSpPr>
        <p:spPr>
          <a:xfrm>
            <a:off x="548640" y="3063240"/>
            <a:ext cx="2423160" cy="731520"/>
          </a:xfrm>
          <a:prstGeom prst="rect">
            <a:avLst/>
          </a:prstGeom>
          <a:noFill/>
        </p:spPr>
        <p:txBody>
          <a:bodyPr wrap="square">
            <a:spAutoFit/>
          </a:bodyPr>
          <a:lstStyle/>
          <a:p>
            <a:pPr algn="ctr"/>
            <a:r>
              <a:rPr sz="950" b="0" i="0">
                <a:solidFill>
                  <a:srgbClr val="A0BDB9"/>
                </a:solidFill>
                <a:latin typeface="Calibri"/>
              </a:rPr>
              <a:t>Builds name recognition before the need is felt. Warm audience feeds the remarketing pool.</a:t>
            </a:r>
          </a:p>
        </p:txBody>
      </p:sp>
      <p:sp>
        <p:nvSpPr>
          <p:cNvPr id="14" name="Rectangle 13"/>
          <p:cNvSpPr/>
          <p:nvPr/>
        </p:nvSpPr>
        <p:spPr>
          <a:xfrm>
            <a:off x="777240" y="3886200"/>
            <a:ext cx="1965960" cy="228600"/>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904487"/>
            <a:ext cx="1965960" cy="201168"/>
          </a:xfrm>
          <a:prstGeom prst="rect">
            <a:avLst/>
          </a:prstGeom>
          <a:noFill/>
        </p:spPr>
        <p:txBody>
          <a:bodyPr wrap="square">
            <a:spAutoFit/>
          </a:bodyPr>
          <a:lstStyle/>
          <a:p>
            <a:pPr algn="ctr"/>
            <a:r>
              <a:rPr sz="900" b="1" i="0">
                <a:solidFill>
                  <a:srgbClr val="C9A84C"/>
                </a:solidFill>
                <a:latin typeface="Calibri"/>
              </a:rPr>
              <a:t>Q3: 200+ followers</a:t>
            </a:r>
          </a:p>
        </p:txBody>
      </p:sp>
      <p:sp>
        <p:nvSpPr>
          <p:cNvPr id="16" name="TextBox 15"/>
          <p:cNvSpPr txBox="1"/>
          <p:nvPr/>
        </p:nvSpPr>
        <p:spPr>
          <a:xfrm>
            <a:off x="3108960" y="2880360"/>
            <a:ext cx="457200" cy="365760"/>
          </a:xfrm>
          <a:prstGeom prst="rect">
            <a:avLst/>
          </a:prstGeom>
          <a:noFill/>
        </p:spPr>
        <p:txBody>
          <a:bodyPr wrap="square">
            <a:spAutoFit/>
          </a:bodyPr>
          <a:lstStyle/>
          <a:p>
            <a:pPr algn="ctr"/>
            <a:r>
              <a:rPr sz="2400" b="0" i="0">
                <a:solidFill>
                  <a:srgbClr val="456864"/>
                </a:solidFill>
                <a:latin typeface="Calibri"/>
              </a:rPr>
              <a:t>-&gt;</a:t>
            </a:r>
          </a:p>
        </p:txBody>
      </p:sp>
      <p:sp>
        <p:nvSpPr>
          <p:cNvPr id="17" name="Rectangle 16"/>
          <p:cNvSpPr/>
          <p:nvPr/>
        </p:nvSpPr>
        <p:spPr>
          <a:xfrm>
            <a:off x="3575304" y="1737360"/>
            <a:ext cx="2606040" cy="3931920"/>
          </a:xfrm>
          <a:prstGeom prst="rect">
            <a:avLst/>
          </a:prstGeom>
          <a:solidFill>
            <a:srgbClr val="253836"/>
          </a:solidFill>
          <a:ln>
            <a:solidFill>
              <a:srgbClr val="3A56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66744" y="1828800"/>
            <a:ext cx="2423160" cy="457200"/>
          </a:xfrm>
          <a:prstGeom prst="rect">
            <a:avLst/>
          </a:prstGeom>
          <a:noFill/>
        </p:spPr>
        <p:txBody>
          <a:bodyPr wrap="square">
            <a:spAutoFit/>
          </a:bodyPr>
          <a:lstStyle/>
          <a:p>
            <a:pPr algn="ctr"/>
            <a:r>
              <a:rPr sz="2600" b="0" i="0">
                <a:solidFill>
                  <a:srgbClr val="1C1C1A"/>
                </a:solidFill>
                <a:latin typeface="Calibri"/>
              </a:rPr>
              <a:t>🗺</a:t>
            </a:r>
          </a:p>
        </p:txBody>
      </p:sp>
      <p:sp>
        <p:nvSpPr>
          <p:cNvPr id="19" name="TextBox 18"/>
          <p:cNvSpPr txBox="1"/>
          <p:nvPr/>
        </p:nvSpPr>
        <p:spPr>
          <a:xfrm>
            <a:off x="3666744" y="2331720"/>
            <a:ext cx="2423160" cy="411480"/>
          </a:xfrm>
          <a:prstGeom prst="rect">
            <a:avLst/>
          </a:prstGeom>
          <a:noFill/>
        </p:spPr>
        <p:txBody>
          <a:bodyPr wrap="square">
            <a:spAutoFit/>
          </a:bodyPr>
          <a:lstStyle/>
          <a:p>
            <a:pPr algn="ctr"/>
            <a:r>
              <a:rPr sz="1700" b="0" i="0">
                <a:solidFill>
                  <a:srgbClr val="FFFFFF"/>
                </a:solidFill>
                <a:latin typeface="Cormorant Garamond"/>
              </a:rPr>
              <a:t>SEO</a:t>
            </a:r>
          </a:p>
        </p:txBody>
      </p:sp>
      <p:sp>
        <p:nvSpPr>
          <p:cNvPr id="20" name="Rectangle 19"/>
          <p:cNvSpPr/>
          <p:nvPr/>
        </p:nvSpPr>
        <p:spPr>
          <a:xfrm>
            <a:off x="3941064" y="2798064"/>
            <a:ext cx="1874520" cy="201168"/>
          </a:xfrm>
          <a:prstGeom prst="rect">
            <a:avLst/>
          </a:prstGeom>
          <a:solidFill>
            <a:srgbClr val="3D5A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41064" y="2807208"/>
            <a:ext cx="1874520" cy="182880"/>
          </a:xfrm>
          <a:prstGeom prst="rect">
            <a:avLst/>
          </a:prstGeom>
          <a:noFill/>
        </p:spPr>
        <p:txBody>
          <a:bodyPr wrap="square">
            <a:spAutoFit/>
          </a:bodyPr>
          <a:lstStyle/>
          <a:p>
            <a:pPr algn="ctr"/>
            <a:r>
              <a:rPr sz="750" b="1" i="0">
                <a:solidFill>
                  <a:srgbClr val="C9A84C"/>
                </a:solidFill>
                <a:latin typeface="Calibri"/>
              </a:rPr>
              <a:t>DISCOVERY</a:t>
            </a:r>
          </a:p>
        </p:txBody>
      </p:sp>
      <p:sp>
        <p:nvSpPr>
          <p:cNvPr id="22" name="TextBox 21"/>
          <p:cNvSpPr txBox="1"/>
          <p:nvPr/>
        </p:nvSpPr>
        <p:spPr>
          <a:xfrm>
            <a:off x="3666744" y="3063240"/>
            <a:ext cx="2423160" cy="731520"/>
          </a:xfrm>
          <a:prstGeom prst="rect">
            <a:avLst/>
          </a:prstGeom>
          <a:noFill/>
        </p:spPr>
        <p:txBody>
          <a:bodyPr wrap="square">
            <a:spAutoFit/>
          </a:bodyPr>
          <a:lstStyle/>
          <a:p>
            <a:pPr algn="ctr"/>
            <a:r>
              <a:rPr sz="950" b="0" i="0">
                <a:solidFill>
                  <a:srgbClr val="A0BDB9"/>
                </a:solidFill>
                <a:latin typeface="Calibri"/>
              </a:rPr>
              <a:t>Captures organic search intent. GMB local pack. CTR optimisation turns impressions into visits.</a:t>
            </a:r>
          </a:p>
        </p:txBody>
      </p:sp>
      <p:sp>
        <p:nvSpPr>
          <p:cNvPr id="23" name="Rectangle 22"/>
          <p:cNvSpPr/>
          <p:nvPr/>
        </p:nvSpPr>
        <p:spPr>
          <a:xfrm>
            <a:off x="3895344" y="3886200"/>
            <a:ext cx="1965960" cy="228600"/>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95344" y="3904487"/>
            <a:ext cx="1965960" cy="201168"/>
          </a:xfrm>
          <a:prstGeom prst="rect">
            <a:avLst/>
          </a:prstGeom>
          <a:noFill/>
        </p:spPr>
        <p:txBody>
          <a:bodyPr wrap="square">
            <a:spAutoFit/>
          </a:bodyPr>
          <a:lstStyle/>
          <a:p>
            <a:pPr algn="ctr"/>
            <a:r>
              <a:rPr sz="900" b="1" i="0">
                <a:solidFill>
                  <a:srgbClr val="C9A84C"/>
                </a:solidFill>
                <a:latin typeface="Calibri"/>
              </a:rPr>
              <a:t>Q3: +25% GMB calls</a:t>
            </a:r>
          </a:p>
        </p:txBody>
      </p:sp>
      <p:sp>
        <p:nvSpPr>
          <p:cNvPr id="25" name="TextBox 24"/>
          <p:cNvSpPr txBox="1"/>
          <p:nvPr/>
        </p:nvSpPr>
        <p:spPr>
          <a:xfrm>
            <a:off x="6227064" y="2880360"/>
            <a:ext cx="457200" cy="365760"/>
          </a:xfrm>
          <a:prstGeom prst="rect">
            <a:avLst/>
          </a:prstGeom>
          <a:noFill/>
        </p:spPr>
        <p:txBody>
          <a:bodyPr wrap="square">
            <a:spAutoFit/>
          </a:bodyPr>
          <a:lstStyle/>
          <a:p>
            <a:pPr algn="ctr"/>
            <a:r>
              <a:rPr sz="2400" b="0" i="0">
                <a:solidFill>
                  <a:srgbClr val="456864"/>
                </a:solidFill>
                <a:latin typeface="Calibri"/>
              </a:rPr>
              <a:t>-&gt;</a:t>
            </a:r>
          </a:p>
        </p:txBody>
      </p:sp>
      <p:sp>
        <p:nvSpPr>
          <p:cNvPr id="26" name="Rectangle 25"/>
          <p:cNvSpPr/>
          <p:nvPr/>
        </p:nvSpPr>
        <p:spPr>
          <a:xfrm>
            <a:off x="6693408" y="1737360"/>
            <a:ext cx="2606040" cy="3931920"/>
          </a:xfrm>
          <a:prstGeom prst="rect">
            <a:avLst/>
          </a:prstGeom>
          <a:solidFill>
            <a:srgbClr val="304A47"/>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84848" y="1828800"/>
            <a:ext cx="2423160" cy="457200"/>
          </a:xfrm>
          <a:prstGeom prst="rect">
            <a:avLst/>
          </a:prstGeom>
          <a:noFill/>
        </p:spPr>
        <p:txBody>
          <a:bodyPr wrap="square">
            <a:spAutoFit/>
          </a:bodyPr>
          <a:lstStyle/>
          <a:p>
            <a:pPr algn="ctr"/>
            <a:r>
              <a:rPr sz="2600" b="0" i="0">
                <a:solidFill>
                  <a:srgbClr val="1C1C1A"/>
                </a:solidFill>
                <a:latin typeface="Calibri"/>
              </a:rPr>
              <a:t>🎯</a:t>
            </a:r>
          </a:p>
        </p:txBody>
      </p:sp>
      <p:sp>
        <p:nvSpPr>
          <p:cNvPr id="28" name="TextBox 27"/>
          <p:cNvSpPr txBox="1"/>
          <p:nvPr/>
        </p:nvSpPr>
        <p:spPr>
          <a:xfrm>
            <a:off x="6784848" y="2331720"/>
            <a:ext cx="2423160" cy="411480"/>
          </a:xfrm>
          <a:prstGeom prst="rect">
            <a:avLst/>
          </a:prstGeom>
          <a:noFill/>
        </p:spPr>
        <p:txBody>
          <a:bodyPr wrap="square">
            <a:spAutoFit/>
          </a:bodyPr>
          <a:lstStyle/>
          <a:p>
            <a:pPr algn="ctr"/>
            <a:r>
              <a:rPr sz="1700" b="0" i="0">
                <a:solidFill>
                  <a:srgbClr val="FFFFFF"/>
                </a:solidFill>
                <a:latin typeface="Cormorant Garamond"/>
              </a:rPr>
              <a:t>Google Ads
(DSA-first)</a:t>
            </a:r>
          </a:p>
        </p:txBody>
      </p:sp>
      <p:sp>
        <p:nvSpPr>
          <p:cNvPr id="29" name="Rectangle 28"/>
          <p:cNvSpPr/>
          <p:nvPr/>
        </p:nvSpPr>
        <p:spPr>
          <a:xfrm>
            <a:off x="7059168" y="2798064"/>
            <a:ext cx="1874520" cy="201168"/>
          </a:xfrm>
          <a:prstGeom prst="rect">
            <a:avLst/>
          </a:prstGeom>
          <a:solidFill>
            <a:srgbClr val="426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9168" y="2807208"/>
            <a:ext cx="1874520" cy="182880"/>
          </a:xfrm>
          <a:prstGeom prst="rect">
            <a:avLst/>
          </a:prstGeom>
          <a:noFill/>
        </p:spPr>
        <p:txBody>
          <a:bodyPr wrap="square">
            <a:spAutoFit/>
          </a:bodyPr>
          <a:lstStyle/>
          <a:p>
            <a:pPr algn="ctr"/>
            <a:r>
              <a:rPr sz="750" b="1" i="0">
                <a:solidFill>
                  <a:srgbClr val="C9A84C"/>
                </a:solidFill>
                <a:latin typeface="Calibri"/>
              </a:rPr>
              <a:t>INTENT</a:t>
            </a:r>
          </a:p>
        </p:txBody>
      </p:sp>
      <p:sp>
        <p:nvSpPr>
          <p:cNvPr id="31" name="TextBox 30"/>
          <p:cNvSpPr txBox="1"/>
          <p:nvPr/>
        </p:nvSpPr>
        <p:spPr>
          <a:xfrm>
            <a:off x="6784848" y="3063240"/>
            <a:ext cx="2423160" cy="731520"/>
          </a:xfrm>
          <a:prstGeom prst="rect">
            <a:avLst/>
          </a:prstGeom>
          <a:noFill/>
        </p:spPr>
        <p:txBody>
          <a:bodyPr wrap="square">
            <a:spAutoFit/>
          </a:bodyPr>
          <a:lstStyle/>
          <a:p>
            <a:pPr algn="ctr"/>
            <a:r>
              <a:rPr sz="950" b="0" i="0">
                <a:solidFill>
                  <a:srgbClr val="A0BDB9"/>
                </a:solidFill>
                <a:latin typeface="Calibri"/>
              </a:rPr>
              <a:t>Captures high-intent searches. Google Display retargets warm social + organic visitors.</a:t>
            </a:r>
          </a:p>
        </p:txBody>
      </p:sp>
      <p:sp>
        <p:nvSpPr>
          <p:cNvPr id="32" name="Rectangle 31"/>
          <p:cNvSpPr/>
          <p:nvPr/>
        </p:nvSpPr>
        <p:spPr>
          <a:xfrm>
            <a:off x="7013448" y="3886200"/>
            <a:ext cx="1965960" cy="228600"/>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3448" y="3904487"/>
            <a:ext cx="1965960" cy="201168"/>
          </a:xfrm>
          <a:prstGeom prst="rect">
            <a:avLst/>
          </a:prstGeom>
          <a:noFill/>
        </p:spPr>
        <p:txBody>
          <a:bodyPr wrap="square">
            <a:spAutoFit/>
          </a:bodyPr>
          <a:lstStyle/>
          <a:p>
            <a:pPr algn="ctr"/>
            <a:r>
              <a:rPr sz="900" b="1" i="0">
                <a:solidFill>
                  <a:srgbClr val="C9A84C"/>
                </a:solidFill>
                <a:latin typeface="Calibri"/>
              </a:rPr>
              <a:t>Q3: &lt;$55 CRM CPL</a:t>
            </a:r>
          </a:p>
        </p:txBody>
      </p:sp>
      <p:sp>
        <p:nvSpPr>
          <p:cNvPr id="34" name="TextBox 33"/>
          <p:cNvSpPr txBox="1"/>
          <p:nvPr/>
        </p:nvSpPr>
        <p:spPr>
          <a:xfrm>
            <a:off x="9345168" y="2880360"/>
            <a:ext cx="457200" cy="365760"/>
          </a:xfrm>
          <a:prstGeom prst="rect">
            <a:avLst/>
          </a:prstGeom>
          <a:noFill/>
        </p:spPr>
        <p:txBody>
          <a:bodyPr wrap="square">
            <a:spAutoFit/>
          </a:bodyPr>
          <a:lstStyle/>
          <a:p>
            <a:pPr algn="ctr"/>
            <a:r>
              <a:rPr sz="2400" b="0" i="0">
                <a:solidFill>
                  <a:srgbClr val="456864"/>
                </a:solidFill>
                <a:latin typeface="Calibri"/>
              </a:rPr>
              <a:t>-&gt;</a:t>
            </a:r>
          </a:p>
        </p:txBody>
      </p:sp>
      <p:sp>
        <p:nvSpPr>
          <p:cNvPr id="35" name="Rectangle 34"/>
          <p:cNvSpPr/>
          <p:nvPr/>
        </p:nvSpPr>
        <p:spPr>
          <a:xfrm>
            <a:off x="9811512" y="1737360"/>
            <a:ext cx="2606040" cy="3931920"/>
          </a:xfrm>
          <a:prstGeom prst="rect">
            <a:avLst/>
          </a:prstGeom>
          <a:solidFill>
            <a:srgbClr val="304A47"/>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02952" y="1828800"/>
            <a:ext cx="2423160" cy="457200"/>
          </a:xfrm>
          <a:prstGeom prst="rect">
            <a:avLst/>
          </a:prstGeom>
          <a:noFill/>
        </p:spPr>
        <p:txBody>
          <a:bodyPr wrap="square">
            <a:spAutoFit/>
          </a:bodyPr>
          <a:lstStyle/>
          <a:p>
            <a:pPr algn="ctr"/>
            <a:r>
              <a:rPr sz="2600" b="0" i="0">
                <a:solidFill>
                  <a:srgbClr val="1C1C1A"/>
                </a:solidFill>
                <a:latin typeface="Calibri"/>
              </a:rPr>
              <a:t>📈</a:t>
            </a:r>
          </a:p>
        </p:txBody>
      </p:sp>
      <p:sp>
        <p:nvSpPr>
          <p:cNvPr id="37" name="TextBox 36"/>
          <p:cNvSpPr txBox="1"/>
          <p:nvPr/>
        </p:nvSpPr>
        <p:spPr>
          <a:xfrm>
            <a:off x="9902952" y="2331720"/>
            <a:ext cx="2423160" cy="411480"/>
          </a:xfrm>
          <a:prstGeom prst="rect">
            <a:avLst/>
          </a:prstGeom>
          <a:noFill/>
        </p:spPr>
        <p:txBody>
          <a:bodyPr wrap="square">
            <a:spAutoFit/>
          </a:bodyPr>
          <a:lstStyle/>
          <a:p>
            <a:pPr algn="ctr"/>
            <a:r>
              <a:rPr sz="1700" b="0" i="0">
                <a:solidFill>
                  <a:srgbClr val="FFFFFF"/>
                </a:solidFill>
                <a:latin typeface="Cormorant Garamond"/>
              </a:rPr>
              <a:t>Convert &amp;
Schedule</a:t>
            </a:r>
          </a:p>
        </p:txBody>
      </p:sp>
      <p:sp>
        <p:nvSpPr>
          <p:cNvPr id="38" name="Rectangle 37"/>
          <p:cNvSpPr/>
          <p:nvPr/>
        </p:nvSpPr>
        <p:spPr>
          <a:xfrm>
            <a:off x="10177272" y="2798064"/>
            <a:ext cx="1874520" cy="201168"/>
          </a:xfrm>
          <a:prstGeom prst="rect">
            <a:avLst/>
          </a:prstGeom>
          <a:solidFill>
            <a:srgbClr val="4263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7272" y="2807208"/>
            <a:ext cx="1874520" cy="182880"/>
          </a:xfrm>
          <a:prstGeom prst="rect">
            <a:avLst/>
          </a:prstGeom>
          <a:noFill/>
        </p:spPr>
        <p:txBody>
          <a:bodyPr wrap="square">
            <a:spAutoFit/>
          </a:bodyPr>
          <a:lstStyle/>
          <a:p>
            <a:pPr algn="ctr"/>
            <a:r>
              <a:rPr sz="750" b="1" i="0">
                <a:solidFill>
                  <a:srgbClr val="C9A84C"/>
                </a:solidFill>
                <a:latin typeface="Calibri"/>
              </a:rPr>
              <a:t>CONVERSION</a:t>
            </a:r>
          </a:p>
        </p:txBody>
      </p:sp>
      <p:sp>
        <p:nvSpPr>
          <p:cNvPr id="40" name="TextBox 39"/>
          <p:cNvSpPr txBox="1"/>
          <p:nvPr/>
        </p:nvSpPr>
        <p:spPr>
          <a:xfrm>
            <a:off x="9902952" y="3063240"/>
            <a:ext cx="2423160" cy="731520"/>
          </a:xfrm>
          <a:prstGeom prst="rect">
            <a:avLst/>
          </a:prstGeom>
          <a:noFill/>
        </p:spPr>
        <p:txBody>
          <a:bodyPr wrap="square">
            <a:spAutoFit/>
          </a:bodyPr>
          <a:lstStyle/>
          <a:p>
            <a:pPr algn="ctr"/>
            <a:r>
              <a:rPr sz="950" b="0" i="0">
                <a:solidFill>
                  <a:srgbClr val="A0BDB9"/>
                </a:solidFill>
                <a:latin typeface="Calibri"/>
              </a:rPr>
              <a:t>Lift scheduling rate - convert enquiries into booked consultations, not just clicks.</a:t>
            </a:r>
          </a:p>
        </p:txBody>
      </p:sp>
      <p:sp>
        <p:nvSpPr>
          <p:cNvPr id="41" name="Rectangle 40"/>
          <p:cNvSpPr/>
          <p:nvPr/>
        </p:nvSpPr>
        <p:spPr>
          <a:xfrm>
            <a:off x="10131552" y="3886200"/>
            <a:ext cx="1965960" cy="228600"/>
          </a:xfrm>
          <a:prstGeom prst="rect">
            <a:avLst/>
          </a:prstGeom>
          <a:solidFill>
            <a:srgbClr val="355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31552" y="3904487"/>
            <a:ext cx="1965960" cy="201168"/>
          </a:xfrm>
          <a:prstGeom prst="rect">
            <a:avLst/>
          </a:prstGeom>
          <a:noFill/>
        </p:spPr>
        <p:txBody>
          <a:bodyPr wrap="square">
            <a:spAutoFit/>
          </a:bodyPr>
          <a:lstStyle/>
          <a:p>
            <a:pPr algn="ctr"/>
            <a:r>
              <a:rPr sz="900" b="1" i="0">
                <a:solidFill>
                  <a:srgbClr val="C9A84C"/>
                </a:solidFill>
                <a:latin typeface="Calibri"/>
              </a:rPr>
              <a:t>Q3: 55%+ sched.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V - Q3 STRATEGY</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What We're Doing in Q3</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13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5596128" cy="219456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417320"/>
            <a:ext cx="64008" cy="219456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463040"/>
            <a:ext cx="731520" cy="594360"/>
          </a:xfrm>
          <a:prstGeom prst="rect">
            <a:avLst/>
          </a:prstGeom>
          <a:noFill/>
        </p:spPr>
        <p:txBody>
          <a:bodyPr wrap="square">
            <a:spAutoFit/>
          </a:bodyPr>
          <a:lstStyle/>
          <a:p>
            <a:pPr algn="l"/>
            <a:r>
              <a:rPr sz="3600" b="0" i="0">
                <a:solidFill>
                  <a:srgbClr val="3D7A72"/>
                </a:solidFill>
                <a:latin typeface="Cormorant Garamond"/>
              </a:rPr>
              <a:t>01</a:t>
            </a:r>
          </a:p>
        </p:txBody>
      </p:sp>
      <p:sp>
        <p:nvSpPr>
          <p:cNvPr id="10" name="TextBox 9"/>
          <p:cNvSpPr txBox="1"/>
          <p:nvPr/>
        </p:nvSpPr>
        <p:spPr>
          <a:xfrm>
            <a:off x="640080" y="2039112"/>
            <a:ext cx="5230368" cy="347472"/>
          </a:xfrm>
          <a:prstGeom prst="rect">
            <a:avLst/>
          </a:prstGeom>
          <a:noFill/>
        </p:spPr>
        <p:txBody>
          <a:bodyPr wrap="square">
            <a:spAutoFit/>
          </a:bodyPr>
          <a:lstStyle/>
          <a:p>
            <a:pPr algn="l"/>
            <a:r>
              <a:rPr sz="1300" b="1" i="0">
                <a:solidFill>
                  <a:srgbClr val="1C1C1A"/>
                </a:solidFill>
                <a:latin typeface="Calibri"/>
              </a:rPr>
              <a:t>Restructure paid campaigns: DSA-first</a:t>
            </a:r>
          </a:p>
        </p:txBody>
      </p:sp>
      <p:sp>
        <p:nvSpPr>
          <p:cNvPr id="11" name="TextBox 10"/>
          <p:cNvSpPr txBox="1"/>
          <p:nvPr/>
        </p:nvSpPr>
        <p:spPr>
          <a:xfrm>
            <a:off x="640080" y="2423160"/>
            <a:ext cx="5230368" cy="914400"/>
          </a:xfrm>
          <a:prstGeom prst="rect">
            <a:avLst/>
          </a:prstGeom>
          <a:noFill/>
        </p:spPr>
        <p:txBody>
          <a:bodyPr wrap="square">
            <a:spAutoFit/>
          </a:bodyPr>
          <a:lstStyle/>
          <a:p>
            <a:pPr algn="l"/>
            <a:r>
              <a:rPr sz="950" b="0" i="0">
                <a:solidFill>
                  <a:srgbClr val="6B6460"/>
                </a:solidFill>
                <a:latin typeface="Calibri"/>
              </a:rPr>
              <a:t>Shift budget from 26/71 (DSA/Generic) to 70/30. Remove the Broad Match campaign or fold it into DSA coverage. Resolve delivery conflict permanently. Expected CPL reduction: ~20%.</a:t>
            </a:r>
          </a:p>
        </p:txBody>
      </p:sp>
      <p:sp>
        <p:nvSpPr>
          <p:cNvPr id="12" name="TextBox 11"/>
          <p:cNvSpPr txBox="1"/>
          <p:nvPr/>
        </p:nvSpPr>
        <p:spPr>
          <a:xfrm>
            <a:off x="640080" y="3355848"/>
            <a:ext cx="5230368" cy="219456"/>
          </a:xfrm>
          <a:prstGeom prst="rect">
            <a:avLst/>
          </a:prstGeom>
          <a:noFill/>
        </p:spPr>
        <p:txBody>
          <a:bodyPr wrap="square">
            <a:spAutoFit/>
          </a:bodyPr>
          <a:lstStyle/>
          <a:p>
            <a:pPr algn="l"/>
            <a:r>
              <a:rPr sz="900" b="1" i="0">
                <a:solidFill>
                  <a:srgbClr val="3D7A72"/>
                </a:solidFill>
                <a:latin typeface="Calibri"/>
              </a:rPr>
              <a:t>Channel: Google Ads  .  Timeline: July 2026</a:t>
            </a:r>
          </a:p>
        </p:txBody>
      </p:sp>
      <p:sp>
        <p:nvSpPr>
          <p:cNvPr id="13" name="Rectangle 12"/>
          <p:cNvSpPr/>
          <p:nvPr/>
        </p:nvSpPr>
        <p:spPr>
          <a:xfrm>
            <a:off x="6327648" y="1417320"/>
            <a:ext cx="5596128" cy="219456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27648" y="1417320"/>
            <a:ext cx="64008" cy="219456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463040"/>
            <a:ext cx="731520" cy="594360"/>
          </a:xfrm>
          <a:prstGeom prst="rect">
            <a:avLst/>
          </a:prstGeom>
          <a:noFill/>
        </p:spPr>
        <p:txBody>
          <a:bodyPr wrap="square">
            <a:spAutoFit/>
          </a:bodyPr>
          <a:lstStyle/>
          <a:p>
            <a:pPr algn="l"/>
            <a:r>
              <a:rPr sz="3600" b="0" i="0">
                <a:solidFill>
                  <a:srgbClr val="C9882A"/>
                </a:solidFill>
                <a:latin typeface="Cormorant Garamond"/>
              </a:rPr>
              <a:t>02</a:t>
            </a:r>
          </a:p>
        </p:txBody>
      </p:sp>
      <p:sp>
        <p:nvSpPr>
          <p:cNvPr id="16" name="TextBox 15"/>
          <p:cNvSpPr txBox="1"/>
          <p:nvPr/>
        </p:nvSpPr>
        <p:spPr>
          <a:xfrm>
            <a:off x="6510528" y="2039112"/>
            <a:ext cx="5230368" cy="347472"/>
          </a:xfrm>
          <a:prstGeom prst="rect">
            <a:avLst/>
          </a:prstGeom>
          <a:noFill/>
        </p:spPr>
        <p:txBody>
          <a:bodyPr wrap="square">
            <a:spAutoFit/>
          </a:bodyPr>
          <a:lstStyle/>
          <a:p>
            <a:pPr algn="l"/>
            <a:r>
              <a:rPr sz="1300" b="1" i="0">
                <a:solidFill>
                  <a:srgbClr val="1C1C1A"/>
                </a:solidFill>
                <a:latin typeface="Calibri"/>
              </a:rPr>
              <a:t>Retry Google Display with stronger creative</a:t>
            </a:r>
          </a:p>
        </p:txBody>
      </p:sp>
      <p:sp>
        <p:nvSpPr>
          <p:cNvPr id="17" name="TextBox 16"/>
          <p:cNvSpPr txBox="1"/>
          <p:nvPr/>
        </p:nvSpPr>
        <p:spPr>
          <a:xfrm>
            <a:off x="6510528" y="2423160"/>
            <a:ext cx="5230368" cy="914400"/>
          </a:xfrm>
          <a:prstGeom prst="rect">
            <a:avLst/>
          </a:prstGeom>
          <a:noFill/>
        </p:spPr>
        <p:txBody>
          <a:bodyPr wrap="square">
            <a:spAutoFit/>
          </a:bodyPr>
          <a:lstStyle/>
          <a:p>
            <a:pPr algn="l"/>
            <a:r>
              <a:rPr sz="950" b="0" i="0">
                <a:solidFill>
                  <a:srgbClr val="6B6460"/>
                </a:solidFill>
                <a:latin typeface="Calibri"/>
              </a:rPr>
              <a:t>We have run Display before - this time we return with improved creative direction and sharper targeting, informed by direct recommendations from the Google team. New creatives built for a mental health audience. The goal: test whether the right creative intent makes Display work for Wellspring.</a:t>
            </a:r>
          </a:p>
        </p:txBody>
      </p:sp>
      <p:sp>
        <p:nvSpPr>
          <p:cNvPr id="18" name="TextBox 17"/>
          <p:cNvSpPr txBox="1"/>
          <p:nvPr/>
        </p:nvSpPr>
        <p:spPr>
          <a:xfrm>
            <a:off x="6510528" y="3355848"/>
            <a:ext cx="5230368" cy="219456"/>
          </a:xfrm>
          <a:prstGeom prst="rect">
            <a:avLst/>
          </a:prstGeom>
          <a:noFill/>
        </p:spPr>
        <p:txBody>
          <a:bodyPr wrap="square">
            <a:spAutoFit/>
          </a:bodyPr>
          <a:lstStyle/>
          <a:p>
            <a:pPr algn="l"/>
            <a:r>
              <a:rPr sz="900" b="1" i="0">
                <a:solidFill>
                  <a:srgbClr val="C9882A"/>
                </a:solidFill>
                <a:latin typeface="Calibri"/>
              </a:rPr>
              <a:t>Channel: Google Display  .  Timeline: Aug-Sep 2026</a:t>
            </a:r>
          </a:p>
        </p:txBody>
      </p:sp>
      <p:sp>
        <p:nvSpPr>
          <p:cNvPr id="19" name="Rectangle 18"/>
          <p:cNvSpPr/>
          <p:nvPr/>
        </p:nvSpPr>
        <p:spPr>
          <a:xfrm>
            <a:off x="457200" y="3840480"/>
            <a:ext cx="5596128" cy="219456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840480"/>
            <a:ext cx="64008" cy="2194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86200"/>
            <a:ext cx="731520" cy="594360"/>
          </a:xfrm>
          <a:prstGeom prst="rect">
            <a:avLst/>
          </a:prstGeom>
          <a:noFill/>
        </p:spPr>
        <p:txBody>
          <a:bodyPr wrap="square">
            <a:spAutoFit/>
          </a:bodyPr>
          <a:lstStyle/>
          <a:p>
            <a:pPr algn="l"/>
            <a:r>
              <a:rPr sz="3600" b="0" i="0">
                <a:solidFill>
                  <a:srgbClr val="C9A84C"/>
                </a:solidFill>
                <a:latin typeface="Cormorant Garamond"/>
              </a:rPr>
              <a:t>03</a:t>
            </a:r>
          </a:p>
        </p:txBody>
      </p:sp>
      <p:sp>
        <p:nvSpPr>
          <p:cNvPr id="22" name="TextBox 21"/>
          <p:cNvSpPr txBox="1"/>
          <p:nvPr/>
        </p:nvSpPr>
        <p:spPr>
          <a:xfrm>
            <a:off x="640080" y="4462272"/>
            <a:ext cx="5230368" cy="347472"/>
          </a:xfrm>
          <a:prstGeom prst="rect">
            <a:avLst/>
          </a:prstGeom>
          <a:noFill/>
        </p:spPr>
        <p:txBody>
          <a:bodyPr wrap="square">
            <a:spAutoFit/>
          </a:bodyPr>
          <a:lstStyle/>
          <a:p>
            <a:pPr algn="l"/>
            <a:r>
              <a:rPr sz="1300" b="1" i="0">
                <a:solidFill>
                  <a:srgbClr val="1C1C1A"/>
                </a:solidFill>
                <a:latin typeface="Calibri"/>
              </a:rPr>
              <a:t>Scale Instagram to 3x/week posting</a:t>
            </a:r>
          </a:p>
        </p:txBody>
      </p:sp>
      <p:sp>
        <p:nvSpPr>
          <p:cNvPr id="23" name="TextBox 22"/>
          <p:cNvSpPr txBox="1"/>
          <p:nvPr/>
        </p:nvSpPr>
        <p:spPr>
          <a:xfrm>
            <a:off x="640080" y="4846320"/>
            <a:ext cx="5230368" cy="914400"/>
          </a:xfrm>
          <a:prstGeom prst="rect">
            <a:avLst/>
          </a:prstGeom>
          <a:noFill/>
        </p:spPr>
        <p:txBody>
          <a:bodyPr wrap="square">
            <a:spAutoFit/>
          </a:bodyPr>
          <a:lstStyle/>
          <a:p>
            <a:pPr algn="l"/>
            <a:r>
              <a:rPr sz="950" b="0" i="0">
                <a:solidFill>
                  <a:srgbClr val="6B6460"/>
                </a:solidFill>
                <a:latin typeface="Calibri"/>
              </a:rPr>
              <a:t>1 educational + 1 practice culture + 1 therapy insight per week. 90-day review in October. Instagram is a long-game channel - consistency now pays in Q4 and compounds into a remarketing audience for paid.</a:t>
            </a:r>
          </a:p>
        </p:txBody>
      </p:sp>
      <p:sp>
        <p:nvSpPr>
          <p:cNvPr id="24" name="TextBox 23"/>
          <p:cNvSpPr txBox="1"/>
          <p:nvPr/>
        </p:nvSpPr>
        <p:spPr>
          <a:xfrm>
            <a:off x="640080" y="5779008"/>
            <a:ext cx="5230368" cy="219456"/>
          </a:xfrm>
          <a:prstGeom prst="rect">
            <a:avLst/>
          </a:prstGeom>
          <a:noFill/>
        </p:spPr>
        <p:txBody>
          <a:bodyPr wrap="square">
            <a:spAutoFit/>
          </a:bodyPr>
          <a:lstStyle/>
          <a:p>
            <a:pPr algn="l"/>
            <a:r>
              <a:rPr sz="900" b="1" i="0">
                <a:solidFill>
                  <a:srgbClr val="C9A84C"/>
                </a:solidFill>
                <a:latin typeface="Calibri"/>
              </a:rPr>
              <a:t>Channel: Instagram  .  Timeline: Ongoing from July</a:t>
            </a:r>
          </a:p>
        </p:txBody>
      </p:sp>
      <p:sp>
        <p:nvSpPr>
          <p:cNvPr id="25" name="Rectangle 24"/>
          <p:cNvSpPr/>
          <p:nvPr/>
        </p:nvSpPr>
        <p:spPr>
          <a:xfrm>
            <a:off x="6327648" y="3840480"/>
            <a:ext cx="5596128" cy="219456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27648" y="3840480"/>
            <a:ext cx="64008" cy="2194560"/>
          </a:xfrm>
          <a:prstGeom prst="rect">
            <a:avLst/>
          </a:prstGeom>
          <a:solidFill>
            <a:srgbClr val="C25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3886200"/>
            <a:ext cx="731520" cy="594360"/>
          </a:xfrm>
          <a:prstGeom prst="rect">
            <a:avLst/>
          </a:prstGeom>
          <a:noFill/>
        </p:spPr>
        <p:txBody>
          <a:bodyPr wrap="square">
            <a:spAutoFit/>
          </a:bodyPr>
          <a:lstStyle/>
          <a:p>
            <a:pPr algn="l"/>
            <a:r>
              <a:rPr sz="3600" b="0" i="0">
                <a:solidFill>
                  <a:srgbClr val="C25B3F"/>
                </a:solidFill>
                <a:latin typeface="Cormorant Garamond"/>
              </a:rPr>
              <a:t>04</a:t>
            </a:r>
          </a:p>
        </p:txBody>
      </p:sp>
      <p:sp>
        <p:nvSpPr>
          <p:cNvPr id="28" name="TextBox 27"/>
          <p:cNvSpPr txBox="1"/>
          <p:nvPr/>
        </p:nvSpPr>
        <p:spPr>
          <a:xfrm>
            <a:off x="6510528" y="4462272"/>
            <a:ext cx="5230368" cy="347472"/>
          </a:xfrm>
          <a:prstGeom prst="rect">
            <a:avLst/>
          </a:prstGeom>
          <a:noFill/>
        </p:spPr>
        <p:txBody>
          <a:bodyPr wrap="square">
            <a:spAutoFit/>
          </a:bodyPr>
          <a:lstStyle/>
          <a:p>
            <a:pPr algn="l"/>
            <a:r>
              <a:rPr sz="1300" b="1" i="0">
                <a:solidFill>
                  <a:srgbClr val="1C1C1A"/>
                </a:solidFill>
                <a:latin typeface="Calibri"/>
              </a:rPr>
              <a:t>Insurance-specific SEO + AEO content</a:t>
            </a:r>
          </a:p>
        </p:txBody>
      </p:sp>
      <p:sp>
        <p:nvSpPr>
          <p:cNvPr id="29" name="TextBox 28"/>
          <p:cNvSpPr txBox="1"/>
          <p:nvPr/>
        </p:nvSpPr>
        <p:spPr>
          <a:xfrm>
            <a:off x="6510528" y="4846320"/>
            <a:ext cx="5230368" cy="914400"/>
          </a:xfrm>
          <a:prstGeom prst="rect">
            <a:avLst/>
          </a:prstGeom>
          <a:noFill/>
        </p:spPr>
        <p:txBody>
          <a:bodyPr wrap="square">
            <a:spAutoFit/>
          </a:bodyPr>
          <a:lstStyle/>
          <a:p>
            <a:pPr algn="l"/>
            <a:r>
              <a:rPr sz="950" b="0" i="0">
                <a:solidFill>
                  <a:srgbClr val="6B6460"/>
                </a:solidFill>
                <a:latin typeface="Calibri"/>
              </a:rPr>
              <a:t>Build dedicated pages for insurance queries - high-intent, zero competition. Positions for AI Overview citations and insurance-motivated searches.</a:t>
            </a:r>
          </a:p>
        </p:txBody>
      </p:sp>
      <p:sp>
        <p:nvSpPr>
          <p:cNvPr id="30" name="TextBox 29"/>
          <p:cNvSpPr txBox="1"/>
          <p:nvPr/>
        </p:nvSpPr>
        <p:spPr>
          <a:xfrm>
            <a:off x="6510528" y="5779008"/>
            <a:ext cx="5230368" cy="219456"/>
          </a:xfrm>
          <a:prstGeom prst="rect">
            <a:avLst/>
          </a:prstGeom>
          <a:noFill/>
        </p:spPr>
        <p:txBody>
          <a:bodyPr wrap="square">
            <a:spAutoFit/>
          </a:bodyPr>
          <a:lstStyle/>
          <a:p>
            <a:pPr algn="l"/>
            <a:r>
              <a:rPr sz="900" b="1" i="0">
                <a:solidFill>
                  <a:srgbClr val="C25B3F"/>
                </a:solidFill>
                <a:latin typeface="Calibri"/>
              </a:rPr>
              <a:t>Channel: SEO  .  Timeline: Aug-Sep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V - Q3 STRATEGY</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How We'll Know Q3 Is Working</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14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graphicFrame>
        <p:nvGraphicFramePr>
          <p:cNvPr id="7" name="Table 6"/>
          <p:cNvGraphicFramePr>
            <a:graphicFrameLocks noGrp="1"/>
          </p:cNvGraphicFramePr>
          <p:nvPr/>
        </p:nvGraphicFramePr>
        <p:xfrm>
          <a:off x="457200" y="1417320"/>
          <a:ext cx="7315200" cy="4892040"/>
        </p:xfrm>
        <a:graphic>
          <a:graphicData uri="http://schemas.openxmlformats.org/drawingml/2006/table">
            <a:tbl>
              <a:tblPr firstRow="1" bandRow="1">
                <a:tableStyleId>{5C22544A-7EE6-4342-B048-85BDC9FD1C3A}</a:tableStyleId>
              </a:tblPr>
              <a:tblGrid>
                <a:gridCol w="3657600"/>
                <a:gridCol w="1828800"/>
                <a:gridCol w="1828800"/>
              </a:tblGrid>
              <a:tr h="543560">
                <a:tc>
                  <a:txBody>
                    <a:bodyPr/>
                    <a:lstStyle/>
                    <a:p>
                      <a:pPr algn="l"/>
                      <a:r>
                        <a:rPr sz="900" b="1">
                          <a:solidFill>
                            <a:srgbClr val="FFFFFF"/>
                          </a:solidFill>
                          <a:latin typeface="Calibri"/>
                        </a:rPr>
                        <a:t>Metric</a:t>
                      </a:r>
                    </a:p>
                  </a:txBody>
                  <a:tcPr>
                    <a:solidFill>
                      <a:srgbClr val="3D7A72"/>
                    </a:solidFill>
                  </a:tcPr>
                </a:tc>
                <a:tc>
                  <a:txBody>
                    <a:bodyPr/>
                    <a:lstStyle/>
                    <a:p>
                      <a:pPr algn="ctr"/>
                      <a:r>
                        <a:rPr sz="900" b="1">
                          <a:solidFill>
                            <a:srgbClr val="FFFFFF"/>
                          </a:solidFill>
                          <a:latin typeface="Calibri"/>
                        </a:rPr>
                        <a:t>Q2 End</a:t>
                      </a:r>
                    </a:p>
                  </a:txBody>
                  <a:tcPr>
                    <a:solidFill>
                      <a:srgbClr val="3D7A72"/>
                    </a:solidFill>
                  </a:tcPr>
                </a:tc>
                <a:tc>
                  <a:txBody>
                    <a:bodyPr/>
                    <a:lstStyle/>
                    <a:p>
                      <a:pPr algn="ctr"/>
                      <a:r>
                        <a:rPr sz="900" b="1">
                          <a:solidFill>
                            <a:srgbClr val="FFFFFF"/>
                          </a:solidFill>
                          <a:latin typeface="Calibri"/>
                        </a:rPr>
                        <a:t>Q3 Target</a:t>
                      </a:r>
                    </a:p>
                  </a:txBody>
                  <a:tcPr>
                    <a:solidFill>
                      <a:srgbClr val="3D7A72"/>
                    </a:solidFill>
                  </a:tcPr>
                </a:tc>
              </a:tr>
              <a:tr h="543560">
                <a:tc>
                  <a:txBody>
                    <a:bodyPr/>
                    <a:lstStyle/>
                    <a:p>
                      <a:pPr algn="l"/>
                      <a:r>
                        <a:rPr sz="1000" b="0">
                          <a:solidFill>
                            <a:srgbClr val="1C1C1A"/>
                          </a:solidFill>
                          <a:latin typeface="Calibri"/>
                        </a:rPr>
                        <a:t>Google CRM CPL (avg)</a:t>
                      </a:r>
                    </a:p>
                  </a:txBody>
                  <a:tcPr>
                    <a:solidFill>
                      <a:srgbClr val="FFFFFF"/>
                    </a:solidFill>
                  </a:tcPr>
                </a:tc>
                <a:tc>
                  <a:txBody>
                    <a:bodyPr/>
                    <a:lstStyle/>
                    <a:p>
                      <a:pPr algn="ctr"/>
                      <a:r>
                        <a:rPr sz="1000" b="0">
                          <a:solidFill>
                            <a:srgbClr val="6B6460"/>
                          </a:solidFill>
                          <a:latin typeface="Calibri"/>
                        </a:rPr>
                        <a:t>~$69</a:t>
                      </a:r>
                    </a:p>
                  </a:txBody>
                  <a:tcPr>
                    <a:solidFill>
                      <a:srgbClr val="FFFFFF"/>
                    </a:solidFill>
                  </a:tcPr>
                </a:tc>
                <a:tc>
                  <a:txBody>
                    <a:bodyPr/>
                    <a:lstStyle/>
                    <a:p>
                      <a:pPr algn="ctr"/>
                      <a:r>
                        <a:rPr sz="1000" b="0">
                          <a:solidFill>
                            <a:srgbClr val="3D7A72"/>
                          </a:solidFill>
                          <a:latin typeface="Calibri"/>
                        </a:rPr>
                        <a:t>&lt;$55</a:t>
                      </a:r>
                    </a:p>
                  </a:txBody>
                  <a:tcPr>
                    <a:solidFill>
                      <a:srgbClr val="FFFFFF"/>
                    </a:solidFill>
                  </a:tcPr>
                </a:tc>
              </a:tr>
              <a:tr h="543560">
                <a:tc>
                  <a:txBody>
                    <a:bodyPr/>
                    <a:lstStyle/>
                    <a:p>
                      <a:pPr algn="l"/>
                      <a:r>
                        <a:rPr sz="1000" b="0">
                          <a:solidFill>
                            <a:srgbClr val="1C1C1A"/>
                          </a:solidFill>
                          <a:latin typeface="Calibri"/>
                        </a:rPr>
                        <a:t>Google scheduling rate</a:t>
                      </a:r>
                    </a:p>
                  </a:txBody>
                  <a:tcPr>
                    <a:solidFill>
                      <a:srgbClr val="FFFFFF"/>
                    </a:solidFill>
                  </a:tcPr>
                </a:tc>
                <a:tc>
                  <a:txBody>
                    <a:bodyPr/>
                    <a:lstStyle/>
                    <a:p>
                      <a:pPr algn="ctr"/>
                      <a:r>
                        <a:rPr sz="1000" b="0">
                          <a:solidFill>
                            <a:srgbClr val="6B6460"/>
                          </a:solidFill>
                          <a:latin typeface="Calibri"/>
                        </a:rPr>
                        <a:t>49% avg</a:t>
                      </a:r>
                    </a:p>
                  </a:txBody>
                  <a:tcPr>
                    <a:solidFill>
                      <a:srgbClr val="FFFFFF"/>
                    </a:solidFill>
                  </a:tcPr>
                </a:tc>
                <a:tc>
                  <a:txBody>
                    <a:bodyPr/>
                    <a:lstStyle/>
                    <a:p>
                      <a:pPr algn="ctr"/>
                      <a:r>
                        <a:rPr sz="1000" b="0">
                          <a:solidFill>
                            <a:srgbClr val="3D7A72"/>
                          </a:solidFill>
                          <a:latin typeface="Calibri"/>
                        </a:rPr>
                        <a:t>55%+ consistently</a:t>
                      </a:r>
                    </a:p>
                  </a:txBody>
                  <a:tcPr>
                    <a:solidFill>
                      <a:srgbClr val="FFFFFF"/>
                    </a:solidFill>
                  </a:tcPr>
                </a:tc>
              </a:tr>
              <a:tr h="543560">
                <a:tc>
                  <a:txBody>
                    <a:bodyPr/>
                    <a:lstStyle/>
                    <a:p>
                      <a:pPr algn="l"/>
                      <a:r>
                        <a:rPr sz="1000" b="0">
                          <a:solidFill>
                            <a:srgbClr val="1C1C1A"/>
                          </a:solidFill>
                          <a:latin typeface="Calibri"/>
                        </a:rPr>
                        <a:t>Google CRM leads / week</a:t>
                      </a:r>
                    </a:p>
                  </a:txBody>
                  <a:tcPr>
                    <a:solidFill>
                      <a:srgbClr val="FFFFFF"/>
                    </a:solidFill>
                  </a:tcPr>
                </a:tc>
                <a:tc>
                  <a:txBody>
                    <a:bodyPr/>
                    <a:lstStyle/>
                    <a:p>
                      <a:pPr algn="ctr"/>
                      <a:r>
                        <a:rPr sz="1000" b="0">
                          <a:solidFill>
                            <a:srgbClr val="6B6460"/>
                          </a:solidFill>
                          <a:latin typeface="Calibri"/>
                        </a:rPr>
                        <a:t>8-12</a:t>
                      </a:r>
                    </a:p>
                  </a:txBody>
                  <a:tcPr>
                    <a:solidFill>
                      <a:srgbClr val="FFFFFF"/>
                    </a:solidFill>
                  </a:tcPr>
                </a:tc>
                <a:tc>
                  <a:txBody>
                    <a:bodyPr/>
                    <a:lstStyle/>
                    <a:p>
                      <a:pPr algn="ctr"/>
                      <a:r>
                        <a:rPr sz="1000" b="0">
                          <a:solidFill>
                            <a:srgbClr val="3D7A72"/>
                          </a:solidFill>
                          <a:latin typeface="Calibri"/>
                        </a:rPr>
                        <a:t>12-15</a:t>
                      </a:r>
                    </a:p>
                  </a:txBody>
                  <a:tcPr>
                    <a:solidFill>
                      <a:srgbClr val="FFFFFF"/>
                    </a:solidFill>
                  </a:tcPr>
                </a:tc>
              </a:tr>
              <a:tr h="543560">
                <a:tc>
                  <a:txBody>
                    <a:bodyPr/>
                    <a:lstStyle/>
                    <a:p>
                      <a:pPr algn="l"/>
                      <a:r>
                        <a:rPr sz="1000" b="0">
                          <a:solidFill>
                            <a:srgbClr val="1C1C1A"/>
                          </a:solidFill>
                          <a:latin typeface="Calibri"/>
                        </a:rPr>
                        <a:t>Platform CPL (Google Ads)</a:t>
                      </a:r>
                    </a:p>
                  </a:txBody>
                  <a:tcPr>
                    <a:solidFill>
                      <a:srgbClr val="FFFFFF"/>
                    </a:solidFill>
                  </a:tcPr>
                </a:tc>
                <a:tc>
                  <a:txBody>
                    <a:bodyPr/>
                    <a:lstStyle/>
                    <a:p>
                      <a:pPr algn="ctr"/>
                      <a:r>
                        <a:rPr sz="1000" b="0">
                          <a:solidFill>
                            <a:srgbClr val="6B6460"/>
                          </a:solidFill>
                          <a:latin typeface="Calibri"/>
                        </a:rPr>
                        <a:t>~$100</a:t>
                      </a:r>
                    </a:p>
                  </a:txBody>
                  <a:tcPr>
                    <a:solidFill>
                      <a:srgbClr val="FFFFFF"/>
                    </a:solidFill>
                  </a:tcPr>
                </a:tc>
                <a:tc>
                  <a:txBody>
                    <a:bodyPr/>
                    <a:lstStyle/>
                    <a:p>
                      <a:pPr algn="ctr"/>
                      <a:r>
                        <a:rPr sz="1000" b="0">
                          <a:solidFill>
                            <a:srgbClr val="3D7A72"/>
                          </a:solidFill>
                          <a:latin typeface="Calibri"/>
                        </a:rPr>
                        <a:t>&lt;$80</a:t>
                      </a:r>
                    </a:p>
                  </a:txBody>
                  <a:tcPr>
                    <a:solidFill>
                      <a:srgbClr val="FFFFFF"/>
                    </a:solidFill>
                  </a:tcPr>
                </a:tc>
              </a:tr>
              <a:tr h="543560">
                <a:tc>
                  <a:txBody>
                    <a:bodyPr/>
                    <a:lstStyle/>
                    <a:p>
                      <a:pPr algn="l"/>
                      <a:r>
                        <a:rPr sz="1000" b="0">
                          <a:solidFill>
                            <a:srgbClr val="1C1C1A"/>
                          </a:solidFill>
                          <a:latin typeface="Calibri"/>
                        </a:rPr>
                        <a:t>Organic sessions</a:t>
                      </a:r>
                    </a:p>
                  </a:txBody>
                  <a:tcPr>
                    <a:solidFill>
                      <a:srgbClr val="FFFFFF"/>
                    </a:solidFill>
                  </a:tcPr>
                </a:tc>
                <a:tc>
                  <a:txBody>
                    <a:bodyPr/>
                    <a:lstStyle/>
                    <a:p>
                      <a:pPr algn="ctr"/>
                      <a:r>
                        <a:rPr sz="1000" b="0">
                          <a:solidFill>
                            <a:srgbClr val="6B6460"/>
                          </a:solidFill>
                          <a:latin typeface="Calibri"/>
                        </a:rPr>
                        <a:t>1,297</a:t>
                      </a:r>
                    </a:p>
                  </a:txBody>
                  <a:tcPr>
                    <a:solidFill>
                      <a:srgbClr val="FFFFFF"/>
                    </a:solidFill>
                  </a:tcPr>
                </a:tc>
                <a:tc>
                  <a:txBody>
                    <a:bodyPr/>
                    <a:lstStyle/>
                    <a:p>
                      <a:pPr algn="ctr"/>
                      <a:r>
                        <a:rPr sz="1000" b="0">
                          <a:solidFill>
                            <a:srgbClr val="3D7A72"/>
                          </a:solidFill>
                          <a:latin typeface="Calibri"/>
                        </a:rPr>
                        <a:t>1,400-1,800</a:t>
                      </a:r>
                    </a:p>
                  </a:txBody>
                  <a:tcPr>
                    <a:solidFill>
                      <a:srgbClr val="FFFFFF"/>
                    </a:solidFill>
                  </a:tcPr>
                </a:tc>
              </a:tr>
              <a:tr h="543560">
                <a:tc>
                  <a:txBody>
                    <a:bodyPr/>
                    <a:lstStyle/>
                    <a:p>
                      <a:pPr algn="l"/>
                      <a:r>
                        <a:rPr sz="1000" b="0">
                          <a:solidFill>
                            <a:srgbClr val="1C1C1A"/>
                          </a:solidFill>
                          <a:latin typeface="Calibri"/>
                        </a:rPr>
                        <a:t>AI citations (Semrush)</a:t>
                      </a:r>
                    </a:p>
                  </a:txBody>
                  <a:tcPr>
                    <a:solidFill>
                      <a:srgbClr val="FFFFFF"/>
                    </a:solidFill>
                  </a:tcPr>
                </a:tc>
                <a:tc>
                  <a:txBody>
                    <a:bodyPr/>
                    <a:lstStyle/>
                    <a:p>
                      <a:pPr algn="ctr"/>
                      <a:r>
                        <a:rPr sz="1000" b="0">
                          <a:solidFill>
                            <a:srgbClr val="6B6460"/>
                          </a:solidFill>
                          <a:latin typeface="Calibri"/>
                        </a:rPr>
                        <a:t>21</a:t>
                      </a:r>
                    </a:p>
                  </a:txBody>
                  <a:tcPr>
                    <a:solidFill>
                      <a:srgbClr val="FFFFFF"/>
                    </a:solidFill>
                  </a:tcPr>
                </a:tc>
                <a:tc>
                  <a:txBody>
                    <a:bodyPr/>
                    <a:lstStyle/>
                    <a:p>
                      <a:pPr algn="ctr"/>
                      <a:r>
                        <a:rPr sz="1000" b="0">
                          <a:solidFill>
                            <a:srgbClr val="3D7A72"/>
                          </a:solidFill>
                          <a:latin typeface="Calibri"/>
                        </a:rPr>
                        <a:t>30+</a:t>
                      </a:r>
                    </a:p>
                  </a:txBody>
                  <a:tcPr>
                    <a:solidFill>
                      <a:srgbClr val="FFFFFF"/>
                    </a:solidFill>
                  </a:tcPr>
                </a:tc>
              </a:tr>
              <a:tr h="543560">
                <a:tc>
                  <a:txBody>
                    <a:bodyPr/>
                    <a:lstStyle/>
                    <a:p>
                      <a:pPr algn="l"/>
                      <a:r>
                        <a:rPr sz="1000" b="0">
                          <a:solidFill>
                            <a:srgbClr val="1C1C1A"/>
                          </a:solidFill>
                          <a:latin typeface="Calibri"/>
                        </a:rPr>
                        <a:t>GSC CTR</a:t>
                      </a:r>
                    </a:p>
                  </a:txBody>
                  <a:tcPr>
                    <a:solidFill>
                      <a:srgbClr val="FFFFFF"/>
                    </a:solidFill>
                  </a:tcPr>
                </a:tc>
                <a:tc>
                  <a:txBody>
                    <a:bodyPr/>
                    <a:lstStyle/>
                    <a:p>
                      <a:pPr algn="ctr"/>
                      <a:r>
                        <a:rPr sz="1000" b="0">
                          <a:solidFill>
                            <a:srgbClr val="6B6460"/>
                          </a:solidFill>
                          <a:latin typeface="Calibri"/>
                        </a:rPr>
                        <a:t>0.61%</a:t>
                      </a:r>
                    </a:p>
                  </a:txBody>
                  <a:tcPr>
                    <a:solidFill>
                      <a:srgbClr val="FFFFFF"/>
                    </a:solidFill>
                  </a:tcPr>
                </a:tc>
                <a:tc>
                  <a:txBody>
                    <a:bodyPr/>
                    <a:lstStyle/>
                    <a:p>
                      <a:pPr algn="ctr"/>
                      <a:r>
                        <a:rPr sz="1000" b="0">
                          <a:solidFill>
                            <a:srgbClr val="3D7A72"/>
                          </a:solidFill>
                          <a:latin typeface="Calibri"/>
                        </a:rPr>
                        <a:t>0.8%+</a:t>
                      </a:r>
                    </a:p>
                  </a:txBody>
                  <a:tcPr>
                    <a:solidFill>
                      <a:srgbClr val="FFFFFF"/>
                    </a:solidFill>
                  </a:tcPr>
                </a:tc>
              </a:tr>
              <a:tr h="543560">
                <a:tc>
                  <a:txBody>
                    <a:bodyPr/>
                    <a:lstStyle/>
                    <a:p>
                      <a:pPr algn="l"/>
                      <a:r>
                        <a:rPr sz="1000" b="1">
                          <a:solidFill>
                            <a:srgbClr val="1C1C1A"/>
                          </a:solidFill>
                          <a:latin typeface="Calibri"/>
                        </a:rPr>
                        <a:t>Total CRM consultations</a:t>
                      </a:r>
                    </a:p>
                  </a:txBody>
                  <a:tcPr>
                    <a:solidFill>
                      <a:srgbClr val="EDE7DC"/>
                    </a:solidFill>
                  </a:tcPr>
                </a:tc>
                <a:tc>
                  <a:txBody>
                    <a:bodyPr/>
                    <a:lstStyle/>
                    <a:p>
                      <a:pPr algn="ctr"/>
                      <a:r>
                        <a:rPr sz="1000" b="1">
                          <a:solidFill>
                            <a:srgbClr val="6B6460"/>
                          </a:solidFill>
                          <a:latin typeface="Calibri"/>
                        </a:rPr>
                        <a:t>192</a:t>
                      </a:r>
                    </a:p>
                  </a:txBody>
                  <a:tcPr>
                    <a:solidFill>
                      <a:srgbClr val="EDE7DC"/>
                    </a:solidFill>
                  </a:tcPr>
                </a:tc>
                <a:tc>
                  <a:txBody>
                    <a:bodyPr/>
                    <a:lstStyle/>
                    <a:p>
                      <a:pPr algn="ctr"/>
                      <a:r>
                        <a:rPr sz="1000" b="1">
                          <a:solidFill>
                            <a:srgbClr val="3D7A72"/>
                          </a:solidFill>
                          <a:latin typeface="Calibri"/>
                        </a:rPr>
                        <a:t>220+</a:t>
                      </a:r>
                    </a:p>
                  </a:txBody>
                  <a:tcPr>
                    <a:solidFill>
                      <a:srgbClr val="EDE7DC"/>
                    </a:solidFill>
                  </a:tcPr>
                </a:tc>
              </a:tr>
            </a:tbl>
          </a:graphicData>
        </a:graphic>
      </p:graphicFrame>
      <p:sp>
        <p:nvSpPr>
          <p:cNvPr id="8" name="Rectangle 7"/>
          <p:cNvSpPr/>
          <p:nvPr/>
        </p:nvSpPr>
        <p:spPr>
          <a:xfrm>
            <a:off x="8046720" y="1417320"/>
            <a:ext cx="3657600" cy="2194560"/>
          </a:xfrm>
          <a:prstGeom prst="rect">
            <a:avLst/>
          </a:prstGeom>
          <a:solidFill>
            <a:srgbClr val="1C2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291840" cy="219456"/>
          </a:xfrm>
          <a:prstGeom prst="rect">
            <a:avLst/>
          </a:prstGeom>
          <a:noFill/>
        </p:spPr>
        <p:txBody>
          <a:bodyPr wrap="square">
            <a:spAutoFit/>
          </a:bodyPr>
          <a:lstStyle/>
          <a:p>
            <a:pPr algn="l"/>
            <a:r>
              <a:rPr sz="800" b="1" i="0">
                <a:solidFill>
                  <a:srgbClr val="C9A84C"/>
                </a:solidFill>
                <a:latin typeface="Calibri"/>
              </a:rPr>
              <a:t>MID-QUARTER CHECK-IN</a:t>
            </a:r>
          </a:p>
        </p:txBody>
      </p:sp>
      <p:sp>
        <p:nvSpPr>
          <p:cNvPr id="10" name="TextBox 9"/>
          <p:cNvSpPr txBox="1"/>
          <p:nvPr/>
        </p:nvSpPr>
        <p:spPr>
          <a:xfrm>
            <a:off x="8229600" y="1828800"/>
            <a:ext cx="3291840" cy="777240"/>
          </a:xfrm>
          <a:prstGeom prst="rect">
            <a:avLst/>
          </a:prstGeom>
          <a:noFill/>
        </p:spPr>
        <p:txBody>
          <a:bodyPr wrap="square">
            <a:spAutoFit/>
          </a:bodyPr>
          <a:lstStyle/>
          <a:p>
            <a:pPr algn="l"/>
            <a:r>
              <a:rPr sz="1000" b="0" i="0">
                <a:solidFill>
                  <a:srgbClr val="B0CAC6"/>
                </a:solidFill>
                <a:latin typeface="Calibri"/>
              </a:rPr>
              <a:t>We review metrics at 6 weeks (early August) and adjust campaigns if CPL or scheduling rate trends off-target. We will not wait until September to course-correct.</a:t>
            </a:r>
          </a:p>
        </p:txBody>
      </p:sp>
      <p:sp>
        <p:nvSpPr>
          <p:cNvPr id="11" name="Rectangle 10"/>
          <p:cNvSpPr/>
          <p:nvPr/>
        </p:nvSpPr>
        <p:spPr>
          <a:xfrm>
            <a:off x="8046720" y="3749039"/>
            <a:ext cx="64008" cy="1143000"/>
          </a:xfrm>
          <a:prstGeom prst="rect">
            <a:avLst/>
          </a:prstGeom>
          <a:solidFill>
            <a:srgbClr val="3D7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10728" y="3749039"/>
            <a:ext cx="3593592" cy="1143000"/>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3840479"/>
            <a:ext cx="3337560" cy="960120"/>
          </a:xfrm>
          <a:prstGeom prst="rect">
            <a:avLst/>
          </a:prstGeom>
          <a:noFill/>
        </p:spPr>
        <p:txBody>
          <a:bodyPr wrap="square">
            <a:spAutoFit/>
          </a:bodyPr>
          <a:lstStyle/>
          <a:p>
            <a:pPr algn="l"/>
            <a:r>
              <a:rPr sz="950" b="0" i="0">
                <a:solidFill>
                  <a:srgbClr val="1C1C1A"/>
                </a:solidFill>
                <a:latin typeface="Calibri"/>
              </a:rPr>
              <a:t>CPL and scheduling rate targets assume DSA restructure happens July. If HAP stays unresolved, CPL target adjusts to &lt;$60.</a:t>
            </a:r>
          </a:p>
        </p:txBody>
      </p:sp>
      <p:sp>
        <p:nvSpPr>
          <p:cNvPr id="14" name="Rectangle 13"/>
          <p:cNvSpPr/>
          <p:nvPr/>
        </p:nvSpPr>
        <p:spPr>
          <a:xfrm>
            <a:off x="8046720" y="5029200"/>
            <a:ext cx="64008" cy="914400"/>
          </a:xfrm>
          <a:prstGeom prst="rect">
            <a:avLst/>
          </a:prstGeom>
          <a:solidFill>
            <a:srgbClr val="C988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0728" y="5029200"/>
            <a:ext cx="3593592" cy="914400"/>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5120640"/>
            <a:ext cx="3337560" cy="731520"/>
          </a:xfrm>
          <a:prstGeom prst="rect">
            <a:avLst/>
          </a:prstGeom>
          <a:noFill/>
        </p:spPr>
        <p:txBody>
          <a:bodyPr wrap="square">
            <a:spAutoFit/>
          </a:bodyPr>
          <a:lstStyle/>
          <a:p>
            <a:pPr algn="l"/>
            <a:r>
              <a:rPr sz="950" b="0" i="0">
                <a:solidFill>
                  <a:srgbClr val="1C1C1A"/>
                </a:solidFill>
                <a:latin typeface="Calibri"/>
              </a:rPr>
              <a:t>Success is not high spend or high clicks. Success is more patients booked at lower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EE"/>
        </a:solidFill>
        <a:effectLst/>
      </p:bgPr>
    </p:bg>
    <p:spTree>
      <p:nvGrpSpPr>
        <p:cNvPr id="1" name=""/>
        <p:cNvGrpSpPr/>
        <p:nvPr/>
      </p:nvGrpSpPr>
      <p:grpSpPr/>
      <p:sp>
        <p:nvSpPr>
          <p:cNvPr id="2" name="TextBox 1"/>
          <p:cNvSpPr txBox="1"/>
          <p:nvPr/>
        </p:nvSpPr>
        <p:spPr>
          <a:xfrm>
            <a:off x="457200" y="201168"/>
            <a:ext cx="7315200" cy="256032"/>
          </a:xfrm>
          <a:prstGeom prst="rect">
            <a:avLst/>
          </a:prstGeom>
          <a:noFill/>
        </p:spPr>
        <p:txBody>
          <a:bodyPr wrap="square">
            <a:spAutoFit/>
          </a:bodyPr>
          <a:lstStyle/>
          <a:p>
            <a:pPr algn="l"/>
            <a:r>
              <a:rPr sz="750" b="1" i="0">
                <a:solidFill>
                  <a:srgbClr val="3D7A72"/>
                </a:solidFill>
                <a:latin typeface="Calibri"/>
              </a:rPr>
              <a:t>ACT V - Q3 STRATEGY</a:t>
            </a:r>
          </a:p>
        </p:txBody>
      </p:sp>
      <p:sp>
        <p:nvSpPr>
          <p:cNvPr id="3" name="TextBox 2"/>
          <p:cNvSpPr txBox="1"/>
          <p:nvPr/>
        </p:nvSpPr>
        <p:spPr>
          <a:xfrm>
            <a:off x="457200" y="420624"/>
            <a:ext cx="10058400" cy="822960"/>
          </a:xfrm>
          <a:prstGeom prst="rect">
            <a:avLst/>
          </a:prstGeom>
          <a:noFill/>
        </p:spPr>
        <p:txBody>
          <a:bodyPr wrap="square">
            <a:spAutoFit/>
          </a:bodyPr>
          <a:lstStyle/>
          <a:p>
            <a:pPr algn="l"/>
            <a:r>
              <a:rPr sz="3000" b="0" i="0">
                <a:solidFill>
                  <a:srgbClr val="1C1C1A"/>
                </a:solidFill>
                <a:latin typeface="Cormorant Garamond"/>
              </a:rPr>
              <a:t>What We Need From You to Make Q3 Work</a:t>
            </a:r>
          </a:p>
        </p:txBody>
      </p:sp>
      <p:sp>
        <p:nvSpPr>
          <p:cNvPr id="4" name="TextBox 3"/>
          <p:cNvSpPr txBox="1"/>
          <p:nvPr/>
        </p:nvSpPr>
        <p:spPr>
          <a:xfrm>
            <a:off x="11338560" y="109728"/>
            <a:ext cx="731520" cy="256032"/>
          </a:xfrm>
          <a:prstGeom prst="rect">
            <a:avLst/>
          </a:prstGeom>
          <a:noFill/>
        </p:spPr>
        <p:txBody>
          <a:bodyPr wrap="square">
            <a:spAutoFit/>
          </a:bodyPr>
          <a:lstStyle/>
          <a:p>
            <a:pPr algn="r"/>
            <a:r>
              <a:rPr sz="900" b="0" i="0">
                <a:solidFill>
                  <a:srgbClr val="6B6460"/>
                </a:solidFill>
                <a:latin typeface="Calibri"/>
              </a:rPr>
              <a:t>15 / 16</a:t>
            </a:r>
          </a:p>
        </p:txBody>
      </p:sp>
      <p:sp>
        <p:nvSpPr>
          <p:cNvPr id="5" name="Rectangle 4"/>
          <p:cNvSpPr/>
          <p:nvPr/>
        </p:nvSpPr>
        <p:spPr>
          <a:xfrm>
            <a:off x="0" y="6601968"/>
            <a:ext cx="12188952" cy="256032"/>
          </a:xfrm>
          <a:prstGeom prst="rect">
            <a:avLst/>
          </a:prstGeom>
          <a:solidFill>
            <a:srgbClr val="E3DE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638544"/>
            <a:ext cx="11640312" cy="182880"/>
          </a:xfrm>
          <a:prstGeom prst="rect">
            <a:avLst/>
          </a:prstGeom>
          <a:noFill/>
        </p:spPr>
        <p:txBody>
          <a:bodyPr wrap="square">
            <a:spAutoFit/>
          </a:bodyPr>
          <a:lstStyle/>
          <a:p>
            <a:pPr algn="l"/>
            <a:r>
              <a:rPr sz="750" b="0" i="0">
                <a:solidFill>
                  <a:srgbClr val="6B6460"/>
                </a:solidFill>
                <a:latin typeface="Calibri"/>
              </a:rPr>
              <a:t>Damco Digital  .  Wellspring Therapeutic Partners  .  Q2 2026 QBR  .  Confidential</a:t>
            </a:r>
          </a:p>
        </p:txBody>
      </p:sp>
      <p:sp>
        <p:nvSpPr>
          <p:cNvPr id="7" name="Rectangle 6"/>
          <p:cNvSpPr/>
          <p:nvPr/>
        </p:nvSpPr>
        <p:spPr>
          <a:xfrm>
            <a:off x="457200" y="1417320"/>
            <a:ext cx="11247120" cy="11887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08760"/>
            <a:ext cx="502920" cy="640080"/>
          </a:xfrm>
          <a:prstGeom prst="rect">
            <a:avLst/>
          </a:prstGeom>
          <a:noFill/>
        </p:spPr>
        <p:txBody>
          <a:bodyPr wrap="square">
            <a:spAutoFit/>
          </a:bodyPr>
          <a:lstStyle/>
          <a:p>
            <a:pPr algn="l"/>
            <a:r>
              <a:rPr sz="3200" b="0" i="0">
                <a:solidFill>
                  <a:srgbClr val="C25B3F"/>
                </a:solidFill>
                <a:latin typeface="Cormorant Garamond"/>
              </a:rPr>
              <a:t>1</a:t>
            </a:r>
          </a:p>
        </p:txBody>
      </p:sp>
      <p:sp>
        <p:nvSpPr>
          <p:cNvPr id="9" name="Rectangle 8"/>
          <p:cNvSpPr/>
          <p:nvPr/>
        </p:nvSpPr>
        <p:spPr>
          <a:xfrm>
            <a:off x="1188720" y="1554480"/>
            <a:ext cx="18288" cy="91440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1508760"/>
            <a:ext cx="7772400" cy="292608"/>
          </a:xfrm>
          <a:prstGeom prst="rect">
            <a:avLst/>
          </a:prstGeom>
          <a:noFill/>
        </p:spPr>
        <p:txBody>
          <a:bodyPr wrap="square">
            <a:spAutoFit/>
          </a:bodyPr>
          <a:lstStyle/>
          <a:p>
            <a:pPr algn="l"/>
            <a:r>
              <a:rPr sz="1200" b="1" i="0">
                <a:solidFill>
                  <a:srgbClr val="1C1C1A"/>
                </a:solidFill>
                <a:latin typeface="Calibri"/>
              </a:rPr>
              <a:t>HAP insurance decision - accept or definitively close</a:t>
            </a:r>
          </a:p>
        </p:txBody>
      </p:sp>
      <p:sp>
        <p:nvSpPr>
          <p:cNvPr id="11" name="TextBox 10"/>
          <p:cNvSpPr txBox="1"/>
          <p:nvPr/>
        </p:nvSpPr>
        <p:spPr>
          <a:xfrm>
            <a:off x="1325880" y="1819656"/>
            <a:ext cx="8046720" cy="640080"/>
          </a:xfrm>
          <a:prstGeom prst="rect">
            <a:avLst/>
          </a:prstGeom>
          <a:noFill/>
        </p:spPr>
        <p:txBody>
          <a:bodyPr wrap="square">
            <a:spAutoFit/>
          </a:bodyPr>
          <a:lstStyle/>
          <a:p>
            <a:pPr algn="l"/>
            <a:r>
              <a:rPr sz="950" b="0" i="0">
                <a:solidFill>
                  <a:srgbClr val="6B6460"/>
                </a:solidFill>
                <a:latin typeface="Calibri"/>
              </a:rPr>
              <a:t>~8-12 additional bookings/month depend on this one decision. If HAP stays unresolved, we redirect ads away from HAP-likely audiences to reduce wasted spend.</a:t>
            </a:r>
          </a:p>
        </p:txBody>
      </p:sp>
      <p:sp>
        <p:nvSpPr>
          <p:cNvPr id="12" name="Rectangle 11"/>
          <p:cNvSpPr/>
          <p:nvPr/>
        </p:nvSpPr>
        <p:spPr>
          <a:xfrm>
            <a:off x="9555480" y="1737360"/>
            <a:ext cx="1965960" cy="274320"/>
          </a:xfrm>
          <a:prstGeom prst="rect">
            <a:avLst/>
          </a:prstGeom>
          <a:solidFill>
            <a:srgbClr val="FDF1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1764792"/>
            <a:ext cx="1874519" cy="219456"/>
          </a:xfrm>
          <a:prstGeom prst="rect">
            <a:avLst/>
          </a:prstGeom>
          <a:noFill/>
        </p:spPr>
        <p:txBody>
          <a:bodyPr wrap="square">
            <a:spAutoFit/>
          </a:bodyPr>
          <a:lstStyle/>
          <a:p>
            <a:pPr algn="ctr"/>
            <a:r>
              <a:rPr sz="800" b="1" i="0">
                <a:solidFill>
                  <a:srgbClr val="C25B3F"/>
                </a:solidFill>
                <a:latin typeface="Calibri"/>
              </a:rPr>
              <a:t>CRITICAL - needed by Jul 2026</a:t>
            </a:r>
          </a:p>
        </p:txBody>
      </p:sp>
      <p:sp>
        <p:nvSpPr>
          <p:cNvPr id="14" name="Rectangle 13"/>
          <p:cNvSpPr/>
          <p:nvPr/>
        </p:nvSpPr>
        <p:spPr>
          <a:xfrm>
            <a:off x="457200" y="2743200"/>
            <a:ext cx="11247120" cy="11887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834640"/>
            <a:ext cx="502920" cy="640080"/>
          </a:xfrm>
          <a:prstGeom prst="rect">
            <a:avLst/>
          </a:prstGeom>
          <a:noFill/>
        </p:spPr>
        <p:txBody>
          <a:bodyPr wrap="square">
            <a:spAutoFit/>
          </a:bodyPr>
          <a:lstStyle/>
          <a:p>
            <a:pPr algn="l"/>
            <a:r>
              <a:rPr sz="3200" b="0" i="0">
                <a:solidFill>
                  <a:srgbClr val="C9882A"/>
                </a:solidFill>
                <a:latin typeface="Cormorant Garamond"/>
              </a:rPr>
              <a:t>2</a:t>
            </a:r>
          </a:p>
        </p:txBody>
      </p:sp>
      <p:sp>
        <p:nvSpPr>
          <p:cNvPr id="16" name="Rectangle 15"/>
          <p:cNvSpPr/>
          <p:nvPr/>
        </p:nvSpPr>
        <p:spPr>
          <a:xfrm>
            <a:off x="1188720" y="2880360"/>
            <a:ext cx="18288" cy="91440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834640"/>
            <a:ext cx="7772400" cy="292608"/>
          </a:xfrm>
          <a:prstGeom prst="rect">
            <a:avLst/>
          </a:prstGeom>
          <a:noFill/>
        </p:spPr>
        <p:txBody>
          <a:bodyPr wrap="square">
            <a:spAutoFit/>
          </a:bodyPr>
          <a:lstStyle/>
          <a:p>
            <a:pPr algn="l"/>
            <a:r>
              <a:rPr sz="1200" b="1" i="0">
                <a:solidFill>
                  <a:srgbClr val="1C1C1A"/>
                </a:solidFill>
                <a:latin typeface="Calibri"/>
              </a:rPr>
              <a:t>Weekly capacity - how many new patients can you onboard?</a:t>
            </a:r>
          </a:p>
        </p:txBody>
      </p:sp>
      <p:sp>
        <p:nvSpPr>
          <p:cNvPr id="18" name="TextBox 17"/>
          <p:cNvSpPr txBox="1"/>
          <p:nvPr/>
        </p:nvSpPr>
        <p:spPr>
          <a:xfrm>
            <a:off x="1325880" y="3145536"/>
            <a:ext cx="8046720" cy="640080"/>
          </a:xfrm>
          <a:prstGeom prst="rect">
            <a:avLst/>
          </a:prstGeom>
          <a:noFill/>
        </p:spPr>
        <p:txBody>
          <a:bodyPr wrap="square">
            <a:spAutoFit/>
          </a:bodyPr>
          <a:lstStyle/>
          <a:p>
            <a:pPr algn="l"/>
            <a:r>
              <a:rPr sz="950" b="0" i="0">
                <a:solidFill>
                  <a:srgbClr val="6B6460"/>
                </a:solidFill>
                <a:latin typeface="Calibri"/>
              </a:rPr>
              <a:t>Our lead volume target depends on knowing the ceiling. A capacity number each month lets us calibrate spend correctly and avoid generating more leads than can be seen.</a:t>
            </a:r>
          </a:p>
        </p:txBody>
      </p:sp>
      <p:sp>
        <p:nvSpPr>
          <p:cNvPr id="19" name="Rectangle 18"/>
          <p:cNvSpPr/>
          <p:nvPr/>
        </p:nvSpPr>
        <p:spPr>
          <a:xfrm>
            <a:off x="9555480" y="3063240"/>
            <a:ext cx="1965960" cy="274320"/>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3090672"/>
            <a:ext cx="1874519" cy="219456"/>
          </a:xfrm>
          <a:prstGeom prst="rect">
            <a:avLst/>
          </a:prstGeom>
          <a:noFill/>
        </p:spPr>
        <p:txBody>
          <a:bodyPr wrap="square">
            <a:spAutoFit/>
          </a:bodyPr>
          <a:lstStyle/>
          <a:p>
            <a:pPr algn="ctr"/>
            <a:r>
              <a:rPr sz="800" b="1" i="0">
                <a:solidFill>
                  <a:srgbClr val="C9882A"/>
                </a:solidFill>
                <a:latin typeface="Calibri"/>
              </a:rPr>
              <a:t>HIGH PRIORITY - monthly update</a:t>
            </a:r>
          </a:p>
        </p:txBody>
      </p:sp>
      <p:sp>
        <p:nvSpPr>
          <p:cNvPr id="21" name="Rectangle 20"/>
          <p:cNvSpPr/>
          <p:nvPr/>
        </p:nvSpPr>
        <p:spPr>
          <a:xfrm>
            <a:off x="457200" y="4069080"/>
            <a:ext cx="11247120" cy="11887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160520"/>
            <a:ext cx="502920" cy="640080"/>
          </a:xfrm>
          <a:prstGeom prst="rect">
            <a:avLst/>
          </a:prstGeom>
          <a:noFill/>
        </p:spPr>
        <p:txBody>
          <a:bodyPr wrap="square">
            <a:spAutoFit/>
          </a:bodyPr>
          <a:lstStyle/>
          <a:p>
            <a:pPr algn="l"/>
            <a:r>
              <a:rPr sz="3200" b="0" i="0">
                <a:solidFill>
                  <a:srgbClr val="3D7A72"/>
                </a:solidFill>
                <a:latin typeface="Cormorant Garamond"/>
              </a:rPr>
              <a:t>3</a:t>
            </a:r>
          </a:p>
        </p:txBody>
      </p:sp>
      <p:sp>
        <p:nvSpPr>
          <p:cNvPr id="23" name="Rectangle 22"/>
          <p:cNvSpPr/>
          <p:nvPr/>
        </p:nvSpPr>
        <p:spPr>
          <a:xfrm>
            <a:off x="1188720" y="4206240"/>
            <a:ext cx="18288" cy="91440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4160520"/>
            <a:ext cx="7772400" cy="292608"/>
          </a:xfrm>
          <a:prstGeom prst="rect">
            <a:avLst/>
          </a:prstGeom>
          <a:noFill/>
        </p:spPr>
        <p:txBody>
          <a:bodyPr wrap="square">
            <a:spAutoFit/>
          </a:bodyPr>
          <a:lstStyle/>
          <a:p>
            <a:pPr algn="l"/>
            <a:r>
              <a:rPr sz="1200" b="1" i="0">
                <a:solidFill>
                  <a:srgbClr val="1C1C1A"/>
                </a:solidFill>
                <a:latin typeface="Calibri"/>
              </a:rPr>
              <a:t>Instagram content - 2-3 original photos or videos per week</a:t>
            </a:r>
          </a:p>
        </p:txBody>
      </p:sp>
      <p:sp>
        <p:nvSpPr>
          <p:cNvPr id="25" name="TextBox 24"/>
          <p:cNvSpPr txBox="1"/>
          <p:nvPr/>
        </p:nvSpPr>
        <p:spPr>
          <a:xfrm>
            <a:off x="1325880" y="4471416"/>
            <a:ext cx="8046720" cy="640080"/>
          </a:xfrm>
          <a:prstGeom prst="rect">
            <a:avLst/>
          </a:prstGeom>
          <a:noFill/>
        </p:spPr>
        <p:txBody>
          <a:bodyPr wrap="square">
            <a:spAutoFit/>
          </a:bodyPr>
          <a:lstStyle/>
          <a:p>
            <a:pPr algn="l"/>
            <a:r>
              <a:rPr sz="950" b="0" i="0">
                <a:solidFill>
                  <a:srgbClr val="6B6460"/>
                </a:solidFill>
                <a:latin typeface="Calibri"/>
              </a:rPr>
              <a:t>Stock photography does not work for a therapy practice. Patients need to see real people and real spaces. A photo of the office, a short therapist intro, a real quote. Low production, high authenticity.</a:t>
            </a:r>
          </a:p>
        </p:txBody>
      </p:sp>
      <p:sp>
        <p:nvSpPr>
          <p:cNvPr id="26" name="Rectangle 25"/>
          <p:cNvSpPr/>
          <p:nvPr/>
        </p:nvSpPr>
        <p:spPr>
          <a:xfrm>
            <a:off x="9555480" y="4389120"/>
            <a:ext cx="1965960" cy="274320"/>
          </a:xfrm>
          <a:prstGeom prst="rect">
            <a:avLst/>
          </a:prstGeom>
          <a:solidFill>
            <a:srgbClr val="EA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0" y="4416552"/>
            <a:ext cx="1874519" cy="219456"/>
          </a:xfrm>
          <a:prstGeom prst="rect">
            <a:avLst/>
          </a:prstGeom>
          <a:noFill/>
        </p:spPr>
        <p:txBody>
          <a:bodyPr wrap="square">
            <a:spAutoFit/>
          </a:bodyPr>
          <a:lstStyle/>
          <a:p>
            <a:pPr algn="ctr"/>
            <a:r>
              <a:rPr sz="800" b="1" i="0">
                <a:solidFill>
                  <a:srgbClr val="3D7A72"/>
                </a:solidFill>
                <a:latin typeface="Calibri"/>
              </a:rPr>
              <a:t>ONGOING from July</a:t>
            </a:r>
          </a:p>
        </p:txBody>
      </p:sp>
      <p:sp>
        <p:nvSpPr>
          <p:cNvPr id="28" name="Rectangle 27"/>
          <p:cNvSpPr/>
          <p:nvPr/>
        </p:nvSpPr>
        <p:spPr>
          <a:xfrm>
            <a:off x="457200" y="5394960"/>
            <a:ext cx="11247120" cy="1188720"/>
          </a:xfrm>
          <a:prstGeom prst="rect">
            <a:avLst/>
          </a:prstGeom>
          <a:solidFill>
            <a:srgbClr val="FFFFFF"/>
          </a:solidFill>
          <a:ln w="6350">
            <a:solidFill>
              <a:srgbClr val="DDD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486400"/>
            <a:ext cx="502920" cy="640080"/>
          </a:xfrm>
          <a:prstGeom prst="rect">
            <a:avLst/>
          </a:prstGeom>
          <a:noFill/>
        </p:spPr>
        <p:txBody>
          <a:bodyPr wrap="square">
            <a:spAutoFit/>
          </a:bodyPr>
          <a:lstStyle/>
          <a:p>
            <a:pPr algn="l"/>
            <a:r>
              <a:rPr sz="3200" b="0" i="0">
                <a:solidFill>
                  <a:srgbClr val="C9882A"/>
                </a:solidFill>
                <a:latin typeface="Cormorant Garamond"/>
              </a:rPr>
              <a:t>4</a:t>
            </a:r>
          </a:p>
        </p:txBody>
      </p:sp>
      <p:sp>
        <p:nvSpPr>
          <p:cNvPr id="30" name="Rectangle 29"/>
          <p:cNvSpPr/>
          <p:nvPr/>
        </p:nvSpPr>
        <p:spPr>
          <a:xfrm>
            <a:off x="1188720" y="5532120"/>
            <a:ext cx="18288" cy="914400"/>
          </a:xfrm>
          <a:prstGeom prst="rect">
            <a:avLst/>
          </a:prstGeom>
          <a:solidFill>
            <a:srgbClr val="EDE7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5486400"/>
            <a:ext cx="7772400" cy="292608"/>
          </a:xfrm>
          <a:prstGeom prst="rect">
            <a:avLst/>
          </a:prstGeom>
          <a:noFill/>
        </p:spPr>
        <p:txBody>
          <a:bodyPr wrap="square">
            <a:spAutoFit/>
          </a:bodyPr>
          <a:lstStyle/>
          <a:p>
            <a:pPr algn="l"/>
            <a:r>
              <a:rPr sz="1200" b="1" i="0">
                <a:solidFill>
                  <a:srgbClr val="1C1C1A"/>
                </a:solidFill>
                <a:latin typeface="Calibri"/>
              </a:rPr>
              <a:t>Google Healthcare certificate - unlock YouTube + Medication Management ads</a:t>
            </a:r>
          </a:p>
        </p:txBody>
      </p:sp>
      <p:sp>
        <p:nvSpPr>
          <p:cNvPr id="32" name="TextBox 31"/>
          <p:cNvSpPr txBox="1"/>
          <p:nvPr/>
        </p:nvSpPr>
        <p:spPr>
          <a:xfrm>
            <a:off x="1325880" y="5797296"/>
            <a:ext cx="8046720" cy="640080"/>
          </a:xfrm>
          <a:prstGeom prst="rect">
            <a:avLst/>
          </a:prstGeom>
          <a:noFill/>
        </p:spPr>
        <p:txBody>
          <a:bodyPr wrap="square">
            <a:spAutoFit/>
          </a:bodyPr>
          <a:lstStyle/>
          <a:p>
            <a:pPr algn="l"/>
            <a:r>
              <a:rPr sz="950" b="0" i="0">
                <a:solidFill>
                  <a:srgbClr val="6B6460"/>
                </a:solidFill>
                <a:latin typeface="Calibri"/>
              </a:rPr>
              <a:t>YouTube pre-roll and expanded Medication Management targeting are currently blocked pending certification. We can guide the process - Wellspring simply needs to initiate the application.</a:t>
            </a:r>
          </a:p>
        </p:txBody>
      </p:sp>
      <p:sp>
        <p:nvSpPr>
          <p:cNvPr id="33" name="Rectangle 32"/>
          <p:cNvSpPr/>
          <p:nvPr/>
        </p:nvSpPr>
        <p:spPr>
          <a:xfrm>
            <a:off x="9555480" y="5715000"/>
            <a:ext cx="1965960" cy="274320"/>
          </a:xfrm>
          <a:prstGeom prst="rect">
            <a:avLst/>
          </a:prstGeom>
          <a:solidFill>
            <a:srgbClr val="FD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0" y="5742432"/>
            <a:ext cx="1874519" cy="219456"/>
          </a:xfrm>
          <a:prstGeom prst="rect">
            <a:avLst/>
          </a:prstGeom>
          <a:noFill/>
        </p:spPr>
        <p:txBody>
          <a:bodyPr wrap="square">
            <a:spAutoFit/>
          </a:bodyPr>
          <a:lstStyle/>
          <a:p>
            <a:pPr algn="ctr"/>
            <a:r>
              <a:rPr sz="800" b="1" i="0">
                <a:solidFill>
                  <a:srgbClr val="C9882A"/>
                </a:solidFill>
                <a:latin typeface="Calibri"/>
              </a:rPr>
              <a:t>HIGH PRIORITY - Q3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