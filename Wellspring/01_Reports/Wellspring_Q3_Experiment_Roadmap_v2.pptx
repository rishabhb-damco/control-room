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Oval 1"/>
          <p:cNvSpPr/>
          <p:nvPr/>
        </p:nvSpPr>
        <p:spPr>
          <a:xfrm>
            <a:off x="7132320" y="-1097280"/>
            <a:ext cx="4572000" cy="4572000"/>
          </a:xfrm>
          <a:prstGeom prst="ellipse">
            <a:avLst/>
          </a:prstGeom>
          <a:solidFill>
            <a:srgbClr val="EE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03920" y="548640"/>
            <a:ext cx="5669280" cy="5669280"/>
          </a:xfrm>
          <a:prstGeom prst="ellipse">
            <a:avLst/>
          </a:prstGeom>
          <a:solidFill>
            <a:srgbClr val="C9C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91640"/>
            <a:ext cx="9418320" cy="566928"/>
          </a:xfrm>
          <a:prstGeom prst="rect">
            <a:avLst/>
          </a:prstGeom>
          <a:noFill/>
        </p:spPr>
        <p:txBody>
          <a:bodyPr wrap="square">
            <a:spAutoFit/>
          </a:bodyPr>
          <a:lstStyle/>
          <a:p>
            <a:pPr algn="l"/>
            <a:r>
              <a:rPr sz="1800" b="1" i="0">
                <a:solidFill>
                  <a:srgbClr val="1E1E2E"/>
                </a:solidFill>
                <a:latin typeface="Calibri"/>
              </a:rPr>
              <a:t>Damco Digital × Wellspring</a:t>
            </a:r>
          </a:p>
        </p:txBody>
      </p:sp>
      <p:sp>
        <p:nvSpPr>
          <p:cNvPr id="5" name="TextBox 4"/>
          <p:cNvSpPr txBox="1"/>
          <p:nvPr/>
        </p:nvSpPr>
        <p:spPr>
          <a:xfrm>
            <a:off x="1371600" y="2331720"/>
            <a:ext cx="9418320" cy="822960"/>
          </a:xfrm>
          <a:prstGeom prst="rect">
            <a:avLst/>
          </a:prstGeom>
          <a:noFill/>
        </p:spPr>
        <p:txBody>
          <a:bodyPr wrap="square">
            <a:spAutoFit/>
          </a:bodyPr>
          <a:lstStyle/>
          <a:p>
            <a:pPr algn="l"/>
            <a:r>
              <a:rPr sz="4800" b="1" i="0">
                <a:solidFill>
                  <a:srgbClr val="4B3BC8"/>
                </a:solidFill>
                <a:latin typeface="Arial Black"/>
              </a:rPr>
              <a:t>Q3 2026 Campaign</a:t>
            </a:r>
          </a:p>
        </p:txBody>
      </p:sp>
      <p:sp>
        <p:nvSpPr>
          <p:cNvPr id="6" name="TextBox 5"/>
          <p:cNvSpPr txBox="1"/>
          <p:nvPr/>
        </p:nvSpPr>
        <p:spPr>
          <a:xfrm>
            <a:off x="1371600" y="3154680"/>
            <a:ext cx="9418320" cy="731520"/>
          </a:xfrm>
          <a:prstGeom prst="rect">
            <a:avLst/>
          </a:prstGeom>
          <a:noFill/>
        </p:spPr>
        <p:txBody>
          <a:bodyPr wrap="square">
            <a:spAutoFit/>
          </a:bodyPr>
          <a:lstStyle/>
          <a:p>
            <a:pPr algn="l"/>
            <a:r>
              <a:rPr sz="4800" b="1" i="0">
                <a:solidFill>
                  <a:srgbClr val="4B3BC8"/>
                </a:solidFill>
                <a:latin typeface="Arial Black"/>
              </a:rPr>
              <a:t>Experiment Roadmap</a:t>
            </a:r>
          </a:p>
        </p:txBody>
      </p:sp>
      <p:sp>
        <p:nvSpPr>
          <p:cNvPr id="7" name="TextBox 6"/>
          <p:cNvSpPr txBox="1"/>
          <p:nvPr/>
        </p:nvSpPr>
        <p:spPr>
          <a:xfrm>
            <a:off x="1371600" y="4005072"/>
            <a:ext cx="9418320" cy="502920"/>
          </a:xfrm>
          <a:prstGeom prst="rect">
            <a:avLst/>
          </a:prstGeom>
          <a:noFill/>
        </p:spPr>
        <p:txBody>
          <a:bodyPr wrap="square">
            <a:spAutoFit/>
          </a:bodyPr>
          <a:lstStyle/>
          <a:p>
            <a:pPr algn="l"/>
            <a:r>
              <a:rPr sz="1700" b="0" i="0">
                <a:solidFill>
                  <a:srgbClr val="6B7280"/>
                </a:solidFill>
                <a:latin typeface="Calibri"/>
              </a:rPr>
              <a:t>June – August 2026  |  5 Tests  |  Budget Proposal</a:t>
            </a:r>
          </a:p>
        </p:txBody>
      </p:sp>
      <p:sp>
        <p:nvSpPr>
          <p:cNvPr id="8" name="TextBox 7"/>
          <p:cNvSpPr txBox="1"/>
          <p:nvPr/>
        </p:nvSpPr>
        <p:spPr>
          <a:xfrm>
            <a:off x="1371600" y="4535424"/>
            <a:ext cx="9418320" cy="420624"/>
          </a:xfrm>
          <a:prstGeom prst="rect">
            <a:avLst/>
          </a:prstGeom>
          <a:noFill/>
        </p:spPr>
        <p:txBody>
          <a:bodyPr wrap="square">
            <a:spAutoFit/>
          </a:bodyPr>
          <a:lstStyle/>
          <a:p>
            <a:pPr algn="l"/>
            <a:r>
              <a:rPr sz="1400" b="0" i="0">
                <a:solidFill>
                  <a:srgbClr val="6B7280"/>
                </a:solidFill>
                <a:latin typeface="Calibri"/>
              </a:rPr>
              <a:t>Wellspring Therapeutic Partners  |  Prepared by Damco Digital</a:t>
            </a:r>
          </a:p>
        </p:txBody>
      </p:sp>
      <p:sp>
        <p:nvSpPr>
          <p:cNvPr id="9" name="TextBox 8"/>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Where We Stand (Q1–Q2 2026)</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What has been tested, what is validated, and what is the gap we are filling in Q3</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2</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3657600" cy="347472"/>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96696"/>
            <a:ext cx="3401568" cy="274320"/>
          </a:xfrm>
          <a:prstGeom prst="rect">
            <a:avLst/>
          </a:prstGeom>
          <a:noFill/>
        </p:spPr>
        <p:txBody>
          <a:bodyPr wrap="square">
            <a:spAutoFit/>
          </a:bodyPr>
          <a:lstStyle/>
          <a:p>
            <a:pPr algn="l"/>
            <a:r>
              <a:rPr sz="1100" b="1" i="0">
                <a:solidFill>
                  <a:srgbClr val="FFFFFF"/>
                </a:solidFill>
                <a:latin typeface="Calibri"/>
              </a:rPr>
              <a:t>✓  VALIDATED WINNER</a:t>
            </a:r>
          </a:p>
        </p:txBody>
      </p:sp>
      <p:sp>
        <p:nvSpPr>
          <p:cNvPr id="10" name="Rectangle 9"/>
          <p:cNvSpPr/>
          <p:nvPr/>
        </p:nvSpPr>
        <p:spPr>
          <a:xfrm>
            <a:off x="502920" y="1307592"/>
            <a:ext cx="3657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426464"/>
            <a:ext cx="3346704" cy="384048"/>
          </a:xfrm>
          <a:prstGeom prst="rect">
            <a:avLst/>
          </a:prstGeom>
          <a:noFill/>
        </p:spPr>
        <p:txBody>
          <a:bodyPr wrap="square">
            <a:spAutoFit/>
          </a:bodyPr>
          <a:lstStyle/>
          <a:p>
            <a:pPr algn="l"/>
            <a:r>
              <a:rPr sz="1500" b="1" i="0">
                <a:solidFill>
                  <a:srgbClr val="4B3BC8"/>
                </a:solidFill>
                <a:latin typeface="Calibri"/>
              </a:rPr>
              <a:t>DSA Campaign</a:t>
            </a:r>
          </a:p>
        </p:txBody>
      </p:sp>
      <p:sp>
        <p:nvSpPr>
          <p:cNvPr id="12" name="Oval 11"/>
          <p:cNvSpPr/>
          <p:nvPr/>
        </p:nvSpPr>
        <p:spPr>
          <a:xfrm>
            <a:off x="667512" y="2048256"/>
            <a:ext cx="109728" cy="109728"/>
          </a:xfrm>
          <a:prstGeom prst="ellipse">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56816"/>
            <a:ext cx="3154680" cy="603504"/>
          </a:xfrm>
          <a:prstGeom prst="rect">
            <a:avLst/>
          </a:prstGeom>
          <a:noFill/>
        </p:spPr>
        <p:txBody>
          <a:bodyPr wrap="square">
            <a:spAutoFit/>
          </a:bodyPr>
          <a:lstStyle/>
          <a:p>
            <a:pPr algn="l"/>
            <a:r>
              <a:rPr sz="1100" b="0" i="0">
                <a:solidFill>
                  <a:srgbClr val="1E1E2E"/>
                </a:solidFill>
                <a:latin typeface="Calibri"/>
              </a:rPr>
              <a:t>$22–$57 CPA — 2–4x better than Generic Search every single week</a:t>
            </a:r>
          </a:p>
        </p:txBody>
      </p:sp>
      <p:sp>
        <p:nvSpPr>
          <p:cNvPr id="14" name="Oval 13"/>
          <p:cNvSpPr/>
          <p:nvPr/>
        </p:nvSpPr>
        <p:spPr>
          <a:xfrm>
            <a:off x="667512" y="2761488"/>
            <a:ext cx="109728" cy="109728"/>
          </a:xfrm>
          <a:prstGeom prst="ellipse">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670048"/>
            <a:ext cx="3154680" cy="603504"/>
          </a:xfrm>
          <a:prstGeom prst="rect">
            <a:avLst/>
          </a:prstGeom>
          <a:noFill/>
        </p:spPr>
        <p:txBody>
          <a:bodyPr wrap="square">
            <a:spAutoFit/>
          </a:bodyPr>
          <a:lstStyle/>
          <a:p>
            <a:pPr algn="l"/>
            <a:r>
              <a:rPr sz="1100" b="0" i="0">
                <a:solidFill>
                  <a:srgbClr val="1E1E2E"/>
                </a:solidFill>
                <a:latin typeface="Calibri"/>
              </a:rPr>
              <a:t>CTR: 6–9% consistently</a:t>
            </a:r>
          </a:p>
        </p:txBody>
      </p:sp>
      <p:sp>
        <p:nvSpPr>
          <p:cNvPr id="16" name="Oval 15"/>
          <p:cNvSpPr/>
          <p:nvPr/>
        </p:nvSpPr>
        <p:spPr>
          <a:xfrm>
            <a:off x="667512" y="3474720"/>
            <a:ext cx="109728" cy="109728"/>
          </a:xfrm>
          <a:prstGeom prst="ellipse">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383280"/>
            <a:ext cx="3154680" cy="603504"/>
          </a:xfrm>
          <a:prstGeom prst="rect">
            <a:avLst/>
          </a:prstGeom>
          <a:noFill/>
        </p:spPr>
        <p:txBody>
          <a:bodyPr wrap="square">
            <a:spAutoFit/>
          </a:bodyPr>
          <a:lstStyle/>
          <a:p>
            <a:pPr algn="l"/>
            <a:r>
              <a:rPr sz="1100" b="0" i="0">
                <a:solidFill>
                  <a:srgbClr val="1E1E2E"/>
                </a:solidFill>
                <a:latin typeface="Calibri"/>
              </a:rPr>
              <a:t>Budget already being increased</a:t>
            </a:r>
          </a:p>
        </p:txBody>
      </p:sp>
      <p:sp>
        <p:nvSpPr>
          <p:cNvPr id="18" name="Rectangle 17"/>
          <p:cNvSpPr/>
          <p:nvPr/>
        </p:nvSpPr>
        <p:spPr>
          <a:xfrm>
            <a:off x="4389120" y="960120"/>
            <a:ext cx="365760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996696"/>
            <a:ext cx="3401568" cy="274320"/>
          </a:xfrm>
          <a:prstGeom prst="rect">
            <a:avLst/>
          </a:prstGeom>
          <a:noFill/>
        </p:spPr>
        <p:txBody>
          <a:bodyPr wrap="square">
            <a:spAutoFit/>
          </a:bodyPr>
          <a:lstStyle/>
          <a:p>
            <a:pPr algn="l"/>
            <a:r>
              <a:rPr sz="1100" b="1" i="0">
                <a:solidFill>
                  <a:srgbClr val="FFFFFF"/>
                </a:solidFill>
                <a:latin typeface="Calibri"/>
              </a:rPr>
              <a:t>⟳  IN TEST (May 2026)</a:t>
            </a:r>
          </a:p>
        </p:txBody>
      </p:sp>
      <p:sp>
        <p:nvSpPr>
          <p:cNvPr id="20" name="Rectangle 19"/>
          <p:cNvSpPr/>
          <p:nvPr/>
        </p:nvSpPr>
        <p:spPr>
          <a:xfrm>
            <a:off x="4389120" y="1307592"/>
            <a:ext cx="3657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3712" y="1426464"/>
            <a:ext cx="3346704" cy="384048"/>
          </a:xfrm>
          <a:prstGeom prst="rect">
            <a:avLst/>
          </a:prstGeom>
          <a:noFill/>
        </p:spPr>
        <p:txBody>
          <a:bodyPr wrap="square">
            <a:spAutoFit/>
          </a:bodyPr>
          <a:lstStyle/>
          <a:p>
            <a:pPr algn="l"/>
            <a:r>
              <a:rPr sz="1500" b="1" i="0">
                <a:solidFill>
                  <a:srgbClr val="F59E0B"/>
                </a:solidFill>
                <a:latin typeface="Calibri"/>
              </a:rPr>
              <a:t>Regional Search Campaign</a:t>
            </a:r>
          </a:p>
        </p:txBody>
      </p:sp>
      <p:sp>
        <p:nvSpPr>
          <p:cNvPr id="22" name="Oval 21"/>
          <p:cNvSpPr/>
          <p:nvPr/>
        </p:nvSpPr>
        <p:spPr>
          <a:xfrm>
            <a:off x="4553712" y="204825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1956816"/>
            <a:ext cx="3154680" cy="603504"/>
          </a:xfrm>
          <a:prstGeom prst="rect">
            <a:avLst/>
          </a:prstGeom>
          <a:noFill/>
        </p:spPr>
        <p:txBody>
          <a:bodyPr wrap="square">
            <a:spAutoFit/>
          </a:bodyPr>
          <a:lstStyle/>
          <a:p>
            <a:pPr algn="l"/>
            <a:r>
              <a:rPr sz="1100" b="0" i="0">
                <a:solidFill>
                  <a:srgbClr val="1E1E2E"/>
                </a:solidFill>
                <a:latin typeface="Calibri"/>
              </a:rPr>
              <a:t>Launched 06 May 2026</a:t>
            </a:r>
          </a:p>
        </p:txBody>
      </p:sp>
      <p:sp>
        <p:nvSpPr>
          <p:cNvPr id="24" name="Oval 23"/>
          <p:cNvSpPr/>
          <p:nvPr/>
        </p:nvSpPr>
        <p:spPr>
          <a:xfrm>
            <a:off x="4553712" y="2761488"/>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2670048"/>
            <a:ext cx="3154680" cy="603504"/>
          </a:xfrm>
          <a:prstGeom prst="rect">
            <a:avLst/>
          </a:prstGeom>
          <a:noFill/>
        </p:spPr>
        <p:txBody>
          <a:bodyPr wrap="square">
            <a:spAutoFit/>
          </a:bodyPr>
          <a:lstStyle/>
          <a:p>
            <a:pPr algn="l"/>
            <a:r>
              <a:rPr sz="1100" b="0" i="0">
                <a:solidFill>
                  <a:srgbClr val="1E1E2E"/>
                </a:solidFill>
                <a:latin typeface="Calibri"/>
              </a:rPr>
              <a:t>Too early to read — first full data week pending</a:t>
            </a:r>
          </a:p>
        </p:txBody>
      </p:sp>
      <p:sp>
        <p:nvSpPr>
          <p:cNvPr id="26" name="Oval 25"/>
          <p:cNvSpPr/>
          <p:nvPr/>
        </p:nvSpPr>
        <p:spPr>
          <a:xfrm>
            <a:off x="4553712" y="347472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3383280"/>
            <a:ext cx="3154680" cy="603504"/>
          </a:xfrm>
          <a:prstGeom prst="rect">
            <a:avLst/>
          </a:prstGeom>
          <a:noFill/>
        </p:spPr>
        <p:txBody>
          <a:bodyPr wrap="square">
            <a:spAutoFit/>
          </a:bodyPr>
          <a:lstStyle/>
          <a:p>
            <a:pPr algn="l"/>
            <a:r>
              <a:rPr sz="1100" b="0" i="0">
                <a:solidFill>
                  <a:srgbClr val="1E1E2E"/>
                </a:solidFill>
                <a:latin typeface="Calibri"/>
              </a:rPr>
              <a:t>Covers Troy + Clinton Twp geo-split</a:t>
            </a:r>
          </a:p>
        </p:txBody>
      </p:sp>
      <p:sp>
        <p:nvSpPr>
          <p:cNvPr id="28" name="Rectangle 27"/>
          <p:cNvSpPr/>
          <p:nvPr/>
        </p:nvSpPr>
        <p:spPr>
          <a:xfrm>
            <a:off x="8275320" y="960120"/>
            <a:ext cx="3657600" cy="34747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996696"/>
            <a:ext cx="3401568" cy="274320"/>
          </a:xfrm>
          <a:prstGeom prst="rect">
            <a:avLst/>
          </a:prstGeom>
          <a:noFill/>
        </p:spPr>
        <p:txBody>
          <a:bodyPr wrap="square">
            <a:spAutoFit/>
          </a:bodyPr>
          <a:lstStyle/>
          <a:p>
            <a:pPr algn="l"/>
            <a:r>
              <a:rPr sz="1100" b="1" i="0">
                <a:solidFill>
                  <a:srgbClr val="FFFFFF"/>
                </a:solidFill>
                <a:latin typeface="Calibri"/>
              </a:rPr>
              <a:t>✗  BLOCKED</a:t>
            </a:r>
          </a:p>
        </p:txBody>
      </p:sp>
      <p:sp>
        <p:nvSpPr>
          <p:cNvPr id="30" name="Rectangle 29"/>
          <p:cNvSpPr/>
          <p:nvPr/>
        </p:nvSpPr>
        <p:spPr>
          <a:xfrm>
            <a:off x="8275320" y="1307592"/>
            <a:ext cx="3657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39912" y="1426464"/>
            <a:ext cx="3346704" cy="384048"/>
          </a:xfrm>
          <a:prstGeom prst="rect">
            <a:avLst/>
          </a:prstGeom>
          <a:noFill/>
        </p:spPr>
        <p:txBody>
          <a:bodyPr wrap="square">
            <a:spAutoFit/>
          </a:bodyPr>
          <a:lstStyle/>
          <a:p>
            <a:pPr algn="l"/>
            <a:r>
              <a:rPr sz="1500" b="1" i="0">
                <a:solidFill>
                  <a:srgbClr val="EF4444"/>
                </a:solidFill>
                <a:latin typeface="Calibri"/>
              </a:rPr>
              <a:t>YouTube / Demand Gen</a:t>
            </a:r>
          </a:p>
        </p:txBody>
      </p:sp>
      <p:sp>
        <p:nvSpPr>
          <p:cNvPr id="32" name="Oval 31"/>
          <p:cNvSpPr/>
          <p:nvPr/>
        </p:nvSpPr>
        <p:spPr>
          <a:xfrm>
            <a:off x="8439912" y="20482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1080" y="1956816"/>
            <a:ext cx="3154680" cy="603504"/>
          </a:xfrm>
          <a:prstGeom prst="rect">
            <a:avLst/>
          </a:prstGeom>
          <a:noFill/>
        </p:spPr>
        <p:txBody>
          <a:bodyPr wrap="square">
            <a:spAutoFit/>
          </a:bodyPr>
          <a:lstStyle/>
          <a:p>
            <a:pPr algn="l"/>
            <a:r>
              <a:rPr sz="1100" b="0" i="0">
                <a:solidFill>
                  <a:srgbClr val="1E1E2E"/>
                </a:solidFill>
                <a:latin typeface="Calibri"/>
              </a:rPr>
              <a:t>Google Healthcare certificate required for full YouTube ad access</a:t>
            </a:r>
          </a:p>
        </p:txBody>
      </p:sp>
      <p:sp>
        <p:nvSpPr>
          <p:cNvPr id="34" name="Oval 33"/>
          <p:cNvSpPr/>
          <p:nvPr/>
        </p:nvSpPr>
        <p:spPr>
          <a:xfrm>
            <a:off x="8439912" y="2761488"/>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1080" y="2670048"/>
            <a:ext cx="3154680" cy="603504"/>
          </a:xfrm>
          <a:prstGeom prst="rect">
            <a:avLst/>
          </a:prstGeom>
          <a:noFill/>
        </p:spPr>
        <p:txBody>
          <a:bodyPr wrap="square">
            <a:spAutoFit/>
          </a:bodyPr>
          <a:lstStyle/>
          <a:p>
            <a:pPr algn="l"/>
            <a:r>
              <a:rPr sz="1100" b="0" i="0">
                <a:solidFill>
                  <a:srgbClr val="1E1E2E"/>
                </a:solidFill>
                <a:latin typeface="Calibri"/>
              </a:rPr>
              <a:t>$53 wasted in early test before policy block was discovered</a:t>
            </a:r>
          </a:p>
        </p:txBody>
      </p:sp>
      <p:sp>
        <p:nvSpPr>
          <p:cNvPr id="36" name="Oval 35"/>
          <p:cNvSpPr/>
          <p:nvPr/>
        </p:nvSpPr>
        <p:spPr>
          <a:xfrm>
            <a:off x="8439912" y="347472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41080" y="3383280"/>
            <a:ext cx="3154680" cy="603504"/>
          </a:xfrm>
          <a:prstGeom prst="rect">
            <a:avLst/>
          </a:prstGeom>
          <a:noFill/>
        </p:spPr>
        <p:txBody>
          <a:bodyPr wrap="square">
            <a:spAutoFit/>
          </a:bodyPr>
          <a:lstStyle/>
          <a:p>
            <a:pPr algn="l"/>
            <a:r>
              <a:rPr sz="1100" b="0" i="0">
                <a:solidFill>
                  <a:srgbClr val="1E1E2E"/>
                </a:solidFill>
                <a:latin typeface="Calibri"/>
              </a:rPr>
              <a:t>Cert application: medium-priority open action — PMax is the workaround for now</a:t>
            </a:r>
          </a:p>
        </p:txBody>
      </p:sp>
      <p:sp>
        <p:nvSpPr>
          <p:cNvPr id="38" name="Rectangle 37"/>
          <p:cNvSpPr/>
          <p:nvPr/>
        </p:nvSpPr>
        <p:spPr>
          <a:xfrm>
            <a:off x="0" y="5989320"/>
            <a:ext cx="12188952" cy="54864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989320"/>
            <a:ext cx="91440" cy="548640"/>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6032" y="6062472"/>
            <a:ext cx="11750040" cy="365760"/>
          </a:xfrm>
          <a:prstGeom prst="rect">
            <a:avLst/>
          </a:prstGeom>
          <a:noFill/>
        </p:spPr>
        <p:txBody>
          <a:bodyPr wrap="square">
            <a:spAutoFit/>
          </a:bodyPr>
          <a:lstStyle/>
          <a:p>
            <a:pPr algn="l"/>
            <a:r>
              <a:rPr sz="1300" b="1" i="0">
                <a:solidFill>
                  <a:srgbClr val="4B3BC8"/>
                </a:solidFill>
                <a:latin typeface="Calibri"/>
              </a:rPr>
              <a:t>DSA is the template. The Q3 goal is to find the next winner — then scale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The 5 Experiments: Overview</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One experiment per month pair — each with a distinct hypothesis and engagement target</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3</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graphicFrame>
        <p:nvGraphicFramePr>
          <p:cNvPr id="8" name="Table 7"/>
          <p:cNvGraphicFramePr>
            <a:graphicFrameLocks noGrp="1"/>
          </p:cNvGraphicFramePr>
          <p:nvPr/>
        </p:nvGraphicFramePr>
        <p:xfrm>
          <a:off x="274320" y="932688"/>
          <a:ext cx="11201400" cy="5577840"/>
        </p:xfrm>
        <a:graphic>
          <a:graphicData uri="http://schemas.openxmlformats.org/drawingml/2006/table">
            <a:tbl>
              <a:tblPr firstRow="1" bandRow="1">
                <a:tableStyleId>{5C22544A-7EE6-4342-B048-85BDC9FD1C3A}</a:tableStyleId>
              </a:tblPr>
              <a:tblGrid>
                <a:gridCol w="320040"/>
                <a:gridCol w="1920240"/>
                <a:gridCol w="731520"/>
                <a:gridCol w="1188720"/>
                <a:gridCol w="1783080"/>
                <a:gridCol w="5257800"/>
              </a:tblGrid>
              <a:tr h="929640">
                <a:tc>
                  <a:txBody>
                    <a:bodyPr/>
                    <a:lstStyle/>
                    <a:p>
                      <a:pPr algn="l"/>
                      <a:r>
                        <a:rPr sz="1000" b="1">
                          <a:solidFill>
                            <a:srgbClr val="FFFFFF"/>
                          </a:solidFill>
                          <a:latin typeface="Calibri"/>
                        </a:rPr>
                        <a:t>#</a:t>
                      </a:r>
                    </a:p>
                  </a:txBody>
                  <a:tcPr>
                    <a:solidFill>
                      <a:srgbClr val="4B3BC8"/>
                    </a:solidFill>
                  </a:tcPr>
                </a:tc>
                <a:tc>
                  <a:txBody>
                    <a:bodyPr/>
                    <a:lstStyle/>
                    <a:p>
                      <a:pPr algn="l"/>
                      <a:r>
                        <a:rPr sz="1000" b="1">
                          <a:solidFill>
                            <a:srgbClr val="FFFFFF"/>
                          </a:solidFill>
                          <a:latin typeface="Calibri"/>
                        </a:rPr>
                        <a:t>Experiment</a:t>
                      </a:r>
                    </a:p>
                  </a:txBody>
                  <a:tcPr>
                    <a:solidFill>
                      <a:srgbClr val="4B3BC8"/>
                    </a:solidFill>
                  </a:tcPr>
                </a:tc>
                <a:tc>
                  <a:txBody>
                    <a:bodyPr/>
                    <a:lstStyle/>
                    <a:p>
                      <a:pPr algn="l"/>
                      <a:r>
                        <a:rPr sz="1000" b="1">
                          <a:solidFill>
                            <a:srgbClr val="FFFFFF"/>
                          </a:solidFill>
                          <a:latin typeface="Calibri"/>
                        </a:rPr>
                        <a:t>Month</a:t>
                      </a:r>
                    </a:p>
                  </a:txBody>
                  <a:tcPr>
                    <a:solidFill>
                      <a:srgbClr val="4B3BC8"/>
                    </a:solidFill>
                  </a:tcPr>
                </a:tc>
                <a:tc>
                  <a:txBody>
                    <a:bodyPr/>
                    <a:lstStyle/>
                    <a:p>
                      <a:pPr algn="l"/>
                      <a:r>
                        <a:rPr sz="1000" b="1">
                          <a:solidFill>
                            <a:srgbClr val="FFFFFF"/>
                          </a:solidFill>
                          <a:latin typeface="Calibri"/>
                        </a:rPr>
                        <a:t>Budget / Month</a:t>
                      </a:r>
                    </a:p>
                  </a:txBody>
                  <a:tcPr>
                    <a:solidFill>
                      <a:srgbClr val="4B3BC8"/>
                    </a:solidFill>
                  </a:tcPr>
                </a:tc>
                <a:tc>
                  <a:txBody>
                    <a:bodyPr/>
                    <a:lstStyle/>
                    <a:p>
                      <a:pPr algn="l"/>
                      <a:r>
                        <a:rPr sz="1000" b="1">
                          <a:solidFill>
                            <a:srgbClr val="FFFFFF"/>
                          </a:solidFill>
                          <a:latin typeface="Calibri"/>
                        </a:rPr>
                        <a:t>Platform</a:t>
                      </a:r>
                    </a:p>
                  </a:txBody>
                  <a:tcPr>
                    <a:solidFill>
                      <a:srgbClr val="4B3BC8"/>
                    </a:solidFill>
                  </a:tcPr>
                </a:tc>
                <a:tc>
                  <a:txBody>
                    <a:bodyPr/>
                    <a:lstStyle/>
                    <a:p>
                      <a:pPr algn="l"/>
                      <a:r>
                        <a:rPr sz="1000" b="1">
                          <a:solidFill>
                            <a:srgbClr val="FFFFFF"/>
                          </a:solidFill>
                          <a:latin typeface="Calibri"/>
                        </a:rPr>
                        <a:t>Hypothesis</a:t>
                      </a:r>
                    </a:p>
                  </a:txBody>
                  <a:tcPr>
                    <a:solidFill>
                      <a:srgbClr val="4B3BC8"/>
                    </a:solidFill>
                  </a:tcPr>
                </a:tc>
              </a:tr>
              <a:tr h="929640">
                <a:tc>
                  <a:txBody>
                    <a:bodyPr/>
                    <a:lstStyle/>
                    <a:p>
                      <a:pPr algn="ctr"/>
                      <a:r>
                        <a:rPr sz="1200" b="1">
                          <a:solidFill>
                            <a:srgbClr val="FFFFFF"/>
                          </a:solidFill>
                          <a:latin typeface="Calibri"/>
                        </a:rPr>
                        <a:t>1</a:t>
                      </a:r>
                    </a:p>
                  </a:txBody>
                  <a:tcPr>
                    <a:solidFill>
                      <a:srgbClr val="4B3BC8"/>
                    </a:solidFill>
                  </a:tcPr>
                </a:tc>
                <a:tc>
                  <a:txBody>
                    <a:bodyPr/>
                    <a:lstStyle/>
                    <a:p>
                      <a:pPr algn="l"/>
                      <a:r>
                        <a:rPr sz="1100" b="1">
                          <a:solidFill>
                            <a:srgbClr val="1E1E2E"/>
                          </a:solidFill>
                          <a:latin typeface="Calibri"/>
                        </a:rPr>
                        <a:t>Performance Max</a:t>
                      </a:r>
                    </a:p>
                  </a:txBody>
                  <a:tcPr>
                    <a:solidFill>
                      <a:srgbClr val="EEF2FF"/>
                    </a:solidFill>
                  </a:tcPr>
                </a:tc>
                <a:tc>
                  <a:txBody>
                    <a:bodyPr/>
                    <a:lstStyle/>
                    <a:p>
                      <a:pPr algn="l"/>
                      <a:r>
                        <a:rPr sz="1100" b="1">
                          <a:solidFill>
                            <a:srgbClr val="4B3BC8"/>
                          </a:solidFill>
                          <a:latin typeface="Calibri"/>
                        </a:rPr>
                        <a:t>June</a:t>
                      </a:r>
                    </a:p>
                  </a:txBody>
                  <a:tcPr>
                    <a:solidFill>
                      <a:srgbClr val="EEF2FF"/>
                    </a:solidFill>
                  </a:tcPr>
                </a:tc>
                <a:tc>
                  <a:txBody>
                    <a:bodyPr/>
                    <a:lstStyle/>
                    <a:p>
                      <a:pPr algn="l"/>
                      <a:r>
                        <a:rPr sz="1000" b="0">
                          <a:solidFill>
                            <a:srgbClr val="1E1E2E"/>
                          </a:solidFill>
                          <a:latin typeface="Calibri"/>
                        </a:rPr>
                        <a:t>$500–$600</a:t>
                      </a:r>
                    </a:p>
                  </a:txBody>
                  <a:tcPr>
                    <a:solidFill>
                      <a:srgbClr val="EEF2FF"/>
                    </a:solidFill>
                  </a:tcPr>
                </a:tc>
                <a:tc>
                  <a:txBody>
                    <a:bodyPr/>
                    <a:lstStyle/>
                    <a:p>
                      <a:pPr algn="l"/>
                      <a:r>
                        <a:rPr sz="1000" b="0">
                          <a:solidFill>
                            <a:srgbClr val="1E1E2E"/>
                          </a:solidFill>
                          <a:latin typeface="Calibri"/>
                        </a:rPr>
                        <a:t>Google (all channels)</a:t>
                      </a:r>
                    </a:p>
                  </a:txBody>
                  <a:tcPr>
                    <a:solidFill>
                      <a:srgbClr val="EEF2FF"/>
                    </a:solidFill>
                  </a:tcPr>
                </a:tc>
                <a:tc>
                  <a:txBody>
                    <a:bodyPr/>
                    <a:lstStyle/>
                    <a:p>
                      <a:pPr algn="l"/>
                      <a:r>
                        <a:rPr sz="1000" b="0">
                          <a:solidFill>
                            <a:srgbClr val="1E1E2E"/>
                          </a:solidFill>
                          <a:latin typeface="Calibri"/>
                        </a:rPr>
                        <a:t>PMax finds intent signals DSA misses + gets us on YouTube for therapy without Healthcare cert</a:t>
                      </a:r>
                    </a:p>
                  </a:txBody>
                  <a:tcPr>
                    <a:solidFill>
                      <a:srgbClr val="EEF2FF"/>
                    </a:solidFill>
                  </a:tcPr>
                </a:tc>
              </a:tr>
              <a:tr h="929640">
                <a:tc>
                  <a:txBody>
                    <a:bodyPr/>
                    <a:lstStyle/>
                    <a:p>
                      <a:pPr algn="ctr"/>
                      <a:r>
                        <a:rPr sz="1200" b="1">
                          <a:solidFill>
                            <a:srgbClr val="FFFFFF"/>
                          </a:solidFill>
                          <a:latin typeface="Calibri"/>
                        </a:rPr>
                        <a:t>2</a:t>
                      </a:r>
                    </a:p>
                  </a:txBody>
                  <a:tcPr>
                    <a:solidFill>
                      <a:srgbClr val="4B3BC8"/>
                    </a:solidFill>
                  </a:tcPr>
                </a:tc>
                <a:tc>
                  <a:txBody>
                    <a:bodyPr/>
                    <a:lstStyle/>
                    <a:p>
                      <a:pPr algn="l"/>
                      <a:r>
                        <a:rPr sz="1100" b="1">
                          <a:solidFill>
                            <a:srgbClr val="1E1E2E"/>
                          </a:solidFill>
                          <a:latin typeface="Calibri"/>
                        </a:rPr>
                        <a:t>Local Service Ads</a:t>
                      </a:r>
                    </a:p>
                  </a:txBody>
                  <a:tcPr>
                    <a:solidFill>
                      <a:srgbClr val="FFFFFF"/>
                    </a:solidFill>
                  </a:tcPr>
                </a:tc>
                <a:tc>
                  <a:txBody>
                    <a:bodyPr/>
                    <a:lstStyle/>
                    <a:p>
                      <a:pPr algn="l"/>
                      <a:r>
                        <a:rPr sz="1100" b="1">
                          <a:solidFill>
                            <a:srgbClr val="4B3BC8"/>
                          </a:solidFill>
                          <a:latin typeface="Calibri"/>
                        </a:rPr>
                        <a:t>June</a:t>
                      </a:r>
                    </a:p>
                  </a:txBody>
                  <a:tcPr>
                    <a:solidFill>
                      <a:srgbClr val="FFFFFF"/>
                    </a:solidFill>
                  </a:tcPr>
                </a:tc>
                <a:tc>
                  <a:txBody>
                    <a:bodyPr/>
                    <a:lstStyle/>
                    <a:p>
                      <a:pPr algn="l"/>
                      <a:r>
                        <a:rPr sz="1000" b="0">
                          <a:solidFill>
                            <a:srgbClr val="1E1E2E"/>
                          </a:solidFill>
                          <a:latin typeface="Calibri"/>
                        </a:rPr>
                        <a:t>$300–$400</a:t>
                      </a:r>
                    </a:p>
                  </a:txBody>
                  <a:tcPr>
                    <a:solidFill>
                      <a:srgbClr val="FFFFFF"/>
                    </a:solidFill>
                  </a:tcPr>
                </a:tc>
                <a:tc>
                  <a:txBody>
                    <a:bodyPr/>
                    <a:lstStyle/>
                    <a:p>
                      <a:pPr algn="l"/>
                      <a:r>
                        <a:rPr sz="1000" b="0">
                          <a:solidFill>
                            <a:srgbClr val="1E1E2E"/>
                          </a:solidFill>
                          <a:latin typeface="Calibri"/>
                        </a:rPr>
                        <a:t>Google LSA</a:t>
                      </a:r>
                    </a:p>
                  </a:txBody>
                  <a:tcPr>
                    <a:solidFill>
                      <a:srgbClr val="FFFFFF"/>
                    </a:solidFill>
                  </a:tcPr>
                </a:tc>
                <a:tc>
                  <a:txBody>
                    <a:bodyPr/>
                    <a:lstStyle/>
                    <a:p>
                      <a:pPr algn="l"/>
                      <a:r>
                        <a:rPr sz="1000" b="0">
                          <a:solidFill>
                            <a:srgbClr val="1E1E2E"/>
                          </a:solidFill>
                          <a:latin typeface="Calibri"/>
                        </a:rPr>
                        <a:t>Pay-per-lead format + position zero improves lead quality vs CPC campaigns</a:t>
                      </a:r>
                    </a:p>
                  </a:txBody>
                  <a:tcPr>
                    <a:solidFill>
                      <a:srgbClr val="FFFFFF"/>
                    </a:solidFill>
                  </a:tcPr>
                </a:tc>
              </a:tr>
              <a:tr h="929640">
                <a:tc>
                  <a:txBody>
                    <a:bodyPr/>
                    <a:lstStyle/>
                    <a:p>
                      <a:pPr algn="ctr"/>
                      <a:r>
                        <a:rPr sz="1200" b="1">
                          <a:solidFill>
                            <a:srgbClr val="FFFFFF"/>
                          </a:solidFill>
                          <a:latin typeface="Calibri"/>
                        </a:rPr>
                        <a:t>3</a:t>
                      </a:r>
                    </a:p>
                  </a:txBody>
                  <a:tcPr>
                    <a:solidFill>
                      <a:srgbClr val="3B82F6"/>
                    </a:solidFill>
                  </a:tcPr>
                </a:tc>
                <a:tc>
                  <a:txBody>
                    <a:bodyPr/>
                    <a:lstStyle/>
                    <a:p>
                      <a:pPr algn="l"/>
                      <a:r>
                        <a:rPr sz="1100" b="1">
                          <a:solidFill>
                            <a:srgbClr val="1E1E2E"/>
                          </a:solidFill>
                          <a:latin typeface="Calibri"/>
                        </a:rPr>
                        <a:t>Competitor Conquest</a:t>
                      </a:r>
                    </a:p>
                  </a:txBody>
                  <a:tcPr>
                    <a:solidFill>
                      <a:srgbClr val="EEF2FF"/>
                    </a:solidFill>
                  </a:tcPr>
                </a:tc>
                <a:tc>
                  <a:txBody>
                    <a:bodyPr/>
                    <a:lstStyle/>
                    <a:p>
                      <a:pPr algn="l"/>
                      <a:r>
                        <a:rPr sz="1100" b="1">
                          <a:solidFill>
                            <a:srgbClr val="3B82F6"/>
                          </a:solidFill>
                          <a:latin typeface="Calibri"/>
                        </a:rPr>
                        <a:t>July</a:t>
                      </a:r>
                    </a:p>
                  </a:txBody>
                  <a:tcPr>
                    <a:solidFill>
                      <a:srgbClr val="EEF2FF"/>
                    </a:solidFill>
                  </a:tcPr>
                </a:tc>
                <a:tc>
                  <a:txBody>
                    <a:bodyPr/>
                    <a:lstStyle/>
                    <a:p>
                      <a:pPr algn="l"/>
                      <a:r>
                        <a:rPr sz="1000" b="0">
                          <a:solidFill>
                            <a:srgbClr val="1E1E2E"/>
                          </a:solidFill>
                          <a:latin typeface="Calibri"/>
                        </a:rPr>
                        <a:t>$200–$250</a:t>
                      </a:r>
                    </a:p>
                  </a:txBody>
                  <a:tcPr>
                    <a:solidFill>
                      <a:srgbClr val="EEF2FF"/>
                    </a:solidFill>
                  </a:tcPr>
                </a:tc>
                <a:tc>
                  <a:txBody>
                    <a:bodyPr/>
                    <a:lstStyle/>
                    <a:p>
                      <a:pPr algn="l"/>
                      <a:r>
                        <a:rPr sz="1000" b="0">
                          <a:solidFill>
                            <a:srgbClr val="1E1E2E"/>
                          </a:solidFill>
                          <a:latin typeface="Calibri"/>
                        </a:rPr>
                        <a:t>Google Search</a:t>
                      </a:r>
                    </a:p>
                  </a:txBody>
                  <a:tcPr>
                    <a:solidFill>
                      <a:srgbClr val="EEF2FF"/>
                    </a:solidFill>
                  </a:tcPr>
                </a:tc>
                <a:tc>
                  <a:txBody>
                    <a:bodyPr/>
                    <a:lstStyle/>
                    <a:p>
                      <a:pPr algn="l"/>
                      <a:r>
                        <a:rPr sz="1000" b="0">
                          <a:solidFill>
                            <a:srgbClr val="1E1E2E"/>
                          </a:solidFill>
                          <a:latin typeface="Calibri"/>
                        </a:rPr>
                        <a:t>GLPG's weak reputation (2.6★) makes their branded queries easy to intercept</a:t>
                      </a:r>
                    </a:p>
                  </a:txBody>
                  <a:tcPr>
                    <a:solidFill>
                      <a:srgbClr val="EEF2FF"/>
                    </a:solidFill>
                  </a:tcPr>
                </a:tc>
              </a:tr>
              <a:tr h="929640">
                <a:tc>
                  <a:txBody>
                    <a:bodyPr/>
                    <a:lstStyle/>
                    <a:p>
                      <a:pPr algn="ctr"/>
                      <a:r>
                        <a:rPr sz="1200" b="1">
                          <a:solidFill>
                            <a:srgbClr val="FFFFFF"/>
                          </a:solidFill>
                          <a:latin typeface="Calibri"/>
                        </a:rPr>
                        <a:t>4</a:t>
                      </a:r>
                    </a:p>
                  </a:txBody>
                  <a:tcPr>
                    <a:solidFill>
                      <a:srgbClr val="3B82F6"/>
                    </a:solidFill>
                  </a:tcPr>
                </a:tc>
                <a:tc>
                  <a:txBody>
                    <a:bodyPr/>
                    <a:lstStyle/>
                    <a:p>
                      <a:pPr algn="l"/>
                      <a:r>
                        <a:rPr sz="1100" b="1">
                          <a:solidFill>
                            <a:srgbClr val="1E1E2E"/>
                          </a:solidFill>
                          <a:latin typeface="Calibri"/>
                        </a:rPr>
                        <a:t>Display Remarketing</a:t>
                      </a:r>
                    </a:p>
                  </a:txBody>
                  <a:tcPr>
                    <a:solidFill>
                      <a:srgbClr val="FFFFFF"/>
                    </a:solidFill>
                  </a:tcPr>
                </a:tc>
                <a:tc>
                  <a:txBody>
                    <a:bodyPr/>
                    <a:lstStyle/>
                    <a:p>
                      <a:pPr algn="l"/>
                      <a:r>
                        <a:rPr sz="1100" b="1">
                          <a:solidFill>
                            <a:srgbClr val="3B82F6"/>
                          </a:solidFill>
                          <a:latin typeface="Calibri"/>
                        </a:rPr>
                        <a:t>July</a:t>
                      </a:r>
                    </a:p>
                  </a:txBody>
                  <a:tcPr>
                    <a:solidFill>
                      <a:srgbClr val="FFFFFF"/>
                    </a:solidFill>
                  </a:tcPr>
                </a:tc>
                <a:tc>
                  <a:txBody>
                    <a:bodyPr/>
                    <a:lstStyle/>
                    <a:p>
                      <a:pPr algn="l"/>
                      <a:r>
                        <a:rPr sz="1000" b="0">
                          <a:solidFill>
                            <a:srgbClr val="1E1E2E"/>
                          </a:solidFill>
                          <a:latin typeface="Calibri"/>
                        </a:rPr>
                        <a:t>$150–$200</a:t>
                      </a:r>
                    </a:p>
                  </a:txBody>
                  <a:tcPr>
                    <a:solidFill>
                      <a:srgbClr val="FFFFFF"/>
                    </a:solidFill>
                  </a:tcPr>
                </a:tc>
                <a:tc>
                  <a:txBody>
                    <a:bodyPr/>
                    <a:lstStyle/>
                    <a:p>
                      <a:pPr algn="l"/>
                      <a:r>
                        <a:rPr sz="1000" b="0">
                          <a:solidFill>
                            <a:srgbClr val="1E1E2E"/>
                          </a:solidFill>
                          <a:latin typeface="Calibri"/>
                        </a:rPr>
                        <a:t>Google Display Network</a:t>
                      </a:r>
                    </a:p>
                  </a:txBody>
                  <a:tcPr>
                    <a:solidFill>
                      <a:srgbClr val="FFFFFF"/>
                    </a:solidFill>
                  </a:tcPr>
                </a:tc>
                <a:tc>
                  <a:txBody>
                    <a:bodyPr/>
                    <a:lstStyle/>
                    <a:p>
                      <a:pPr algn="l"/>
                      <a:r>
                        <a:rPr sz="1000" b="0">
                          <a:solidFill>
                            <a:srgbClr val="1E1E2E"/>
                          </a:solidFill>
                          <a:latin typeface="Calibri"/>
                        </a:rPr>
                        <a:t>Re-engaging warm website visitors at low CPM keeps Wellspring top-of-mind between searches</a:t>
                      </a:r>
                    </a:p>
                  </a:txBody>
                  <a:tcPr>
                    <a:solidFill>
                      <a:srgbClr val="FFFFFF"/>
                    </a:solidFill>
                  </a:tcPr>
                </a:tc>
              </a:tr>
              <a:tr h="929640">
                <a:tc>
                  <a:txBody>
                    <a:bodyPr/>
                    <a:lstStyle/>
                    <a:p>
                      <a:pPr algn="ctr"/>
                      <a:r>
                        <a:rPr sz="1200" b="1">
                          <a:solidFill>
                            <a:srgbClr val="FFFFFF"/>
                          </a:solidFill>
                          <a:latin typeface="Calibri"/>
                        </a:rPr>
                        <a:t>5</a:t>
                      </a:r>
                    </a:p>
                  </a:txBody>
                  <a:tcPr>
                    <a:solidFill>
                      <a:srgbClr val="6366F1"/>
                    </a:solidFill>
                  </a:tcPr>
                </a:tc>
                <a:tc>
                  <a:txBody>
                    <a:bodyPr/>
                    <a:lstStyle/>
                    <a:p>
                      <a:pPr algn="l"/>
                      <a:r>
                        <a:rPr sz="1100" b="1">
                          <a:solidFill>
                            <a:srgbClr val="1E1E2E"/>
                          </a:solidFill>
                          <a:latin typeface="Calibri"/>
                        </a:rPr>
                        <a:t>Bing / Microsoft Ads</a:t>
                      </a:r>
                    </a:p>
                  </a:txBody>
                  <a:tcPr>
                    <a:solidFill>
                      <a:srgbClr val="EEF2FF"/>
                    </a:solidFill>
                  </a:tcPr>
                </a:tc>
                <a:tc>
                  <a:txBody>
                    <a:bodyPr/>
                    <a:lstStyle/>
                    <a:p>
                      <a:pPr algn="l"/>
                      <a:r>
                        <a:rPr sz="1100" b="1">
                          <a:solidFill>
                            <a:srgbClr val="6366F1"/>
                          </a:solidFill>
                          <a:latin typeface="Calibri"/>
                        </a:rPr>
                        <a:t>August</a:t>
                      </a:r>
                    </a:p>
                  </a:txBody>
                  <a:tcPr>
                    <a:solidFill>
                      <a:srgbClr val="EEF2FF"/>
                    </a:solidFill>
                  </a:tcPr>
                </a:tc>
                <a:tc>
                  <a:txBody>
                    <a:bodyPr/>
                    <a:lstStyle/>
                    <a:p>
                      <a:pPr algn="l"/>
                      <a:r>
                        <a:rPr sz="1000" b="0">
                          <a:solidFill>
                            <a:srgbClr val="1E1E2E"/>
                          </a:solidFill>
                          <a:latin typeface="Calibri"/>
                        </a:rPr>
                        <a:t>$150–$200</a:t>
                      </a:r>
                    </a:p>
                  </a:txBody>
                  <a:tcPr>
                    <a:solidFill>
                      <a:srgbClr val="EEF2FF"/>
                    </a:solidFill>
                  </a:tcPr>
                </a:tc>
                <a:tc>
                  <a:txBody>
                    <a:bodyPr/>
                    <a:lstStyle/>
                    <a:p>
                      <a:pPr algn="l"/>
                      <a:r>
                        <a:rPr sz="1000" b="0">
                          <a:solidFill>
                            <a:srgbClr val="1E1E2E"/>
                          </a:solidFill>
                          <a:latin typeface="Calibri"/>
                        </a:rPr>
                        <a:t>Microsoft Advertising</a:t>
                      </a:r>
                    </a:p>
                  </a:txBody>
                  <a:tcPr>
                    <a:solidFill>
                      <a:srgbClr val="EEF2FF"/>
                    </a:solidFill>
                  </a:tcPr>
                </a:tc>
                <a:tc>
                  <a:txBody>
                    <a:bodyPr/>
                    <a:lstStyle/>
                    <a:p>
                      <a:pPr algn="l"/>
                      <a:r>
                        <a:rPr sz="1000" b="0">
                          <a:solidFill>
                            <a:srgbClr val="1E1E2E"/>
                          </a:solidFill>
                          <a:latin typeface="Calibri"/>
                        </a:rPr>
                        <a:t>30–50% lower CPCs + 45+ demographic skew = more commercially insured leads for less spend</a:t>
                      </a:r>
                    </a:p>
                  </a:txBody>
                  <a:tcPr>
                    <a:solidFill>
                      <a:srgbClr val="EEF2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Experiment 1 — Performance Max</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June 2026  |  Budget: $500–$600/month  |  Platform: Google (Search, Display, YouTube, Gmail, Discover, Maps)</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4</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146304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996696"/>
            <a:ext cx="1353312" cy="237744"/>
          </a:xfrm>
          <a:prstGeom prst="rect">
            <a:avLst/>
          </a:prstGeom>
          <a:noFill/>
        </p:spPr>
        <p:txBody>
          <a:bodyPr wrap="square">
            <a:spAutoFit/>
          </a:bodyPr>
          <a:lstStyle/>
          <a:p>
            <a:pPr algn="l"/>
            <a:r>
              <a:rPr sz="1000" b="1" i="0">
                <a:solidFill>
                  <a:srgbClr val="FFFFFF"/>
                </a:solidFill>
                <a:latin typeface="Calibri"/>
              </a:rPr>
              <a:t>EXPERIMENT 1</a:t>
            </a:r>
          </a:p>
        </p:txBody>
      </p:sp>
      <p:sp>
        <p:nvSpPr>
          <p:cNvPr id="10" name="TextBox 9"/>
          <p:cNvSpPr txBox="1"/>
          <p:nvPr/>
        </p:nvSpPr>
        <p:spPr>
          <a:xfrm>
            <a:off x="2084831" y="932688"/>
            <a:ext cx="7315200" cy="411480"/>
          </a:xfrm>
          <a:prstGeom prst="rect">
            <a:avLst/>
          </a:prstGeom>
          <a:noFill/>
        </p:spPr>
        <p:txBody>
          <a:bodyPr wrap="square">
            <a:spAutoFit/>
          </a:bodyPr>
          <a:lstStyle/>
          <a:p>
            <a:pPr algn="l"/>
            <a:r>
              <a:rPr sz="2000" b="1" i="0">
                <a:solidFill>
                  <a:srgbClr val="4B3BC8"/>
                </a:solidFill>
                <a:latin typeface="Arial Black"/>
              </a:rPr>
              <a:t>Performance Max</a:t>
            </a:r>
          </a:p>
        </p:txBody>
      </p:sp>
      <p:sp>
        <p:nvSpPr>
          <p:cNvPr id="11" name="Rectangle 10"/>
          <p:cNvSpPr/>
          <p:nvPr/>
        </p:nvSpPr>
        <p:spPr>
          <a:xfrm>
            <a:off x="502920" y="1417320"/>
            <a:ext cx="5577840" cy="274320"/>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44752"/>
            <a:ext cx="5486400" cy="228600"/>
          </a:xfrm>
          <a:prstGeom prst="rect">
            <a:avLst/>
          </a:prstGeom>
          <a:noFill/>
        </p:spPr>
        <p:txBody>
          <a:bodyPr wrap="square">
            <a:spAutoFit/>
          </a:bodyPr>
          <a:lstStyle/>
          <a:p>
            <a:pPr algn="l"/>
            <a:r>
              <a:rPr sz="1000" b="1" i="0">
                <a:solidFill>
                  <a:srgbClr val="FFFFFF"/>
                </a:solidFill>
                <a:latin typeface="Calibri"/>
              </a:rPr>
              <a:t>WHAT IT IS</a:t>
            </a:r>
          </a:p>
        </p:txBody>
      </p:sp>
      <p:sp>
        <p:nvSpPr>
          <p:cNvPr id="13" name="Rectangle 12"/>
          <p:cNvSpPr/>
          <p:nvPr/>
        </p:nvSpPr>
        <p:spPr>
          <a:xfrm>
            <a:off x="502920" y="1691640"/>
            <a:ext cx="557784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5285232" cy="1737360"/>
          </a:xfrm>
          <a:prstGeom prst="rect">
            <a:avLst/>
          </a:prstGeom>
          <a:noFill/>
        </p:spPr>
        <p:txBody>
          <a:bodyPr wrap="square">
            <a:spAutoFit/>
          </a:bodyPr>
          <a:lstStyle/>
          <a:p>
            <a:pPr algn="l"/>
            <a:r>
              <a:rPr sz="1100" b="0" i="0">
                <a:solidFill>
                  <a:srgbClr val="1E1E2E"/>
                </a:solidFill>
                <a:latin typeface="Calibri"/>
              </a:rPr>
              <a:t>PMax runs a single campaign across all Google inventory — Search, Display, YouTube, Gmail, Discover, and Maps — using AI to find the best placements automatically.
For Wellspring, the key advantage is YouTube reach for therapy content. PMax is the practical workaround for YouTube access while the Google Healthcare certificate application is pending.</a:t>
            </a:r>
          </a:p>
        </p:txBody>
      </p:sp>
      <p:sp>
        <p:nvSpPr>
          <p:cNvPr id="15" name="Rectangle 14"/>
          <p:cNvSpPr/>
          <p:nvPr/>
        </p:nvSpPr>
        <p:spPr>
          <a:xfrm>
            <a:off x="6309360" y="1417320"/>
            <a:ext cx="544068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44752"/>
            <a:ext cx="5303520" cy="228600"/>
          </a:xfrm>
          <a:prstGeom prst="rect">
            <a:avLst/>
          </a:prstGeom>
          <a:noFill/>
        </p:spPr>
        <p:txBody>
          <a:bodyPr wrap="square">
            <a:spAutoFit/>
          </a:bodyPr>
          <a:lstStyle/>
          <a:p>
            <a:pPr algn="l"/>
            <a:r>
              <a:rPr sz="1000" b="1" i="0">
                <a:solidFill>
                  <a:srgbClr val="FFFFFF"/>
                </a:solidFill>
                <a:latin typeface="Calibri"/>
              </a:rPr>
              <a:t>WHY WE'RE TESTING IT</a:t>
            </a:r>
          </a:p>
        </p:txBody>
      </p:sp>
      <p:sp>
        <p:nvSpPr>
          <p:cNvPr id="17" name="Rectangle 16"/>
          <p:cNvSpPr/>
          <p:nvPr/>
        </p:nvSpPr>
        <p:spPr>
          <a:xfrm>
            <a:off x="6309360" y="1691640"/>
            <a:ext cx="544068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192024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1828800"/>
            <a:ext cx="4983480" cy="365760"/>
          </a:xfrm>
          <a:prstGeom prst="rect">
            <a:avLst/>
          </a:prstGeom>
          <a:noFill/>
        </p:spPr>
        <p:txBody>
          <a:bodyPr wrap="square">
            <a:spAutoFit/>
          </a:bodyPr>
          <a:lstStyle/>
          <a:p>
            <a:pPr algn="l"/>
            <a:r>
              <a:rPr sz="1100" b="0" i="0">
                <a:solidFill>
                  <a:srgbClr val="1E1E2E"/>
                </a:solidFill>
                <a:latin typeface="Calibri"/>
              </a:rPr>
              <a:t>Only campaign type that reaches YouTube for therapy without Healthcare cert</a:t>
            </a:r>
          </a:p>
        </p:txBody>
      </p:sp>
      <p:sp>
        <p:nvSpPr>
          <p:cNvPr id="20" name="Oval 19"/>
          <p:cNvSpPr/>
          <p:nvPr/>
        </p:nvSpPr>
        <p:spPr>
          <a:xfrm>
            <a:off x="6446520" y="2340864"/>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2249424"/>
            <a:ext cx="4983480" cy="365760"/>
          </a:xfrm>
          <a:prstGeom prst="rect">
            <a:avLst/>
          </a:prstGeom>
          <a:noFill/>
        </p:spPr>
        <p:txBody>
          <a:bodyPr wrap="square">
            <a:spAutoFit/>
          </a:bodyPr>
          <a:lstStyle/>
          <a:p>
            <a:pPr algn="l"/>
            <a:r>
              <a:rPr sz="1100" b="0" i="0">
                <a:solidFill>
                  <a:srgbClr val="1E1E2E"/>
                </a:solidFill>
                <a:latin typeface="Calibri"/>
              </a:rPr>
              <a:t>AI allocation finds intent signals that keyword-based DSA misses</a:t>
            </a:r>
          </a:p>
        </p:txBody>
      </p:sp>
      <p:sp>
        <p:nvSpPr>
          <p:cNvPr id="22" name="Oval 21"/>
          <p:cNvSpPr/>
          <p:nvPr/>
        </p:nvSpPr>
        <p:spPr>
          <a:xfrm>
            <a:off x="6446520" y="2761488"/>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2" y="2670048"/>
            <a:ext cx="4983480" cy="365760"/>
          </a:xfrm>
          <a:prstGeom prst="rect">
            <a:avLst/>
          </a:prstGeom>
          <a:noFill/>
        </p:spPr>
        <p:txBody>
          <a:bodyPr wrap="square">
            <a:spAutoFit/>
          </a:bodyPr>
          <a:lstStyle/>
          <a:p>
            <a:pPr algn="l"/>
            <a:r>
              <a:rPr sz="1100" b="0" i="0">
                <a:solidFill>
                  <a:srgbClr val="1E1E2E"/>
                </a:solidFill>
                <a:latin typeface="Calibri"/>
              </a:rPr>
              <a:t>Captures "research phase" users who are not actively searching yet</a:t>
            </a:r>
          </a:p>
        </p:txBody>
      </p:sp>
      <p:sp>
        <p:nvSpPr>
          <p:cNvPr id="24" name="Oval 23"/>
          <p:cNvSpPr/>
          <p:nvPr/>
        </p:nvSpPr>
        <p:spPr>
          <a:xfrm>
            <a:off x="6446520" y="3182112"/>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3090672"/>
            <a:ext cx="4983480" cy="365760"/>
          </a:xfrm>
          <a:prstGeom prst="rect">
            <a:avLst/>
          </a:prstGeom>
          <a:noFill/>
        </p:spPr>
        <p:txBody>
          <a:bodyPr wrap="square">
            <a:spAutoFit/>
          </a:bodyPr>
          <a:lstStyle/>
          <a:p>
            <a:pPr algn="l"/>
            <a:r>
              <a:rPr sz="1100" b="0" i="0">
                <a:solidFill>
                  <a:srgbClr val="1E1E2E"/>
                </a:solidFill>
                <a:latin typeface="Calibri"/>
              </a:rPr>
              <a:t>Needs 4–6 weeks to exit learning mode — launch in June, read in August</a:t>
            </a:r>
          </a:p>
        </p:txBody>
      </p:sp>
      <p:sp>
        <p:nvSpPr>
          <p:cNvPr id="26" name="Rectangle 25"/>
          <p:cNvSpPr/>
          <p:nvPr/>
        </p:nvSpPr>
        <p:spPr>
          <a:xfrm>
            <a:off x="502920" y="3749039"/>
            <a:ext cx="11201400" cy="29260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85615"/>
            <a:ext cx="10972800" cy="237744"/>
          </a:xfrm>
          <a:prstGeom prst="rect">
            <a:avLst/>
          </a:prstGeom>
          <a:noFill/>
        </p:spPr>
        <p:txBody>
          <a:bodyPr wrap="square">
            <a:spAutoFit/>
          </a:bodyPr>
          <a:lstStyle/>
          <a:p>
            <a:pPr algn="l"/>
            <a:r>
              <a:rPr sz="1100" b="1" i="0">
                <a:solidFill>
                  <a:srgbClr val="FFFFFF"/>
                </a:solidFill>
                <a:latin typeface="Calibri"/>
              </a:rPr>
              <a:t>PROJECTED ENGAGEMENT AT $550/MONTH</a:t>
            </a:r>
          </a:p>
        </p:txBody>
      </p:sp>
      <p:graphicFrame>
        <p:nvGraphicFramePr>
          <p:cNvPr id="28" name="Table 27"/>
          <p:cNvGraphicFramePr>
            <a:graphicFrameLocks noGrp="1"/>
          </p:cNvGraphicFramePr>
          <p:nvPr/>
        </p:nvGraphicFramePr>
        <p:xfrm>
          <a:off x="502920" y="4069080"/>
          <a:ext cx="11201400" cy="2487168"/>
        </p:xfrm>
        <a:graphic>
          <a:graphicData uri="http://schemas.openxmlformats.org/drawingml/2006/table">
            <a:tbl>
              <a:tblPr firstRow="1" bandRow="1">
                <a:tableStyleId>{5C22544A-7EE6-4342-B048-85BDC9FD1C3A}</a:tableStyleId>
              </a:tblPr>
              <a:tblGrid>
                <a:gridCol w="2286000"/>
                <a:gridCol w="2286000"/>
                <a:gridCol w="3310128"/>
                <a:gridCol w="3319272"/>
              </a:tblGrid>
              <a:tr h="414528">
                <a:tc>
                  <a:txBody>
                    <a:bodyPr/>
                    <a:lstStyle/>
                    <a:p>
                      <a:pPr algn="l"/>
                      <a:r>
                        <a:rPr sz="1000" b="1">
                          <a:solidFill>
                            <a:srgbClr val="FFFFFF"/>
                          </a:solidFill>
                          <a:latin typeface="Calibri"/>
                        </a:rPr>
                        <a:t>Channel</a:t>
                      </a:r>
                    </a:p>
                  </a:txBody>
                  <a:tcPr>
                    <a:solidFill>
                      <a:srgbClr val="4B3BC8"/>
                    </a:solidFill>
                  </a:tcPr>
                </a:tc>
                <a:tc>
                  <a:txBody>
                    <a:bodyPr/>
                    <a:lstStyle/>
                    <a:p>
                      <a:pPr algn="l"/>
                      <a:r>
                        <a:rPr sz="1000" b="1">
                          <a:solidFill>
                            <a:srgbClr val="FFFFFF"/>
                          </a:solidFill>
                          <a:latin typeface="Calibri"/>
                        </a:rPr>
                        <a:t>Avg CPC / CPM</a:t>
                      </a:r>
                    </a:p>
                  </a:txBody>
                  <a:tcPr>
                    <a:solidFill>
                      <a:srgbClr val="4B3BC8"/>
                    </a:solidFill>
                  </a:tcPr>
                </a:tc>
                <a:tc>
                  <a:txBody>
                    <a:bodyPr/>
                    <a:lstStyle/>
                    <a:p>
                      <a:pPr algn="l"/>
                      <a:r>
                        <a:rPr sz="1000" b="1">
                          <a:solidFill>
                            <a:srgbClr val="FFFFFF"/>
                          </a:solidFill>
                          <a:latin typeface="Calibri"/>
                        </a:rPr>
                        <a:t>Clicks</a:t>
                      </a:r>
                    </a:p>
                  </a:txBody>
                  <a:tcPr>
                    <a:solidFill>
                      <a:srgbClr val="4B3BC8"/>
                    </a:solidFill>
                  </a:tcPr>
                </a:tc>
                <a:tc>
                  <a:txBody>
                    <a:bodyPr/>
                    <a:lstStyle/>
                    <a:p>
                      <a:pPr algn="l"/>
                      <a:r>
                        <a:rPr sz="1000" b="1">
                          <a:solidFill>
                            <a:srgbClr val="FFFFFF"/>
                          </a:solidFill>
                          <a:latin typeface="Calibri"/>
                        </a:rPr>
                        <a:t>Impressions / Views</a:t>
                      </a:r>
                    </a:p>
                  </a:txBody>
                  <a:tcPr>
                    <a:solidFill>
                      <a:srgbClr val="4B3BC8"/>
                    </a:solidFill>
                  </a:tcPr>
                </a:tc>
              </a:tr>
              <a:tr h="414528">
                <a:tc>
                  <a:txBody>
                    <a:bodyPr/>
                    <a:lstStyle/>
                    <a:p>
                      <a:pPr algn="l"/>
                      <a:r>
                        <a:rPr sz="1000" b="1">
                          <a:solidFill>
                            <a:srgbClr val="1E1E2E"/>
                          </a:solidFill>
                          <a:latin typeface="Calibri"/>
                        </a:rPr>
                        <a:t>Search (PMax)</a:t>
                      </a:r>
                    </a:p>
                  </a:txBody>
                  <a:tcPr>
                    <a:solidFill>
                      <a:srgbClr val="EEF2FF"/>
                    </a:solidFill>
                  </a:tcPr>
                </a:tc>
                <a:tc>
                  <a:txBody>
                    <a:bodyPr/>
                    <a:lstStyle/>
                    <a:p>
                      <a:pPr algn="l"/>
                      <a:r>
                        <a:rPr sz="1000" b="0">
                          <a:solidFill>
                            <a:srgbClr val="1E1E2E"/>
                          </a:solidFill>
                          <a:latin typeface="Calibri"/>
                        </a:rPr>
                        <a:t>$5–8 CPC</a:t>
                      </a:r>
                    </a:p>
                  </a:txBody>
                  <a:tcPr>
                    <a:solidFill>
                      <a:srgbClr val="EEF2FF"/>
                    </a:solidFill>
                  </a:tcPr>
                </a:tc>
                <a:tc>
                  <a:txBody>
                    <a:bodyPr/>
                    <a:lstStyle/>
                    <a:p>
                      <a:pPr algn="l"/>
                      <a:r>
                        <a:rPr sz="1000" b="0">
                          <a:solidFill>
                            <a:srgbClr val="1E1E2E"/>
                          </a:solidFill>
                          <a:latin typeface="Calibri"/>
                        </a:rPr>
                        <a:t>68–110 clicks</a:t>
                      </a:r>
                    </a:p>
                  </a:txBody>
                  <a:tcPr>
                    <a:solidFill>
                      <a:srgbClr val="EEF2FF"/>
                    </a:solidFill>
                  </a:tcPr>
                </a:tc>
                <a:tc>
                  <a:txBody>
                    <a:bodyPr/>
                    <a:lstStyle/>
                    <a:p>
                      <a:pPr algn="l"/>
                      <a:r>
                        <a:rPr sz="1000" b="0">
                          <a:solidFill>
                            <a:srgbClr val="1E1E2E"/>
                          </a:solidFill>
                          <a:latin typeface="Calibri"/>
                        </a:rPr>
                        <a:t>—</a:t>
                      </a:r>
                    </a:p>
                  </a:txBody>
                  <a:tcPr>
                    <a:solidFill>
                      <a:srgbClr val="EEF2FF"/>
                    </a:solidFill>
                  </a:tcPr>
                </a:tc>
              </a:tr>
              <a:tr h="414528">
                <a:tc>
                  <a:txBody>
                    <a:bodyPr/>
                    <a:lstStyle/>
                    <a:p>
                      <a:pPr algn="l"/>
                      <a:r>
                        <a:rPr sz="1000" b="1">
                          <a:solidFill>
                            <a:srgbClr val="1E1E2E"/>
                          </a:solidFill>
                          <a:latin typeface="Calibri"/>
                        </a:rPr>
                        <a:t>Display</a:t>
                      </a:r>
                    </a:p>
                  </a:txBody>
                  <a:tcPr>
                    <a:solidFill>
                      <a:srgbClr val="FFFFFF"/>
                    </a:solidFill>
                  </a:tcPr>
                </a:tc>
                <a:tc>
                  <a:txBody>
                    <a:bodyPr/>
                    <a:lstStyle/>
                    <a:p>
                      <a:pPr algn="l"/>
                      <a:r>
                        <a:rPr sz="1000" b="0">
                          <a:solidFill>
                            <a:srgbClr val="1E1E2E"/>
                          </a:solidFill>
                          <a:latin typeface="Calibri"/>
                        </a:rPr>
                        <a:t>$4–6 CPM</a:t>
                      </a:r>
                    </a:p>
                  </a:txBody>
                  <a:tcPr>
                    <a:solidFill>
                      <a:srgbClr val="FFFFFF"/>
                    </a:solidFill>
                  </a:tcPr>
                </a:tc>
                <a:tc>
                  <a:txBody>
                    <a:bodyPr/>
                    <a:lstStyle/>
                    <a:p>
                      <a:pPr algn="l"/>
                      <a:r>
                        <a:rPr sz="1000" b="0">
                          <a:solidFill>
                            <a:srgbClr val="1E1E2E"/>
                          </a:solidFill>
                          <a:latin typeface="Calibri"/>
                        </a:rPr>
                        <a:t>600–900 clicks</a:t>
                      </a:r>
                    </a:p>
                  </a:txBody>
                  <a:tcPr>
                    <a:solidFill>
                      <a:srgbClr val="FFFFFF"/>
                    </a:solidFill>
                  </a:tcPr>
                </a:tc>
                <a:tc>
                  <a:txBody>
                    <a:bodyPr/>
                    <a:lstStyle/>
                    <a:p>
                      <a:pPr algn="l"/>
                      <a:r>
                        <a:rPr sz="1000" b="0">
                          <a:solidFill>
                            <a:srgbClr val="1E1E2E"/>
                          </a:solidFill>
                          <a:latin typeface="Calibri"/>
                        </a:rPr>
                        <a:t>15,000–23,000 impressions</a:t>
                      </a:r>
                    </a:p>
                  </a:txBody>
                  <a:tcPr>
                    <a:solidFill>
                      <a:srgbClr val="FFFFFF"/>
                    </a:solidFill>
                  </a:tcPr>
                </a:tc>
              </a:tr>
              <a:tr h="414528">
                <a:tc>
                  <a:txBody>
                    <a:bodyPr/>
                    <a:lstStyle/>
                    <a:p>
                      <a:pPr algn="l"/>
                      <a:r>
                        <a:rPr sz="1000" b="1">
                          <a:solidFill>
                            <a:srgbClr val="1E1E2E"/>
                          </a:solidFill>
                          <a:latin typeface="Calibri"/>
                        </a:rPr>
                        <a:t>YouTube (therapy)</a:t>
                      </a:r>
                    </a:p>
                  </a:txBody>
                  <a:tcPr>
                    <a:solidFill>
                      <a:srgbClr val="EEF2FF"/>
                    </a:solidFill>
                  </a:tcPr>
                </a:tc>
                <a:tc>
                  <a:txBody>
                    <a:bodyPr/>
                    <a:lstStyle/>
                    <a:p>
                      <a:pPr algn="l"/>
                      <a:r>
                        <a:rPr sz="1000" b="0">
                          <a:solidFill>
                            <a:srgbClr val="1E1E2E"/>
                          </a:solidFill>
                          <a:latin typeface="Calibri"/>
                        </a:rPr>
                        <a:t>$6–10 CPM</a:t>
                      </a:r>
                    </a:p>
                  </a:txBody>
                  <a:tcPr>
                    <a:solidFill>
                      <a:srgbClr val="EEF2FF"/>
                    </a:solidFill>
                  </a:tcPr>
                </a:tc>
                <a:tc>
                  <a:txBody>
                    <a:bodyPr/>
                    <a:lstStyle/>
                    <a:p>
                      <a:pPr algn="l"/>
                      <a:r>
                        <a:rPr sz="1000" b="0">
                          <a:solidFill>
                            <a:srgbClr val="1E1E2E"/>
                          </a:solidFill>
                          <a:latin typeface="Calibri"/>
                        </a:rPr>
                        <a:t>—</a:t>
                      </a:r>
                    </a:p>
                  </a:txBody>
                  <a:tcPr>
                    <a:solidFill>
                      <a:srgbClr val="EEF2FF"/>
                    </a:solidFill>
                  </a:tcPr>
                </a:tc>
                <a:tc>
                  <a:txBody>
                    <a:bodyPr/>
                    <a:lstStyle/>
                    <a:p>
                      <a:pPr algn="l"/>
                      <a:r>
                        <a:rPr sz="1000" b="0">
                          <a:solidFill>
                            <a:srgbClr val="1E1E2E"/>
                          </a:solidFill>
                          <a:latin typeface="Calibri"/>
                        </a:rPr>
                        <a:t>8,000–14,000 views</a:t>
                      </a:r>
                    </a:p>
                  </a:txBody>
                  <a:tcPr>
                    <a:solidFill>
                      <a:srgbClr val="EEF2FF"/>
                    </a:solidFill>
                  </a:tcPr>
                </a:tc>
              </a:tr>
              <a:tr h="414528">
                <a:tc>
                  <a:txBody>
                    <a:bodyPr/>
                    <a:lstStyle/>
                    <a:p>
                      <a:pPr algn="l"/>
                      <a:r>
                        <a:rPr sz="1000" b="1">
                          <a:solidFill>
                            <a:srgbClr val="1E1E2E"/>
                          </a:solidFill>
                          <a:latin typeface="Calibri"/>
                        </a:rPr>
                        <a:t>Gmail / Discover</a:t>
                      </a:r>
                    </a:p>
                  </a:txBody>
                  <a:tcPr>
                    <a:solidFill>
                      <a:srgbClr val="FFFFFF"/>
                    </a:solidFill>
                  </a:tcPr>
                </a:tc>
                <a:tc>
                  <a:txBody>
                    <a:bodyPr/>
                    <a:lstStyle/>
                    <a:p>
                      <a:pPr algn="l"/>
                      <a:r>
                        <a:rPr sz="1000" b="0">
                          <a:solidFill>
                            <a:srgbClr val="1E1E2E"/>
                          </a:solidFill>
                          <a:latin typeface="Calibri"/>
                        </a:rPr>
                        <a:t>$2–4 CPM</a:t>
                      </a:r>
                    </a:p>
                  </a:txBody>
                  <a:tcPr>
                    <a:solidFill>
                      <a:srgbClr val="FFFFFF"/>
                    </a:solidFill>
                  </a:tcPr>
                </a:tc>
                <a:tc>
                  <a:txBody>
                    <a:bodyPr/>
                    <a:lstStyle/>
                    <a:p>
                      <a:pPr algn="l"/>
                      <a:r>
                        <a:rPr sz="1000" b="0">
                          <a:solidFill>
                            <a:srgbClr val="1E1E2E"/>
                          </a:solidFill>
                          <a:latin typeface="Calibri"/>
                        </a:rPr>
                        <a:t>—</a:t>
                      </a:r>
                    </a:p>
                  </a:txBody>
                  <a:tcPr>
                    <a:solidFill>
                      <a:srgbClr val="FFFFFF"/>
                    </a:solidFill>
                  </a:tcPr>
                </a:tc>
                <a:tc>
                  <a:txBody>
                    <a:bodyPr/>
                    <a:lstStyle/>
                    <a:p>
                      <a:pPr algn="l"/>
                      <a:r>
                        <a:rPr sz="1000" b="0">
                          <a:solidFill>
                            <a:srgbClr val="1E1E2E"/>
                          </a:solidFill>
                          <a:latin typeface="Calibri"/>
                        </a:rPr>
                        <a:t>5,000–8,000 impressions</a:t>
                      </a:r>
                    </a:p>
                  </a:txBody>
                  <a:tcPr>
                    <a:solidFill>
                      <a:srgbClr val="FFFFFF"/>
                    </a:solidFill>
                  </a:tcPr>
                </a:tc>
              </a:tr>
              <a:tr h="414528">
                <a:tc>
                  <a:txBody>
                    <a:bodyPr/>
                    <a:lstStyle/>
                    <a:p>
                      <a:pPr algn="l"/>
                      <a:r>
                        <a:rPr sz="1000" b="1">
                          <a:solidFill>
                            <a:srgbClr val="FFFFFF"/>
                          </a:solidFill>
                          <a:latin typeface="Calibri"/>
                        </a:rPr>
                        <a:t>TOTAL</a:t>
                      </a:r>
                    </a:p>
                  </a:txBody>
                  <a:tcPr>
                    <a:solidFill>
                      <a:srgbClr val="1E1E2E"/>
                    </a:solidFill>
                  </a:tcPr>
                </a:tc>
                <a:tc>
                  <a:txBody>
                    <a:bodyPr/>
                    <a:lstStyle/>
                    <a:p>
                      <a:pPr algn="l"/>
                      <a:r>
                        <a:rPr sz="1000" b="1">
                          <a:solidFill>
                            <a:srgbClr val="FFFFFF"/>
                          </a:solidFill>
                          <a:latin typeface="Calibri"/>
                        </a:rPr>
                        <a:t>Blended</a:t>
                      </a:r>
                    </a:p>
                  </a:txBody>
                  <a:tcPr>
                    <a:solidFill>
                      <a:srgbClr val="1E1E2E"/>
                    </a:solidFill>
                  </a:tcPr>
                </a:tc>
                <a:tc>
                  <a:txBody>
                    <a:bodyPr/>
                    <a:lstStyle/>
                    <a:p>
                      <a:pPr algn="l"/>
                      <a:r>
                        <a:rPr sz="1000" b="1">
                          <a:solidFill>
                            <a:srgbClr val="FFFFFF"/>
                          </a:solidFill>
                          <a:latin typeface="Calibri"/>
                        </a:rPr>
                        <a:t>670–1,010 clicks</a:t>
                      </a:r>
                    </a:p>
                  </a:txBody>
                  <a:tcPr>
                    <a:solidFill>
                      <a:srgbClr val="1E1E2E"/>
                    </a:solidFill>
                  </a:tcPr>
                </a:tc>
                <a:tc>
                  <a:txBody>
                    <a:bodyPr/>
                    <a:lstStyle/>
                    <a:p>
                      <a:pPr algn="l"/>
                      <a:r>
                        <a:rPr sz="1000" b="1">
                          <a:solidFill>
                            <a:srgbClr val="FFFFFF"/>
                          </a:solidFill>
                          <a:latin typeface="Calibri"/>
                        </a:rPr>
                        <a:t>28,000–45,000 impressions</a:t>
                      </a:r>
                    </a:p>
                  </a:txBody>
                  <a:tcPr>
                    <a:solidFill>
                      <a:srgbClr val="1E1E2E"/>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Experiment 2 — Local Service Ads (LSAs)</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June 2026  |  Budget: $300–$400/month  |  Platform: Google LSA (separate from Google Ads)</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5</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146304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996696"/>
            <a:ext cx="1353312" cy="237744"/>
          </a:xfrm>
          <a:prstGeom prst="rect">
            <a:avLst/>
          </a:prstGeom>
          <a:noFill/>
        </p:spPr>
        <p:txBody>
          <a:bodyPr wrap="square">
            <a:spAutoFit/>
          </a:bodyPr>
          <a:lstStyle/>
          <a:p>
            <a:pPr algn="l"/>
            <a:r>
              <a:rPr sz="1000" b="1" i="0">
                <a:solidFill>
                  <a:srgbClr val="FFFFFF"/>
                </a:solidFill>
                <a:latin typeface="Calibri"/>
              </a:rPr>
              <a:t>EXPERIMENT 2</a:t>
            </a:r>
          </a:p>
        </p:txBody>
      </p:sp>
      <p:sp>
        <p:nvSpPr>
          <p:cNvPr id="10" name="TextBox 9"/>
          <p:cNvSpPr txBox="1"/>
          <p:nvPr/>
        </p:nvSpPr>
        <p:spPr>
          <a:xfrm>
            <a:off x="2084831" y="932688"/>
            <a:ext cx="7315200" cy="411480"/>
          </a:xfrm>
          <a:prstGeom prst="rect">
            <a:avLst/>
          </a:prstGeom>
          <a:noFill/>
        </p:spPr>
        <p:txBody>
          <a:bodyPr wrap="square">
            <a:spAutoFit/>
          </a:bodyPr>
          <a:lstStyle/>
          <a:p>
            <a:pPr algn="l"/>
            <a:r>
              <a:rPr sz="2000" b="1" i="0">
                <a:solidFill>
                  <a:srgbClr val="4B3BC8"/>
                </a:solidFill>
                <a:latin typeface="Arial Black"/>
              </a:rPr>
              <a:t>Local Service Ads</a:t>
            </a:r>
          </a:p>
        </p:txBody>
      </p:sp>
      <p:sp>
        <p:nvSpPr>
          <p:cNvPr id="11" name="Rectangle 10"/>
          <p:cNvSpPr/>
          <p:nvPr/>
        </p:nvSpPr>
        <p:spPr>
          <a:xfrm>
            <a:off x="502920" y="1417320"/>
            <a:ext cx="5577840" cy="274320"/>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44752"/>
            <a:ext cx="5486400" cy="228600"/>
          </a:xfrm>
          <a:prstGeom prst="rect">
            <a:avLst/>
          </a:prstGeom>
          <a:noFill/>
        </p:spPr>
        <p:txBody>
          <a:bodyPr wrap="square">
            <a:spAutoFit/>
          </a:bodyPr>
          <a:lstStyle/>
          <a:p>
            <a:pPr algn="l"/>
            <a:r>
              <a:rPr sz="1000" b="1" i="0">
                <a:solidFill>
                  <a:srgbClr val="FFFFFF"/>
                </a:solidFill>
                <a:latin typeface="Calibri"/>
              </a:rPr>
              <a:t>WHAT IT IS</a:t>
            </a:r>
          </a:p>
        </p:txBody>
      </p:sp>
      <p:sp>
        <p:nvSpPr>
          <p:cNvPr id="13" name="Rectangle 12"/>
          <p:cNvSpPr/>
          <p:nvPr/>
        </p:nvSpPr>
        <p:spPr>
          <a:xfrm>
            <a:off x="502920" y="1691640"/>
            <a:ext cx="557784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5285232" cy="1737360"/>
          </a:xfrm>
          <a:prstGeom prst="rect">
            <a:avLst/>
          </a:prstGeom>
          <a:noFill/>
        </p:spPr>
        <p:txBody>
          <a:bodyPr wrap="square">
            <a:spAutoFit/>
          </a:bodyPr>
          <a:lstStyle/>
          <a:p>
            <a:pPr algn="l"/>
            <a:r>
              <a:rPr sz="1100" b="0" i="0">
                <a:solidFill>
                  <a:srgbClr val="1E1E2E"/>
                </a:solidFill>
                <a:latin typeface="Calibri"/>
              </a:rPr>
              <a:t>LSAs are Google's pay-per-lead product for service businesses. They appear ABOVE all regular Search Ads with a "Google Screened" badge. Wellspring only pays when someone calls or messages — not per click.
Managed in a separate LSA dashboard. Requires licence verification, insurance, and background checks (2–4 week approval).</a:t>
            </a:r>
          </a:p>
        </p:txBody>
      </p:sp>
      <p:sp>
        <p:nvSpPr>
          <p:cNvPr id="15" name="Rectangle 14"/>
          <p:cNvSpPr/>
          <p:nvPr/>
        </p:nvSpPr>
        <p:spPr>
          <a:xfrm>
            <a:off x="6309360" y="1417320"/>
            <a:ext cx="544068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44752"/>
            <a:ext cx="5303520" cy="228600"/>
          </a:xfrm>
          <a:prstGeom prst="rect">
            <a:avLst/>
          </a:prstGeom>
          <a:noFill/>
        </p:spPr>
        <p:txBody>
          <a:bodyPr wrap="square">
            <a:spAutoFit/>
          </a:bodyPr>
          <a:lstStyle/>
          <a:p>
            <a:pPr algn="l"/>
            <a:r>
              <a:rPr sz="1000" b="1" i="0">
                <a:solidFill>
                  <a:srgbClr val="FFFFFF"/>
                </a:solidFill>
                <a:latin typeface="Calibri"/>
              </a:rPr>
              <a:t>WHY WE'RE TESTING IT</a:t>
            </a:r>
          </a:p>
        </p:txBody>
      </p:sp>
      <p:sp>
        <p:nvSpPr>
          <p:cNvPr id="17" name="Rectangle 16"/>
          <p:cNvSpPr/>
          <p:nvPr/>
        </p:nvSpPr>
        <p:spPr>
          <a:xfrm>
            <a:off x="6309360" y="1691640"/>
            <a:ext cx="544068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192024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1828800"/>
            <a:ext cx="4983480" cy="365760"/>
          </a:xfrm>
          <a:prstGeom prst="rect">
            <a:avLst/>
          </a:prstGeom>
          <a:noFill/>
        </p:spPr>
        <p:txBody>
          <a:bodyPr wrap="square">
            <a:spAutoFit/>
          </a:bodyPr>
          <a:lstStyle/>
          <a:p>
            <a:pPr algn="l"/>
            <a:r>
              <a:rPr sz="1100" b="0" i="0">
                <a:solidFill>
                  <a:srgbClr val="1E1E2E"/>
                </a:solidFill>
                <a:latin typeface="Calibri"/>
              </a:rPr>
              <a:t>Position 0 — appears above our own paid search ads</a:t>
            </a:r>
          </a:p>
        </p:txBody>
      </p:sp>
      <p:sp>
        <p:nvSpPr>
          <p:cNvPr id="20" name="Oval 19"/>
          <p:cNvSpPr/>
          <p:nvPr/>
        </p:nvSpPr>
        <p:spPr>
          <a:xfrm>
            <a:off x="6446520" y="2340864"/>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2249424"/>
            <a:ext cx="4983480" cy="365760"/>
          </a:xfrm>
          <a:prstGeom prst="rect">
            <a:avLst/>
          </a:prstGeom>
          <a:noFill/>
        </p:spPr>
        <p:txBody>
          <a:bodyPr wrap="square">
            <a:spAutoFit/>
          </a:bodyPr>
          <a:lstStyle/>
          <a:p>
            <a:pPr algn="l"/>
            <a:r>
              <a:rPr sz="1100" b="0" i="0">
                <a:solidFill>
                  <a:srgbClr val="1E1E2E"/>
                </a:solidFill>
                <a:latin typeface="Calibri"/>
              </a:rPr>
              <a:t>Pay per lead, not per click — better budget efficiency if lead quality is good</a:t>
            </a:r>
          </a:p>
        </p:txBody>
      </p:sp>
      <p:sp>
        <p:nvSpPr>
          <p:cNvPr id="22" name="Oval 21"/>
          <p:cNvSpPr/>
          <p:nvPr/>
        </p:nvSpPr>
        <p:spPr>
          <a:xfrm>
            <a:off x="6446520" y="2761488"/>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2" y="2670048"/>
            <a:ext cx="4983480" cy="365760"/>
          </a:xfrm>
          <a:prstGeom prst="rect">
            <a:avLst/>
          </a:prstGeom>
          <a:noFill/>
        </p:spPr>
        <p:txBody>
          <a:bodyPr wrap="square">
            <a:spAutoFit/>
          </a:bodyPr>
          <a:lstStyle/>
          <a:p>
            <a:pPr algn="l"/>
            <a:r>
              <a:rPr sz="1100" b="0" i="0">
                <a:solidFill>
                  <a:srgbClr val="1E1E2E"/>
                </a:solidFill>
                <a:latin typeface="Calibri"/>
              </a:rPr>
              <a:t>"Google Screened" badge builds trust Wellspring currently lacks (near-zero reviews)</a:t>
            </a:r>
          </a:p>
        </p:txBody>
      </p:sp>
      <p:sp>
        <p:nvSpPr>
          <p:cNvPr id="24" name="Oval 23"/>
          <p:cNvSpPr/>
          <p:nvPr/>
        </p:nvSpPr>
        <p:spPr>
          <a:xfrm>
            <a:off x="6446520" y="3182112"/>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3090672"/>
            <a:ext cx="4983480" cy="365760"/>
          </a:xfrm>
          <a:prstGeom prst="rect">
            <a:avLst/>
          </a:prstGeom>
          <a:noFill/>
        </p:spPr>
        <p:txBody>
          <a:bodyPr wrap="square">
            <a:spAutoFit/>
          </a:bodyPr>
          <a:lstStyle/>
          <a:p>
            <a:pPr algn="l"/>
            <a:r>
              <a:rPr sz="1100" b="0" i="0">
                <a:solidFill>
                  <a:srgbClr val="1E1E2E"/>
                </a:solidFill>
                <a:latin typeface="Calibri"/>
              </a:rPr>
              <a:t>Key risk: review count heavily influences LSA rank vs RCBM (2,273 reviews)</a:t>
            </a:r>
          </a:p>
        </p:txBody>
      </p:sp>
      <p:sp>
        <p:nvSpPr>
          <p:cNvPr id="26" name="Rectangle 25"/>
          <p:cNvSpPr/>
          <p:nvPr/>
        </p:nvSpPr>
        <p:spPr>
          <a:xfrm>
            <a:off x="502920" y="3749039"/>
            <a:ext cx="11201400" cy="29260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85615"/>
            <a:ext cx="10972800" cy="237744"/>
          </a:xfrm>
          <a:prstGeom prst="rect">
            <a:avLst/>
          </a:prstGeom>
          <a:noFill/>
        </p:spPr>
        <p:txBody>
          <a:bodyPr wrap="square">
            <a:spAutoFit/>
          </a:bodyPr>
          <a:lstStyle/>
          <a:p>
            <a:pPr algn="l"/>
            <a:r>
              <a:rPr sz="1100" b="1" i="0">
                <a:solidFill>
                  <a:srgbClr val="FFFFFF"/>
                </a:solidFill>
                <a:latin typeface="Calibri"/>
              </a:rPr>
              <a:t>PROJECTED ENGAGEMENT AT $350/MONTH</a:t>
            </a:r>
          </a:p>
        </p:txBody>
      </p:sp>
      <p:graphicFrame>
        <p:nvGraphicFramePr>
          <p:cNvPr id="28" name="Table 27"/>
          <p:cNvGraphicFramePr>
            <a:graphicFrameLocks noGrp="1"/>
          </p:cNvGraphicFramePr>
          <p:nvPr/>
        </p:nvGraphicFramePr>
        <p:xfrm>
          <a:off x="502920" y="4069080"/>
          <a:ext cx="11201400" cy="2487168"/>
        </p:xfrm>
        <a:graphic>
          <a:graphicData uri="http://schemas.openxmlformats.org/drawingml/2006/table">
            <a:tbl>
              <a:tblPr firstRow="1" bandRow="1">
                <a:tableStyleId>{5C22544A-7EE6-4342-B048-85BDC9FD1C3A}</a:tableStyleId>
              </a:tblPr>
              <a:tblGrid>
                <a:gridCol w="3200400"/>
                <a:gridCol w="4224528"/>
                <a:gridCol w="3776472"/>
              </a:tblGrid>
              <a:tr h="621792">
                <a:tc>
                  <a:txBody>
                    <a:bodyPr/>
                    <a:lstStyle/>
                    <a:p>
                      <a:pPr algn="l"/>
                      <a:r>
                        <a:rPr sz="1000" b="1">
                          <a:solidFill>
                            <a:srgbClr val="FFFFFF"/>
                          </a:solidFill>
                          <a:latin typeface="Calibri"/>
                        </a:rPr>
                        <a:t>Metric</a:t>
                      </a:r>
                    </a:p>
                  </a:txBody>
                  <a:tcPr>
                    <a:solidFill>
                      <a:srgbClr val="4B3BC8"/>
                    </a:solidFill>
                  </a:tcPr>
                </a:tc>
                <a:tc>
                  <a:txBody>
                    <a:bodyPr/>
                    <a:lstStyle/>
                    <a:p>
                      <a:pPr algn="l"/>
                      <a:r>
                        <a:rPr sz="1000" b="1">
                          <a:solidFill>
                            <a:srgbClr val="FFFFFF"/>
                          </a:solidFill>
                          <a:latin typeface="Calibri"/>
                        </a:rPr>
                        <a:t>Cost Basis</a:t>
                      </a:r>
                    </a:p>
                  </a:txBody>
                  <a:tcPr>
                    <a:solidFill>
                      <a:srgbClr val="4B3BC8"/>
                    </a:solidFill>
                  </a:tcPr>
                </a:tc>
                <a:tc>
                  <a:txBody>
                    <a:bodyPr/>
                    <a:lstStyle/>
                    <a:p>
                      <a:pPr algn="l"/>
                      <a:r>
                        <a:rPr sz="1000" b="1">
                          <a:solidFill>
                            <a:srgbClr val="FFFFFF"/>
                          </a:solidFill>
                          <a:latin typeface="Calibri"/>
                        </a:rPr>
                        <a:t>Projected Volume</a:t>
                      </a:r>
                    </a:p>
                  </a:txBody>
                  <a:tcPr>
                    <a:solidFill>
                      <a:srgbClr val="4B3BC8"/>
                    </a:solidFill>
                  </a:tcPr>
                </a:tc>
              </a:tr>
              <a:tr h="621792">
                <a:tc>
                  <a:txBody>
                    <a:bodyPr/>
                    <a:lstStyle/>
                    <a:p>
                      <a:pPr algn="l"/>
                      <a:r>
                        <a:rPr sz="1000" b="1">
                          <a:solidFill>
                            <a:srgbClr val="4B3BC8"/>
                          </a:solidFill>
                          <a:latin typeface="Calibri"/>
                        </a:rPr>
                        <a:t>Impressions (position 0)</a:t>
                      </a:r>
                    </a:p>
                  </a:txBody>
                  <a:tcPr>
                    <a:solidFill>
                      <a:srgbClr val="EEF2FF"/>
                    </a:solidFill>
                  </a:tcPr>
                </a:tc>
                <a:tc>
                  <a:txBody>
                    <a:bodyPr/>
                    <a:lstStyle/>
                    <a:p>
                      <a:pPr algn="l"/>
                      <a:r>
                        <a:rPr sz="1000" b="0">
                          <a:solidFill>
                            <a:srgbClr val="1E1E2E"/>
                          </a:solidFill>
                          <a:latin typeface="Calibri"/>
                        </a:rPr>
                        <a:t>CPM N/A — shown above all ads</a:t>
                      </a:r>
                    </a:p>
                  </a:txBody>
                  <a:tcPr>
                    <a:solidFill>
                      <a:srgbClr val="EEF2FF"/>
                    </a:solidFill>
                  </a:tcPr>
                </a:tc>
                <a:tc>
                  <a:txBody>
                    <a:bodyPr/>
                    <a:lstStyle/>
                    <a:p>
                      <a:pPr algn="l"/>
                      <a:r>
                        <a:rPr sz="1000" b="0">
                          <a:solidFill>
                            <a:srgbClr val="1E1E2E"/>
                          </a:solidFill>
                          <a:latin typeface="Calibri"/>
                        </a:rPr>
                        <a:t>4,000–8,000 / month</a:t>
                      </a:r>
                    </a:p>
                  </a:txBody>
                  <a:tcPr>
                    <a:solidFill>
                      <a:srgbClr val="EEF2FF"/>
                    </a:solidFill>
                  </a:tcPr>
                </a:tc>
              </a:tr>
              <a:tr h="621792">
                <a:tc>
                  <a:txBody>
                    <a:bodyPr/>
                    <a:lstStyle/>
                    <a:p>
                      <a:pPr algn="l"/>
                      <a:r>
                        <a:rPr sz="1000" b="1">
                          <a:solidFill>
                            <a:srgbClr val="4B3BC8"/>
                          </a:solidFill>
                          <a:latin typeface="Calibri"/>
                        </a:rPr>
                        <a:t>Leads (calls + messages)</a:t>
                      </a:r>
                    </a:p>
                  </a:txBody>
                  <a:tcPr>
                    <a:solidFill>
                      <a:srgbClr val="FFFFFF"/>
                    </a:solidFill>
                  </a:tcPr>
                </a:tc>
                <a:tc>
                  <a:txBody>
                    <a:bodyPr/>
                    <a:lstStyle/>
                    <a:p>
                      <a:pPr algn="l"/>
                      <a:r>
                        <a:rPr sz="1000" b="0">
                          <a:solidFill>
                            <a:srgbClr val="1E1E2E"/>
                          </a:solidFill>
                          <a:latin typeface="Calibri"/>
                        </a:rPr>
                        <a:t>$15–$30 per lead (pay-per-lead)</a:t>
                      </a:r>
                    </a:p>
                  </a:txBody>
                  <a:tcPr>
                    <a:solidFill>
                      <a:srgbClr val="FFFFFF"/>
                    </a:solidFill>
                  </a:tcPr>
                </a:tc>
                <a:tc>
                  <a:txBody>
                    <a:bodyPr/>
                    <a:lstStyle/>
                    <a:p>
                      <a:pPr algn="l"/>
                      <a:r>
                        <a:rPr sz="1000" b="0">
                          <a:solidFill>
                            <a:srgbClr val="1E1E2E"/>
                          </a:solidFill>
                          <a:latin typeface="Calibri"/>
                        </a:rPr>
                        <a:t>12–23 leads / month</a:t>
                      </a:r>
                    </a:p>
                  </a:txBody>
                  <a:tcPr>
                    <a:solidFill>
                      <a:srgbClr val="FFFFFF"/>
                    </a:solidFill>
                  </a:tcPr>
                </a:tc>
              </a:tr>
              <a:tr h="621792">
                <a:tc>
                  <a:txBody>
                    <a:bodyPr/>
                    <a:lstStyle/>
                    <a:p>
                      <a:pPr algn="l"/>
                      <a:r>
                        <a:rPr sz="1000" b="1">
                          <a:solidFill>
                            <a:srgbClr val="4B3BC8"/>
                          </a:solidFill>
                          <a:latin typeface="Calibri"/>
                        </a:rPr>
                        <a:t>Cost model</a:t>
                      </a:r>
                    </a:p>
                  </a:txBody>
                  <a:tcPr>
                    <a:solidFill>
                      <a:srgbClr val="EEF2FF"/>
                    </a:solidFill>
                  </a:tcPr>
                </a:tc>
                <a:tc>
                  <a:txBody>
                    <a:bodyPr/>
                    <a:lstStyle/>
                    <a:p>
                      <a:pPr algn="l"/>
                      <a:r>
                        <a:rPr sz="1000" b="0">
                          <a:solidFill>
                            <a:srgbClr val="1E1E2E"/>
                          </a:solidFill>
                          <a:latin typeface="Calibri"/>
                        </a:rPr>
                        <a:t>No CPC — charged per lead received</a:t>
                      </a:r>
                    </a:p>
                  </a:txBody>
                  <a:tcPr>
                    <a:solidFill>
                      <a:srgbClr val="EEF2FF"/>
                    </a:solidFill>
                  </a:tcPr>
                </a:tc>
                <a:tc>
                  <a:txBody>
                    <a:bodyPr/>
                    <a:lstStyle/>
                    <a:p>
                      <a:pPr algn="l"/>
                      <a:r>
                        <a:rPr sz="1000" b="0">
                          <a:solidFill>
                            <a:srgbClr val="1E1E2E"/>
                          </a:solidFill>
                          <a:latin typeface="Calibri"/>
                        </a:rPr>
                        <a:t>Dispute invalid leads within 30 days</a:t>
                      </a:r>
                    </a:p>
                  </a:txBody>
                  <a:tcPr>
                    <a:solidFill>
                      <a:srgbClr val="EEF2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Experiment 3 — Competitor Conquest</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July 2026  |  Budget: $200–$250/month  |  Platform: Google Search</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6</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1463040" cy="31089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996696"/>
            <a:ext cx="1353312" cy="237744"/>
          </a:xfrm>
          <a:prstGeom prst="rect">
            <a:avLst/>
          </a:prstGeom>
          <a:noFill/>
        </p:spPr>
        <p:txBody>
          <a:bodyPr wrap="square">
            <a:spAutoFit/>
          </a:bodyPr>
          <a:lstStyle/>
          <a:p>
            <a:pPr algn="l"/>
            <a:r>
              <a:rPr sz="1000" b="1" i="0">
                <a:solidFill>
                  <a:srgbClr val="FFFFFF"/>
                </a:solidFill>
                <a:latin typeface="Calibri"/>
              </a:rPr>
              <a:t>EXPERIMENT 3</a:t>
            </a:r>
          </a:p>
        </p:txBody>
      </p:sp>
      <p:sp>
        <p:nvSpPr>
          <p:cNvPr id="10" name="TextBox 9"/>
          <p:cNvSpPr txBox="1"/>
          <p:nvPr/>
        </p:nvSpPr>
        <p:spPr>
          <a:xfrm>
            <a:off x="2084831" y="932688"/>
            <a:ext cx="7315200" cy="411480"/>
          </a:xfrm>
          <a:prstGeom prst="rect">
            <a:avLst/>
          </a:prstGeom>
          <a:noFill/>
        </p:spPr>
        <p:txBody>
          <a:bodyPr wrap="square">
            <a:spAutoFit/>
          </a:bodyPr>
          <a:lstStyle/>
          <a:p>
            <a:pPr algn="l"/>
            <a:r>
              <a:rPr sz="2000" b="1" i="0">
                <a:solidFill>
                  <a:srgbClr val="3B82F6"/>
                </a:solidFill>
                <a:latin typeface="Arial Black"/>
              </a:rPr>
              <a:t>Competitor Conquest</a:t>
            </a:r>
          </a:p>
        </p:txBody>
      </p:sp>
      <p:sp>
        <p:nvSpPr>
          <p:cNvPr id="11" name="Rectangle 10"/>
          <p:cNvSpPr/>
          <p:nvPr/>
        </p:nvSpPr>
        <p:spPr>
          <a:xfrm>
            <a:off x="502920" y="1417320"/>
            <a:ext cx="557784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44752"/>
            <a:ext cx="5486400" cy="228600"/>
          </a:xfrm>
          <a:prstGeom prst="rect">
            <a:avLst/>
          </a:prstGeom>
          <a:noFill/>
        </p:spPr>
        <p:txBody>
          <a:bodyPr wrap="square">
            <a:spAutoFit/>
          </a:bodyPr>
          <a:lstStyle/>
          <a:p>
            <a:pPr algn="l"/>
            <a:r>
              <a:rPr sz="1000" b="1" i="0">
                <a:solidFill>
                  <a:srgbClr val="FFFFFF"/>
                </a:solidFill>
                <a:latin typeface="Calibri"/>
              </a:rPr>
              <a:t>WHAT IT IS</a:t>
            </a:r>
          </a:p>
        </p:txBody>
      </p:sp>
      <p:sp>
        <p:nvSpPr>
          <p:cNvPr id="13" name="Rectangle 12"/>
          <p:cNvSpPr/>
          <p:nvPr/>
        </p:nvSpPr>
        <p:spPr>
          <a:xfrm>
            <a:off x="502920" y="1691640"/>
            <a:ext cx="557784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5285232" cy="1737360"/>
          </a:xfrm>
          <a:prstGeom prst="rect">
            <a:avLst/>
          </a:prstGeom>
          <a:noFill/>
        </p:spPr>
        <p:txBody>
          <a:bodyPr wrap="square">
            <a:spAutoFit/>
          </a:bodyPr>
          <a:lstStyle/>
          <a:p>
            <a:pPr algn="l"/>
            <a:r>
              <a:rPr sz="1100" b="0" i="0">
                <a:solidFill>
                  <a:srgbClr val="1E1E2E"/>
                </a:solidFill>
                <a:latin typeface="Calibri"/>
              </a:rPr>
              <a:t>Bid on competitor brand-term keywords. When someone searches for a competitor by name, Wellspring's ad appears alongside.
Primary target: Great Lakes Psychology Group (GLPG) — they run active Google + Meta ads but have only 2.6★ reviews and weak brand trust. Anyone searching for them and finding a poor reputation is a qualified Wellspring therapy prospect.
Note: you can bid on competitor names. You cannot use their name in the ad copy.</a:t>
            </a:r>
          </a:p>
        </p:txBody>
      </p:sp>
      <p:sp>
        <p:nvSpPr>
          <p:cNvPr id="15" name="Rectangle 14"/>
          <p:cNvSpPr/>
          <p:nvPr/>
        </p:nvSpPr>
        <p:spPr>
          <a:xfrm>
            <a:off x="6309360" y="1417320"/>
            <a:ext cx="544068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44752"/>
            <a:ext cx="5303520" cy="228600"/>
          </a:xfrm>
          <a:prstGeom prst="rect">
            <a:avLst/>
          </a:prstGeom>
          <a:noFill/>
        </p:spPr>
        <p:txBody>
          <a:bodyPr wrap="square">
            <a:spAutoFit/>
          </a:bodyPr>
          <a:lstStyle/>
          <a:p>
            <a:pPr algn="l"/>
            <a:r>
              <a:rPr sz="1000" b="1" i="0">
                <a:solidFill>
                  <a:srgbClr val="FFFFFF"/>
                </a:solidFill>
                <a:latin typeface="Calibri"/>
              </a:rPr>
              <a:t>TARGET COMPETITORS</a:t>
            </a:r>
          </a:p>
        </p:txBody>
      </p:sp>
      <p:sp>
        <p:nvSpPr>
          <p:cNvPr id="17" name="Rectangle 16"/>
          <p:cNvSpPr/>
          <p:nvPr/>
        </p:nvSpPr>
        <p:spPr>
          <a:xfrm>
            <a:off x="6309360" y="1691640"/>
            <a:ext cx="544068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755648"/>
            <a:ext cx="5440680"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755648"/>
            <a:ext cx="9144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0528" y="1801368"/>
            <a:ext cx="5120640" cy="201168"/>
          </a:xfrm>
          <a:prstGeom prst="rect">
            <a:avLst/>
          </a:prstGeom>
          <a:noFill/>
        </p:spPr>
        <p:txBody>
          <a:bodyPr wrap="square">
            <a:spAutoFit/>
          </a:bodyPr>
          <a:lstStyle/>
          <a:p>
            <a:pPr algn="l"/>
            <a:r>
              <a:rPr sz="1100" b="1" i="0">
                <a:solidFill>
                  <a:srgbClr val="3B82F6"/>
                </a:solidFill>
                <a:latin typeface="Calibri"/>
              </a:rPr>
              <a:t>GLPG (Primary)</a:t>
            </a:r>
          </a:p>
        </p:txBody>
      </p:sp>
      <p:sp>
        <p:nvSpPr>
          <p:cNvPr id="21" name="TextBox 20"/>
          <p:cNvSpPr txBox="1"/>
          <p:nvPr/>
        </p:nvSpPr>
        <p:spPr>
          <a:xfrm>
            <a:off x="6510528" y="2011680"/>
            <a:ext cx="5120640" cy="201168"/>
          </a:xfrm>
          <a:prstGeom prst="rect">
            <a:avLst/>
          </a:prstGeom>
          <a:noFill/>
        </p:spPr>
        <p:txBody>
          <a:bodyPr wrap="square">
            <a:spAutoFit/>
          </a:bodyPr>
          <a:lstStyle/>
          <a:p>
            <a:pPr algn="l"/>
            <a:r>
              <a:rPr sz="1000" b="0" i="0">
                <a:solidFill>
                  <a:srgbClr val="1E1E2E"/>
                </a:solidFill>
                <a:latin typeface="Calibri"/>
              </a:rPr>
              <a:t>2.6★ / 47 reviews — confirmed Google + Meta spend. No Med Mgmt.</a:t>
            </a:r>
          </a:p>
        </p:txBody>
      </p:sp>
      <p:sp>
        <p:nvSpPr>
          <p:cNvPr id="22" name="Rectangle 21"/>
          <p:cNvSpPr/>
          <p:nvPr/>
        </p:nvSpPr>
        <p:spPr>
          <a:xfrm>
            <a:off x="6309360" y="2322576"/>
            <a:ext cx="54406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2322576"/>
            <a:ext cx="9144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368296"/>
            <a:ext cx="5120640" cy="201168"/>
          </a:xfrm>
          <a:prstGeom prst="rect">
            <a:avLst/>
          </a:prstGeom>
          <a:noFill/>
        </p:spPr>
        <p:txBody>
          <a:bodyPr wrap="square">
            <a:spAutoFit/>
          </a:bodyPr>
          <a:lstStyle/>
          <a:p>
            <a:pPr algn="l"/>
            <a:r>
              <a:rPr sz="1100" b="1" i="0">
                <a:solidFill>
                  <a:srgbClr val="3B82F6"/>
                </a:solidFill>
                <a:latin typeface="Calibri"/>
              </a:rPr>
              <a:t>Ellie Mental Health</a:t>
            </a:r>
          </a:p>
        </p:txBody>
      </p:sp>
      <p:sp>
        <p:nvSpPr>
          <p:cNvPr id="25" name="TextBox 24"/>
          <p:cNvSpPr txBox="1"/>
          <p:nvPr/>
        </p:nvSpPr>
        <p:spPr>
          <a:xfrm>
            <a:off x="6510528" y="2578608"/>
            <a:ext cx="5120640" cy="201168"/>
          </a:xfrm>
          <a:prstGeom prst="rect">
            <a:avLst/>
          </a:prstGeom>
          <a:noFill/>
        </p:spPr>
        <p:txBody>
          <a:bodyPr wrap="square">
            <a:spAutoFit/>
          </a:bodyPr>
          <a:lstStyle/>
          <a:p>
            <a:pPr algn="l"/>
            <a:r>
              <a:rPr sz="1000" b="0" i="0">
                <a:solidFill>
                  <a:srgbClr val="1E1E2E"/>
                </a:solidFill>
                <a:latin typeface="Calibri"/>
              </a:rPr>
              <a:t>Franchise model. Users often prefer private practice. Active ad budget.</a:t>
            </a:r>
          </a:p>
        </p:txBody>
      </p:sp>
      <p:sp>
        <p:nvSpPr>
          <p:cNvPr id="26" name="Rectangle 25"/>
          <p:cNvSpPr/>
          <p:nvPr/>
        </p:nvSpPr>
        <p:spPr>
          <a:xfrm>
            <a:off x="6309360" y="2889504"/>
            <a:ext cx="5440680"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2889504"/>
            <a:ext cx="9144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2935224"/>
            <a:ext cx="5120640" cy="201168"/>
          </a:xfrm>
          <a:prstGeom prst="rect">
            <a:avLst/>
          </a:prstGeom>
          <a:noFill/>
        </p:spPr>
        <p:txBody>
          <a:bodyPr wrap="square">
            <a:spAutoFit/>
          </a:bodyPr>
          <a:lstStyle/>
          <a:p>
            <a:pPr algn="l"/>
            <a:r>
              <a:rPr sz="1100" b="1" i="0">
                <a:solidFill>
                  <a:srgbClr val="3B82F6"/>
                </a:solidFill>
                <a:latin typeface="Calibri"/>
              </a:rPr>
              <a:t>Helios Psychiatry</a:t>
            </a:r>
          </a:p>
        </p:txBody>
      </p:sp>
      <p:sp>
        <p:nvSpPr>
          <p:cNvPr id="29" name="TextBox 28"/>
          <p:cNvSpPr txBox="1"/>
          <p:nvPr/>
        </p:nvSpPr>
        <p:spPr>
          <a:xfrm>
            <a:off x="6510528" y="3145536"/>
            <a:ext cx="5120640" cy="201168"/>
          </a:xfrm>
          <a:prstGeom prst="rect">
            <a:avLst/>
          </a:prstGeom>
          <a:noFill/>
        </p:spPr>
        <p:txBody>
          <a:bodyPr wrap="square">
            <a:spAutoFit/>
          </a:bodyPr>
          <a:lstStyle/>
          <a:p>
            <a:pPr algn="l"/>
            <a:r>
              <a:rPr sz="1000" b="0" i="0">
                <a:solidFill>
                  <a:srgbClr val="1E1E2E"/>
                </a:solidFill>
                <a:latin typeface="Calibri"/>
              </a:rPr>
              <a:t>Direct Med Mgmt competitor. Overflow / waitlist searches are capturable.</a:t>
            </a:r>
          </a:p>
        </p:txBody>
      </p:sp>
      <p:sp>
        <p:nvSpPr>
          <p:cNvPr id="30" name="Rectangle 29"/>
          <p:cNvSpPr/>
          <p:nvPr/>
        </p:nvSpPr>
        <p:spPr>
          <a:xfrm>
            <a:off x="502920" y="3749039"/>
            <a:ext cx="11201400" cy="29260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785615"/>
            <a:ext cx="10972800" cy="237744"/>
          </a:xfrm>
          <a:prstGeom prst="rect">
            <a:avLst/>
          </a:prstGeom>
          <a:noFill/>
        </p:spPr>
        <p:txBody>
          <a:bodyPr wrap="square">
            <a:spAutoFit/>
          </a:bodyPr>
          <a:lstStyle/>
          <a:p>
            <a:pPr algn="l"/>
            <a:r>
              <a:rPr sz="1100" b="1" i="0">
                <a:solidFill>
                  <a:srgbClr val="FFFFFF"/>
                </a:solidFill>
                <a:latin typeface="Calibri"/>
              </a:rPr>
              <a:t>PROJECTED ENGAGEMENT AT $225/MONTH</a:t>
            </a:r>
          </a:p>
        </p:txBody>
      </p:sp>
      <p:graphicFrame>
        <p:nvGraphicFramePr>
          <p:cNvPr id="32" name="Table 31"/>
          <p:cNvGraphicFramePr>
            <a:graphicFrameLocks noGrp="1"/>
          </p:cNvGraphicFramePr>
          <p:nvPr/>
        </p:nvGraphicFramePr>
        <p:xfrm>
          <a:off x="502920" y="4069080"/>
          <a:ext cx="11201400" cy="2487168"/>
        </p:xfrm>
        <a:graphic>
          <a:graphicData uri="http://schemas.openxmlformats.org/drawingml/2006/table">
            <a:tbl>
              <a:tblPr firstRow="1" bandRow="1">
                <a:tableStyleId>{5C22544A-7EE6-4342-B048-85BDC9FD1C3A}</a:tableStyleId>
              </a:tblPr>
              <a:tblGrid>
                <a:gridCol w="2926080"/>
                <a:gridCol w="2011680"/>
                <a:gridCol w="3127248"/>
                <a:gridCol w="3136392"/>
              </a:tblGrid>
              <a:tr h="621792">
                <a:tc>
                  <a:txBody>
                    <a:bodyPr/>
                    <a:lstStyle/>
                    <a:p>
                      <a:pPr algn="l"/>
                      <a:r>
                        <a:rPr sz="1000" b="1">
                          <a:solidFill>
                            <a:srgbClr val="FFFFFF"/>
                          </a:solidFill>
                          <a:latin typeface="Calibri"/>
                        </a:rPr>
                        <a:t>Keyword Type</a:t>
                      </a:r>
                    </a:p>
                  </a:txBody>
                  <a:tcPr>
                    <a:solidFill>
                      <a:srgbClr val="3B82F6"/>
                    </a:solidFill>
                  </a:tcPr>
                </a:tc>
                <a:tc>
                  <a:txBody>
                    <a:bodyPr/>
                    <a:lstStyle/>
                    <a:p>
                      <a:pPr algn="l"/>
                      <a:r>
                        <a:rPr sz="1000" b="1">
                          <a:solidFill>
                            <a:srgbClr val="FFFFFF"/>
                          </a:solidFill>
                          <a:latin typeface="Calibri"/>
                        </a:rPr>
                        <a:t>Avg CPC</a:t>
                      </a:r>
                    </a:p>
                  </a:txBody>
                  <a:tcPr>
                    <a:solidFill>
                      <a:srgbClr val="3B82F6"/>
                    </a:solidFill>
                  </a:tcPr>
                </a:tc>
                <a:tc>
                  <a:txBody>
                    <a:bodyPr/>
                    <a:lstStyle/>
                    <a:p>
                      <a:pPr algn="l"/>
                      <a:r>
                        <a:rPr sz="1000" b="1">
                          <a:solidFill>
                            <a:srgbClr val="FFFFFF"/>
                          </a:solidFill>
                          <a:latin typeface="Calibri"/>
                        </a:rPr>
                        <a:t>Est. Clicks</a:t>
                      </a:r>
                    </a:p>
                  </a:txBody>
                  <a:tcPr>
                    <a:solidFill>
                      <a:srgbClr val="3B82F6"/>
                    </a:solidFill>
                  </a:tcPr>
                </a:tc>
                <a:tc>
                  <a:txBody>
                    <a:bodyPr/>
                    <a:lstStyle/>
                    <a:p>
                      <a:pPr algn="l"/>
                      <a:r>
                        <a:rPr sz="1000" b="1">
                          <a:solidFill>
                            <a:srgbClr val="FFFFFF"/>
                          </a:solidFill>
                          <a:latin typeface="Calibri"/>
                        </a:rPr>
                        <a:t>Est. Impressions</a:t>
                      </a:r>
                    </a:p>
                  </a:txBody>
                  <a:tcPr>
                    <a:solidFill>
                      <a:srgbClr val="3B82F6"/>
                    </a:solidFill>
                  </a:tcPr>
                </a:tc>
              </a:tr>
              <a:tr h="621792">
                <a:tc>
                  <a:txBody>
                    <a:bodyPr/>
                    <a:lstStyle/>
                    <a:p>
                      <a:pPr algn="l"/>
                      <a:r>
                        <a:rPr sz="1000" b="1">
                          <a:solidFill>
                            <a:srgbClr val="1E1E2E"/>
                          </a:solidFill>
                          <a:latin typeface="Calibri"/>
                        </a:rPr>
                        <a:t>Competitor brand keywords</a:t>
                      </a:r>
                    </a:p>
                  </a:txBody>
                  <a:tcPr>
                    <a:solidFill>
                      <a:srgbClr val="EEF2FF"/>
                    </a:solidFill>
                  </a:tcPr>
                </a:tc>
                <a:tc>
                  <a:txBody>
                    <a:bodyPr/>
                    <a:lstStyle/>
                    <a:p>
                      <a:pPr algn="l"/>
                      <a:r>
                        <a:rPr sz="1000" b="0">
                          <a:solidFill>
                            <a:srgbClr val="1E1E2E"/>
                          </a:solidFill>
                          <a:latin typeface="Calibri"/>
                        </a:rPr>
                        <a:t>$1.50–$3.00 CPC</a:t>
                      </a:r>
                    </a:p>
                  </a:txBody>
                  <a:tcPr>
                    <a:solidFill>
                      <a:srgbClr val="EEF2FF"/>
                    </a:solidFill>
                  </a:tcPr>
                </a:tc>
                <a:tc>
                  <a:txBody>
                    <a:bodyPr/>
                    <a:lstStyle/>
                    <a:p>
                      <a:pPr algn="l"/>
                      <a:r>
                        <a:rPr sz="1000" b="0">
                          <a:solidFill>
                            <a:srgbClr val="1E1E2E"/>
                          </a:solidFill>
                          <a:latin typeface="Calibri"/>
                        </a:rPr>
                        <a:t>75–150 clicks / month</a:t>
                      </a:r>
                    </a:p>
                  </a:txBody>
                  <a:tcPr>
                    <a:solidFill>
                      <a:srgbClr val="EEF2FF"/>
                    </a:solidFill>
                  </a:tcPr>
                </a:tc>
                <a:tc>
                  <a:txBody>
                    <a:bodyPr/>
                    <a:lstStyle/>
                    <a:p>
                      <a:pPr algn="l"/>
                      <a:r>
                        <a:rPr sz="1000" b="0">
                          <a:solidFill>
                            <a:srgbClr val="1E1E2E"/>
                          </a:solidFill>
                          <a:latin typeface="Calibri"/>
                        </a:rPr>
                        <a:t>1,500–3,750 impressions</a:t>
                      </a:r>
                    </a:p>
                  </a:txBody>
                  <a:tcPr>
                    <a:solidFill>
                      <a:srgbClr val="EEF2FF"/>
                    </a:solidFill>
                  </a:tcPr>
                </a:tc>
              </a:tr>
              <a:tr h="621792">
                <a:tc>
                  <a:txBody>
                    <a:bodyPr/>
                    <a:lstStyle/>
                    <a:p>
                      <a:pPr algn="l"/>
                      <a:r>
                        <a:rPr sz="1000" b="1">
                          <a:solidFill>
                            <a:srgbClr val="1E1E2E"/>
                          </a:solidFill>
                          <a:latin typeface="Calibri"/>
                        </a:rPr>
                        <a:t>Ad copy angle</a:t>
                      </a:r>
                    </a:p>
                  </a:txBody>
                  <a:tcPr>
                    <a:solidFill>
                      <a:srgbClr val="FFFFFF"/>
                    </a:solidFill>
                  </a:tcPr>
                </a:tc>
                <a:tc>
                  <a:txBody>
                    <a:bodyPr/>
                    <a:lstStyle/>
                    <a:p>
                      <a:pPr algn="l"/>
                      <a:r>
                        <a:rPr sz="1000" b="0">
                          <a:solidFill>
                            <a:srgbClr val="1E1E2E"/>
                          </a:solidFill>
                          <a:latin typeface="Calibri"/>
                        </a:rPr>
                        <a:t>N/A</a:t>
                      </a:r>
                    </a:p>
                  </a:txBody>
                  <a:tcPr>
                    <a:solidFill>
                      <a:srgbClr val="FFFFFF"/>
                    </a:solidFill>
                  </a:tcPr>
                </a:tc>
                <a:tc>
                  <a:txBody>
                    <a:bodyPr/>
                    <a:lstStyle/>
                    <a:p>
                      <a:pPr algn="l"/>
                      <a:r>
                        <a:rPr sz="1000" b="0">
                          <a:solidFill>
                            <a:srgbClr val="1E1E2E"/>
                          </a:solidFill>
                          <a:latin typeface="Calibri"/>
                        </a:rPr>
                        <a:t>"48-hour intake, no waitlist"</a:t>
                      </a:r>
                    </a:p>
                  </a:txBody>
                  <a:tcPr>
                    <a:solidFill>
                      <a:srgbClr val="FFFFFF"/>
                    </a:solidFill>
                  </a:tcPr>
                </a:tc>
                <a:tc>
                  <a:txBody>
                    <a:bodyPr/>
                    <a:lstStyle/>
                    <a:p>
                      <a:pPr algn="l"/>
                      <a:r>
                        <a:rPr sz="1000" b="0">
                          <a:solidFill>
                            <a:srgbClr val="1E1E2E"/>
                          </a:solidFill>
                          <a:latin typeface="Calibri"/>
                        </a:rPr>
                        <a:t>Differentiator vs competitor wait times</a:t>
                      </a:r>
                    </a:p>
                  </a:txBody>
                  <a:tcPr>
                    <a:solidFill>
                      <a:srgbClr val="FFFFFF"/>
                    </a:solidFill>
                  </a:tcPr>
                </a:tc>
              </a:tr>
              <a:tr h="621792">
                <a:tc>
                  <a:txBody>
                    <a:bodyPr/>
                    <a:lstStyle/>
                    <a:p>
                      <a:pPr algn="l"/>
                      <a:r>
                        <a:rPr sz="1000" b="1">
                          <a:solidFill>
                            <a:srgbClr val="FFFFFF"/>
                          </a:solidFill>
                          <a:latin typeface="Calibri"/>
                        </a:rPr>
                        <a:t>TOTAL</a:t>
                      </a:r>
                    </a:p>
                  </a:txBody>
                  <a:tcPr>
                    <a:solidFill>
                      <a:srgbClr val="1E1E2E"/>
                    </a:solidFill>
                  </a:tcPr>
                </a:tc>
                <a:tc>
                  <a:txBody>
                    <a:bodyPr/>
                    <a:lstStyle/>
                    <a:p>
                      <a:pPr algn="l"/>
                      <a:r>
                        <a:rPr sz="1000" b="1">
                          <a:solidFill>
                            <a:srgbClr val="FFFFFF"/>
                          </a:solidFill>
                          <a:latin typeface="Calibri"/>
                        </a:rPr>
                        <a:t>$2.25 avg CPC</a:t>
                      </a:r>
                    </a:p>
                  </a:txBody>
                  <a:tcPr>
                    <a:solidFill>
                      <a:srgbClr val="1E1E2E"/>
                    </a:solidFill>
                  </a:tcPr>
                </a:tc>
                <a:tc>
                  <a:txBody>
                    <a:bodyPr/>
                    <a:lstStyle/>
                    <a:p>
                      <a:pPr algn="l"/>
                      <a:r>
                        <a:rPr sz="1000" b="1">
                          <a:solidFill>
                            <a:srgbClr val="FFFFFF"/>
                          </a:solidFill>
                          <a:latin typeface="Calibri"/>
                        </a:rPr>
                        <a:t>75–150 clicks</a:t>
                      </a:r>
                    </a:p>
                  </a:txBody>
                  <a:tcPr>
                    <a:solidFill>
                      <a:srgbClr val="1E1E2E"/>
                    </a:solidFill>
                  </a:tcPr>
                </a:tc>
                <a:tc>
                  <a:txBody>
                    <a:bodyPr/>
                    <a:lstStyle/>
                    <a:p>
                      <a:pPr algn="l"/>
                      <a:r>
                        <a:rPr sz="1000" b="1">
                          <a:solidFill>
                            <a:srgbClr val="FFFFFF"/>
                          </a:solidFill>
                          <a:latin typeface="Calibri"/>
                        </a:rPr>
                        <a:t>1,500–3,750 impressions</a:t>
                      </a:r>
                    </a:p>
                  </a:txBody>
                  <a:tcPr>
                    <a:solidFill>
                      <a:srgbClr val="1E1E2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Experiment 4 — Display Remarketing</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July 2026  |  Budget: $150–$200/month  |  Platform: Google Display Network</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7</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1463040" cy="31089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996696"/>
            <a:ext cx="1353312" cy="237744"/>
          </a:xfrm>
          <a:prstGeom prst="rect">
            <a:avLst/>
          </a:prstGeom>
          <a:noFill/>
        </p:spPr>
        <p:txBody>
          <a:bodyPr wrap="square">
            <a:spAutoFit/>
          </a:bodyPr>
          <a:lstStyle/>
          <a:p>
            <a:pPr algn="l"/>
            <a:r>
              <a:rPr sz="1000" b="1" i="0">
                <a:solidFill>
                  <a:srgbClr val="FFFFFF"/>
                </a:solidFill>
                <a:latin typeface="Calibri"/>
              </a:rPr>
              <a:t>EXPERIMENT 4</a:t>
            </a:r>
          </a:p>
        </p:txBody>
      </p:sp>
      <p:sp>
        <p:nvSpPr>
          <p:cNvPr id="10" name="TextBox 9"/>
          <p:cNvSpPr txBox="1"/>
          <p:nvPr/>
        </p:nvSpPr>
        <p:spPr>
          <a:xfrm>
            <a:off x="2084831" y="932688"/>
            <a:ext cx="7315200" cy="411480"/>
          </a:xfrm>
          <a:prstGeom prst="rect">
            <a:avLst/>
          </a:prstGeom>
          <a:noFill/>
        </p:spPr>
        <p:txBody>
          <a:bodyPr wrap="square">
            <a:spAutoFit/>
          </a:bodyPr>
          <a:lstStyle/>
          <a:p>
            <a:pPr algn="l"/>
            <a:r>
              <a:rPr sz="2000" b="1" i="0">
                <a:solidFill>
                  <a:srgbClr val="3B82F6"/>
                </a:solidFill>
                <a:latin typeface="Arial Black"/>
              </a:rPr>
              <a:t>Display Remarketing</a:t>
            </a:r>
          </a:p>
        </p:txBody>
      </p:sp>
      <p:sp>
        <p:nvSpPr>
          <p:cNvPr id="11" name="Rectangle 10"/>
          <p:cNvSpPr/>
          <p:nvPr/>
        </p:nvSpPr>
        <p:spPr>
          <a:xfrm>
            <a:off x="502920" y="1417320"/>
            <a:ext cx="557784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44752"/>
            <a:ext cx="5486400" cy="228600"/>
          </a:xfrm>
          <a:prstGeom prst="rect">
            <a:avLst/>
          </a:prstGeom>
          <a:noFill/>
        </p:spPr>
        <p:txBody>
          <a:bodyPr wrap="square">
            <a:spAutoFit/>
          </a:bodyPr>
          <a:lstStyle/>
          <a:p>
            <a:pPr algn="l"/>
            <a:r>
              <a:rPr sz="1000" b="1" i="0">
                <a:solidFill>
                  <a:srgbClr val="FFFFFF"/>
                </a:solidFill>
                <a:latin typeface="Calibri"/>
              </a:rPr>
              <a:t>WHAT IT IS</a:t>
            </a:r>
          </a:p>
        </p:txBody>
      </p:sp>
      <p:sp>
        <p:nvSpPr>
          <p:cNvPr id="13" name="Rectangle 12"/>
          <p:cNvSpPr/>
          <p:nvPr/>
        </p:nvSpPr>
        <p:spPr>
          <a:xfrm>
            <a:off x="502920" y="1691640"/>
            <a:ext cx="557784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5285232" cy="1737360"/>
          </a:xfrm>
          <a:prstGeom prst="rect">
            <a:avLst/>
          </a:prstGeom>
          <a:noFill/>
        </p:spPr>
        <p:txBody>
          <a:bodyPr wrap="square">
            <a:spAutoFit/>
          </a:bodyPr>
          <a:lstStyle/>
          <a:p>
            <a:pPr algn="l"/>
            <a:r>
              <a:rPr sz="1100" b="0" i="0">
                <a:solidFill>
                  <a:srgbClr val="1E1E2E"/>
                </a:solidFill>
                <a:latin typeface="Calibri"/>
              </a:rPr>
              <a:t>Display banner ads shown only to people who have already visited the Wellspring website but did not convert. Ads appear across Google's network of 2M+ partner sites.
This is a brand recall play. Someone who searched, visited, and left — they're still in the consideration window. Staying visible to them at low cost ($3–5 CPM) keeps Wellspring top-of-mind until they are ready to book.</a:t>
            </a:r>
          </a:p>
        </p:txBody>
      </p:sp>
      <p:sp>
        <p:nvSpPr>
          <p:cNvPr id="15" name="Rectangle 14"/>
          <p:cNvSpPr/>
          <p:nvPr/>
        </p:nvSpPr>
        <p:spPr>
          <a:xfrm>
            <a:off x="6309360" y="1417320"/>
            <a:ext cx="544068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44752"/>
            <a:ext cx="5303520" cy="228600"/>
          </a:xfrm>
          <a:prstGeom prst="rect">
            <a:avLst/>
          </a:prstGeom>
          <a:noFill/>
        </p:spPr>
        <p:txBody>
          <a:bodyPr wrap="square">
            <a:spAutoFit/>
          </a:bodyPr>
          <a:lstStyle/>
          <a:p>
            <a:pPr algn="l"/>
            <a:r>
              <a:rPr sz="1000" b="1" i="0">
                <a:solidFill>
                  <a:srgbClr val="FFFFFF"/>
                </a:solidFill>
                <a:latin typeface="Calibri"/>
              </a:rPr>
              <a:t>WHY WE'RE TESTING IT</a:t>
            </a:r>
          </a:p>
        </p:txBody>
      </p:sp>
      <p:sp>
        <p:nvSpPr>
          <p:cNvPr id="17" name="Rectangle 16"/>
          <p:cNvSpPr/>
          <p:nvPr/>
        </p:nvSpPr>
        <p:spPr>
          <a:xfrm>
            <a:off x="6309360" y="1691640"/>
            <a:ext cx="544068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192024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1828800"/>
            <a:ext cx="4983480" cy="365760"/>
          </a:xfrm>
          <a:prstGeom prst="rect">
            <a:avLst/>
          </a:prstGeom>
          <a:noFill/>
        </p:spPr>
        <p:txBody>
          <a:bodyPr wrap="square">
            <a:spAutoFit/>
          </a:bodyPr>
          <a:lstStyle/>
          <a:p>
            <a:pPr algn="l"/>
            <a:r>
              <a:rPr sz="1100" b="0" i="0">
                <a:solidFill>
                  <a:srgbClr val="1E1E2E"/>
                </a:solidFill>
                <a:latin typeface="Calibri"/>
              </a:rPr>
              <a:t>Cheapest way to stay visible to warm audiences ($3–5 CPM vs $5–8 CPC)</a:t>
            </a:r>
          </a:p>
        </p:txBody>
      </p:sp>
      <p:sp>
        <p:nvSpPr>
          <p:cNvPr id="20" name="Oval 19"/>
          <p:cNvSpPr/>
          <p:nvPr/>
        </p:nvSpPr>
        <p:spPr>
          <a:xfrm>
            <a:off x="6446520" y="2340864"/>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2249424"/>
            <a:ext cx="4983480" cy="365760"/>
          </a:xfrm>
          <a:prstGeom prst="rect">
            <a:avLst/>
          </a:prstGeom>
          <a:noFill/>
        </p:spPr>
        <p:txBody>
          <a:bodyPr wrap="square">
            <a:spAutoFit/>
          </a:bodyPr>
          <a:lstStyle/>
          <a:p>
            <a:pPr algn="l"/>
            <a:r>
              <a:rPr sz="1100" b="0" i="0">
                <a:solidFill>
                  <a:srgbClr val="1E1E2E"/>
                </a:solidFill>
                <a:latin typeface="Calibri"/>
              </a:rPr>
              <a:t>Complements every other experiment — retargets people PMax and Search bring in</a:t>
            </a:r>
          </a:p>
        </p:txBody>
      </p:sp>
      <p:sp>
        <p:nvSpPr>
          <p:cNvPr id="22" name="Oval 21"/>
          <p:cNvSpPr/>
          <p:nvPr/>
        </p:nvSpPr>
        <p:spPr>
          <a:xfrm>
            <a:off x="6446520" y="2761488"/>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2" y="2670048"/>
            <a:ext cx="4983480" cy="365760"/>
          </a:xfrm>
          <a:prstGeom prst="rect">
            <a:avLst/>
          </a:prstGeom>
          <a:noFill/>
        </p:spPr>
        <p:txBody>
          <a:bodyPr wrap="square">
            <a:spAutoFit/>
          </a:bodyPr>
          <a:lstStyle/>
          <a:p>
            <a:pPr algn="l"/>
            <a:r>
              <a:rPr sz="1100" b="0" i="0">
                <a:solidFill>
                  <a:srgbClr val="1E1E2E"/>
                </a:solidFill>
                <a:latin typeface="Calibri"/>
              </a:rPr>
              <a:t>Requires minimum ~300 users in the pixel pool — check current site traffic first</a:t>
            </a:r>
          </a:p>
        </p:txBody>
      </p:sp>
      <p:sp>
        <p:nvSpPr>
          <p:cNvPr id="24" name="Oval 23"/>
          <p:cNvSpPr/>
          <p:nvPr/>
        </p:nvSpPr>
        <p:spPr>
          <a:xfrm>
            <a:off x="6446520" y="3182112"/>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3090672"/>
            <a:ext cx="4983480" cy="365760"/>
          </a:xfrm>
          <a:prstGeom prst="rect">
            <a:avLst/>
          </a:prstGeom>
          <a:noFill/>
        </p:spPr>
        <p:txBody>
          <a:bodyPr wrap="square">
            <a:spAutoFit/>
          </a:bodyPr>
          <a:lstStyle/>
          <a:p>
            <a:pPr algn="l"/>
            <a:r>
              <a:rPr sz="1100" b="0" i="0">
                <a:solidFill>
                  <a:srgbClr val="1E1E2E"/>
                </a:solidFill>
                <a:latin typeface="Calibri"/>
              </a:rPr>
              <a:t>This is an impressions play, not a direct lead play</a:t>
            </a:r>
          </a:p>
        </p:txBody>
      </p:sp>
      <p:sp>
        <p:nvSpPr>
          <p:cNvPr id="26" name="Rectangle 25"/>
          <p:cNvSpPr/>
          <p:nvPr/>
        </p:nvSpPr>
        <p:spPr>
          <a:xfrm>
            <a:off x="502920" y="3749039"/>
            <a:ext cx="11201400" cy="29260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85615"/>
            <a:ext cx="10972800" cy="237744"/>
          </a:xfrm>
          <a:prstGeom prst="rect">
            <a:avLst/>
          </a:prstGeom>
          <a:noFill/>
        </p:spPr>
        <p:txBody>
          <a:bodyPr wrap="square">
            <a:spAutoFit/>
          </a:bodyPr>
          <a:lstStyle/>
          <a:p>
            <a:pPr algn="l"/>
            <a:r>
              <a:rPr sz="1100" b="1" i="0">
                <a:solidFill>
                  <a:srgbClr val="FFFFFF"/>
                </a:solidFill>
                <a:latin typeface="Calibri"/>
              </a:rPr>
              <a:t>PROJECTED ENGAGEMENT AT $175/MONTH</a:t>
            </a:r>
          </a:p>
        </p:txBody>
      </p:sp>
      <p:graphicFrame>
        <p:nvGraphicFramePr>
          <p:cNvPr id="28" name="Table 27"/>
          <p:cNvGraphicFramePr>
            <a:graphicFrameLocks noGrp="1"/>
          </p:cNvGraphicFramePr>
          <p:nvPr/>
        </p:nvGraphicFramePr>
        <p:xfrm>
          <a:off x="502920" y="4069080"/>
          <a:ext cx="11201400" cy="2487168"/>
        </p:xfrm>
        <a:graphic>
          <a:graphicData uri="http://schemas.openxmlformats.org/drawingml/2006/table">
            <a:tbl>
              <a:tblPr firstRow="1" bandRow="1">
                <a:tableStyleId>{5C22544A-7EE6-4342-B048-85BDC9FD1C3A}</a:tableStyleId>
              </a:tblPr>
              <a:tblGrid>
                <a:gridCol w="2926080"/>
                <a:gridCol w="3127248"/>
                <a:gridCol w="2395728"/>
                <a:gridCol w="2752344"/>
              </a:tblGrid>
              <a:tr h="621792">
                <a:tc>
                  <a:txBody>
                    <a:bodyPr/>
                    <a:lstStyle/>
                    <a:p>
                      <a:pPr algn="l"/>
                      <a:r>
                        <a:rPr sz="1000" b="1">
                          <a:solidFill>
                            <a:srgbClr val="FFFFFF"/>
                          </a:solidFill>
                          <a:latin typeface="Calibri"/>
                        </a:rPr>
                        <a:t>Format</a:t>
                      </a:r>
                    </a:p>
                  </a:txBody>
                  <a:tcPr>
                    <a:solidFill>
                      <a:srgbClr val="3B82F6"/>
                    </a:solidFill>
                  </a:tcPr>
                </a:tc>
                <a:tc>
                  <a:txBody>
                    <a:bodyPr/>
                    <a:lstStyle/>
                    <a:p>
                      <a:pPr algn="l"/>
                      <a:r>
                        <a:rPr sz="1000" b="1">
                          <a:solidFill>
                            <a:srgbClr val="FFFFFF"/>
                          </a:solidFill>
                          <a:latin typeface="Calibri"/>
                        </a:rPr>
                        <a:t>Cost Basis</a:t>
                      </a:r>
                    </a:p>
                  </a:txBody>
                  <a:tcPr>
                    <a:solidFill>
                      <a:srgbClr val="3B82F6"/>
                    </a:solidFill>
                  </a:tcPr>
                </a:tc>
                <a:tc>
                  <a:txBody>
                    <a:bodyPr/>
                    <a:lstStyle/>
                    <a:p>
                      <a:pPr algn="l"/>
                      <a:r>
                        <a:rPr sz="1000" b="1">
                          <a:solidFill>
                            <a:srgbClr val="FFFFFF"/>
                          </a:solidFill>
                          <a:latin typeface="Calibri"/>
                        </a:rPr>
                        <a:t>Est. Clicks</a:t>
                      </a:r>
                    </a:p>
                  </a:txBody>
                  <a:tcPr>
                    <a:solidFill>
                      <a:srgbClr val="3B82F6"/>
                    </a:solidFill>
                  </a:tcPr>
                </a:tc>
                <a:tc>
                  <a:txBody>
                    <a:bodyPr/>
                    <a:lstStyle/>
                    <a:p>
                      <a:pPr algn="l"/>
                      <a:r>
                        <a:rPr sz="1000" b="1">
                          <a:solidFill>
                            <a:srgbClr val="FFFFFF"/>
                          </a:solidFill>
                          <a:latin typeface="Calibri"/>
                        </a:rPr>
                        <a:t>Est. Impressions</a:t>
                      </a:r>
                    </a:p>
                  </a:txBody>
                  <a:tcPr>
                    <a:solidFill>
                      <a:srgbClr val="3B82F6"/>
                    </a:solidFill>
                  </a:tcPr>
                </a:tc>
              </a:tr>
              <a:tr h="621792">
                <a:tc>
                  <a:txBody>
                    <a:bodyPr/>
                    <a:lstStyle/>
                    <a:p>
                      <a:pPr algn="l"/>
                      <a:r>
                        <a:rPr sz="1000" b="1">
                          <a:solidFill>
                            <a:srgbClr val="1E1E2E"/>
                          </a:solidFill>
                          <a:latin typeface="Calibri"/>
                        </a:rPr>
                        <a:t>Display banners (GDN)</a:t>
                      </a:r>
                    </a:p>
                  </a:txBody>
                  <a:tcPr>
                    <a:solidFill>
                      <a:srgbClr val="EEF2FF"/>
                    </a:solidFill>
                  </a:tcPr>
                </a:tc>
                <a:tc>
                  <a:txBody>
                    <a:bodyPr/>
                    <a:lstStyle/>
                    <a:p>
                      <a:pPr algn="l"/>
                      <a:r>
                        <a:rPr sz="1000" b="0">
                          <a:solidFill>
                            <a:srgbClr val="1E1E2E"/>
                          </a:solidFill>
                          <a:latin typeface="Calibri"/>
                        </a:rPr>
                        <a:t>$3–5 CPM</a:t>
                      </a:r>
                    </a:p>
                  </a:txBody>
                  <a:tcPr>
                    <a:solidFill>
                      <a:srgbClr val="EEF2FF"/>
                    </a:solidFill>
                  </a:tcPr>
                </a:tc>
                <a:tc>
                  <a:txBody>
                    <a:bodyPr/>
                    <a:lstStyle/>
                    <a:p>
                      <a:pPr algn="l"/>
                      <a:r>
                        <a:rPr sz="1000" b="0">
                          <a:solidFill>
                            <a:srgbClr val="1E1E2E"/>
                          </a:solidFill>
                          <a:latin typeface="Calibri"/>
                        </a:rPr>
                        <a:t>350–500 clicks</a:t>
                      </a:r>
                    </a:p>
                  </a:txBody>
                  <a:tcPr>
                    <a:solidFill>
                      <a:srgbClr val="EEF2FF"/>
                    </a:solidFill>
                  </a:tcPr>
                </a:tc>
                <a:tc>
                  <a:txBody>
                    <a:bodyPr/>
                    <a:lstStyle/>
                    <a:p>
                      <a:pPr algn="l"/>
                      <a:r>
                        <a:rPr sz="1000" b="0">
                          <a:solidFill>
                            <a:srgbClr val="1E1E2E"/>
                          </a:solidFill>
                          <a:latin typeface="Calibri"/>
                        </a:rPr>
                        <a:t>35,000–58,000 impressions</a:t>
                      </a:r>
                    </a:p>
                  </a:txBody>
                  <a:tcPr>
                    <a:solidFill>
                      <a:srgbClr val="EEF2FF"/>
                    </a:solidFill>
                  </a:tcPr>
                </a:tc>
              </a:tr>
              <a:tr h="621792">
                <a:tc>
                  <a:txBody>
                    <a:bodyPr/>
                    <a:lstStyle/>
                    <a:p>
                      <a:pPr algn="l"/>
                      <a:r>
                        <a:rPr sz="1000" b="1">
                          <a:solidFill>
                            <a:srgbClr val="1E1E2E"/>
                          </a:solidFill>
                          <a:latin typeface="Calibri"/>
                        </a:rPr>
                        <a:t>Audience</a:t>
                      </a:r>
                    </a:p>
                  </a:txBody>
                  <a:tcPr>
                    <a:solidFill>
                      <a:srgbClr val="FFFFFF"/>
                    </a:solidFill>
                  </a:tcPr>
                </a:tc>
                <a:tc>
                  <a:txBody>
                    <a:bodyPr/>
                    <a:lstStyle/>
                    <a:p>
                      <a:pPr algn="l"/>
                      <a:r>
                        <a:rPr sz="1000" b="0">
                          <a:solidFill>
                            <a:srgbClr val="1E1E2E"/>
                          </a:solidFill>
                          <a:latin typeface="Calibri"/>
                        </a:rPr>
                        <a:t>Website visitors who did not convert</a:t>
                      </a:r>
                    </a:p>
                  </a:txBody>
                  <a:tcPr>
                    <a:solidFill>
                      <a:srgbClr val="FFFFFF"/>
                    </a:solidFill>
                  </a:tcPr>
                </a:tc>
                <a:tc>
                  <a:txBody>
                    <a:bodyPr/>
                    <a:lstStyle/>
                    <a:p>
                      <a:pPr algn="l"/>
                      <a:r>
                        <a:rPr sz="1000" b="0">
                          <a:solidFill>
                            <a:srgbClr val="1E1E2E"/>
                          </a:solidFill>
                          <a:latin typeface="Calibri"/>
                        </a:rPr>
                        <a:t>Warm — already know Wellspring</a:t>
                      </a:r>
                    </a:p>
                  </a:txBody>
                  <a:tcPr>
                    <a:solidFill>
                      <a:srgbClr val="FFFFFF"/>
                    </a:solidFill>
                  </a:tcPr>
                </a:tc>
                <a:tc>
                  <a:txBody>
                    <a:bodyPr/>
                    <a:lstStyle/>
                    <a:p>
                      <a:pPr algn="l"/>
                      <a:r>
                        <a:rPr sz="1000" b="0">
                          <a:solidFill>
                            <a:srgbClr val="1E1E2E"/>
                          </a:solidFill>
                          <a:latin typeface="Calibri"/>
                        </a:rPr>
                        <a:t/>
                      </a:r>
                    </a:p>
                  </a:txBody>
                  <a:tcPr>
                    <a:solidFill>
                      <a:srgbClr val="FFFFFF"/>
                    </a:solidFill>
                  </a:tcPr>
                </a:tc>
              </a:tr>
              <a:tr h="621792">
                <a:tc>
                  <a:txBody>
                    <a:bodyPr/>
                    <a:lstStyle/>
                    <a:p>
                      <a:pPr algn="l"/>
                      <a:r>
                        <a:rPr sz="1000" b="1">
                          <a:solidFill>
                            <a:srgbClr val="FFFFFF"/>
                          </a:solidFill>
                          <a:latin typeface="Calibri"/>
                        </a:rPr>
                        <a:t>TOTAL</a:t>
                      </a:r>
                    </a:p>
                  </a:txBody>
                  <a:tcPr>
                    <a:solidFill>
                      <a:srgbClr val="1E1E2E"/>
                    </a:solidFill>
                  </a:tcPr>
                </a:tc>
                <a:tc>
                  <a:txBody>
                    <a:bodyPr/>
                    <a:lstStyle/>
                    <a:p>
                      <a:pPr algn="l"/>
                      <a:r>
                        <a:rPr sz="1000" b="1">
                          <a:solidFill>
                            <a:srgbClr val="FFFFFF"/>
                          </a:solidFill>
                          <a:latin typeface="Calibri"/>
                        </a:rPr>
                        <a:t>$4 avg CPM</a:t>
                      </a:r>
                    </a:p>
                  </a:txBody>
                  <a:tcPr>
                    <a:solidFill>
                      <a:srgbClr val="1E1E2E"/>
                    </a:solidFill>
                  </a:tcPr>
                </a:tc>
                <a:tc>
                  <a:txBody>
                    <a:bodyPr/>
                    <a:lstStyle/>
                    <a:p>
                      <a:pPr algn="l"/>
                      <a:r>
                        <a:rPr sz="1000" b="1">
                          <a:solidFill>
                            <a:srgbClr val="FFFFFF"/>
                          </a:solidFill>
                          <a:latin typeface="Calibri"/>
                        </a:rPr>
                        <a:t>350–500 clicks</a:t>
                      </a:r>
                    </a:p>
                  </a:txBody>
                  <a:tcPr>
                    <a:solidFill>
                      <a:srgbClr val="1E1E2E"/>
                    </a:solidFill>
                  </a:tcPr>
                </a:tc>
                <a:tc>
                  <a:txBody>
                    <a:bodyPr/>
                    <a:lstStyle/>
                    <a:p>
                      <a:pPr algn="l"/>
                      <a:r>
                        <a:rPr sz="1000" b="1">
                          <a:solidFill>
                            <a:srgbClr val="FFFFFF"/>
                          </a:solidFill>
                          <a:latin typeface="Calibri"/>
                        </a:rPr>
                        <a:t>35,000–58,000 impressions</a:t>
                      </a:r>
                    </a:p>
                  </a:txBody>
                  <a:tcPr>
                    <a:solidFill>
                      <a:srgbClr val="1E1E2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Experiment 5 — Bing / Microsoft Ads</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August 2026  |  Budget: $150–$200/month  |  Platform: Microsoft Advertising</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8</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1463040" cy="31089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996696"/>
            <a:ext cx="1353312" cy="237744"/>
          </a:xfrm>
          <a:prstGeom prst="rect">
            <a:avLst/>
          </a:prstGeom>
          <a:noFill/>
        </p:spPr>
        <p:txBody>
          <a:bodyPr wrap="square">
            <a:spAutoFit/>
          </a:bodyPr>
          <a:lstStyle/>
          <a:p>
            <a:pPr algn="l"/>
            <a:r>
              <a:rPr sz="1000" b="1" i="0">
                <a:solidFill>
                  <a:srgbClr val="FFFFFF"/>
                </a:solidFill>
                <a:latin typeface="Calibri"/>
              </a:rPr>
              <a:t>EXPERIMENT 5</a:t>
            </a:r>
          </a:p>
        </p:txBody>
      </p:sp>
      <p:sp>
        <p:nvSpPr>
          <p:cNvPr id="10" name="TextBox 9"/>
          <p:cNvSpPr txBox="1"/>
          <p:nvPr/>
        </p:nvSpPr>
        <p:spPr>
          <a:xfrm>
            <a:off x="2084831" y="932688"/>
            <a:ext cx="7315200" cy="411480"/>
          </a:xfrm>
          <a:prstGeom prst="rect">
            <a:avLst/>
          </a:prstGeom>
          <a:noFill/>
        </p:spPr>
        <p:txBody>
          <a:bodyPr wrap="square">
            <a:spAutoFit/>
          </a:bodyPr>
          <a:lstStyle/>
          <a:p>
            <a:pPr algn="l"/>
            <a:r>
              <a:rPr sz="2000" b="1" i="0">
                <a:solidFill>
                  <a:srgbClr val="6366F1"/>
                </a:solidFill>
                <a:latin typeface="Arial Black"/>
              </a:rPr>
              <a:t>Bing / Microsoft Ads</a:t>
            </a:r>
          </a:p>
        </p:txBody>
      </p:sp>
      <p:sp>
        <p:nvSpPr>
          <p:cNvPr id="11" name="Rectangle 10"/>
          <p:cNvSpPr/>
          <p:nvPr/>
        </p:nvSpPr>
        <p:spPr>
          <a:xfrm>
            <a:off x="502920" y="1417320"/>
            <a:ext cx="5577840" cy="274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44752"/>
            <a:ext cx="5486400" cy="228600"/>
          </a:xfrm>
          <a:prstGeom prst="rect">
            <a:avLst/>
          </a:prstGeom>
          <a:noFill/>
        </p:spPr>
        <p:txBody>
          <a:bodyPr wrap="square">
            <a:spAutoFit/>
          </a:bodyPr>
          <a:lstStyle/>
          <a:p>
            <a:pPr algn="l"/>
            <a:r>
              <a:rPr sz="1000" b="1" i="0">
                <a:solidFill>
                  <a:srgbClr val="FFFFFF"/>
                </a:solidFill>
                <a:latin typeface="Calibri"/>
              </a:rPr>
              <a:t>WHAT IT IS</a:t>
            </a:r>
          </a:p>
        </p:txBody>
      </p:sp>
      <p:sp>
        <p:nvSpPr>
          <p:cNvPr id="13" name="Rectangle 12"/>
          <p:cNvSpPr/>
          <p:nvPr/>
        </p:nvSpPr>
        <p:spPr>
          <a:xfrm>
            <a:off x="502920" y="1691640"/>
            <a:ext cx="557784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5285232" cy="1737360"/>
          </a:xfrm>
          <a:prstGeom prst="rect">
            <a:avLst/>
          </a:prstGeom>
          <a:noFill/>
        </p:spPr>
        <p:txBody>
          <a:bodyPr wrap="square">
            <a:spAutoFit/>
          </a:bodyPr>
          <a:lstStyle/>
          <a:p>
            <a:pPr algn="l"/>
            <a:r>
              <a:rPr sz="1100" b="0" i="0">
                <a:solidFill>
                  <a:srgbClr val="1E1E2E"/>
                </a:solidFill>
                <a:latin typeface="Calibri"/>
              </a:rPr>
              <a:t>Run the same keywords as current Google Search campaigns on Microsoft's Bing search engine. Setup takes ~30 minutes via the Google Ads import tool — no new copy or keyword research needed.
Bing holds 6–8% of US search market share nationally but over-indexes for 45+ users in suburban Michigan — aligning closely with Wellspring's commercially insured target demographic.</a:t>
            </a:r>
          </a:p>
        </p:txBody>
      </p:sp>
      <p:sp>
        <p:nvSpPr>
          <p:cNvPr id="15" name="Rectangle 14"/>
          <p:cNvSpPr/>
          <p:nvPr/>
        </p:nvSpPr>
        <p:spPr>
          <a:xfrm>
            <a:off x="6309360" y="1417320"/>
            <a:ext cx="5440680" cy="274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44752"/>
            <a:ext cx="5303520" cy="228600"/>
          </a:xfrm>
          <a:prstGeom prst="rect">
            <a:avLst/>
          </a:prstGeom>
          <a:noFill/>
        </p:spPr>
        <p:txBody>
          <a:bodyPr wrap="square">
            <a:spAutoFit/>
          </a:bodyPr>
          <a:lstStyle/>
          <a:p>
            <a:pPr algn="l"/>
            <a:r>
              <a:rPr sz="1000" b="1" i="0">
                <a:solidFill>
                  <a:srgbClr val="FFFFFF"/>
                </a:solidFill>
                <a:latin typeface="Calibri"/>
              </a:rPr>
              <a:t>WHY WE'RE TESTING IT</a:t>
            </a:r>
          </a:p>
        </p:txBody>
      </p:sp>
      <p:sp>
        <p:nvSpPr>
          <p:cNvPr id="17" name="Rectangle 16"/>
          <p:cNvSpPr/>
          <p:nvPr/>
        </p:nvSpPr>
        <p:spPr>
          <a:xfrm>
            <a:off x="6309360" y="1691640"/>
            <a:ext cx="544068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1920240"/>
            <a:ext cx="109728" cy="10972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1828800"/>
            <a:ext cx="4983480" cy="365760"/>
          </a:xfrm>
          <a:prstGeom prst="rect">
            <a:avLst/>
          </a:prstGeom>
          <a:noFill/>
        </p:spPr>
        <p:txBody>
          <a:bodyPr wrap="square">
            <a:spAutoFit/>
          </a:bodyPr>
          <a:lstStyle/>
          <a:p>
            <a:pPr algn="l"/>
            <a:r>
              <a:rPr sz="1100" b="0" i="0">
                <a:solidFill>
                  <a:srgbClr val="1E1E2E"/>
                </a:solidFill>
                <a:latin typeface="Calibri"/>
              </a:rPr>
              <a:t>CPCs typically 30–50% lower than Google for the same keywords</a:t>
            </a:r>
          </a:p>
        </p:txBody>
      </p:sp>
      <p:sp>
        <p:nvSpPr>
          <p:cNvPr id="20" name="Oval 19"/>
          <p:cNvSpPr/>
          <p:nvPr/>
        </p:nvSpPr>
        <p:spPr>
          <a:xfrm>
            <a:off x="6446520" y="2340864"/>
            <a:ext cx="109728" cy="10972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2249424"/>
            <a:ext cx="4983480" cy="365760"/>
          </a:xfrm>
          <a:prstGeom prst="rect">
            <a:avLst/>
          </a:prstGeom>
          <a:noFill/>
        </p:spPr>
        <p:txBody>
          <a:bodyPr wrap="square">
            <a:spAutoFit/>
          </a:bodyPr>
          <a:lstStyle/>
          <a:p>
            <a:pPr algn="l"/>
            <a:r>
              <a:rPr sz="1100" b="0" i="0">
                <a:solidFill>
                  <a:srgbClr val="1E1E2E"/>
                </a:solidFill>
                <a:latin typeface="Calibri"/>
              </a:rPr>
              <a:t>45+ demographic skew = higher commercial insurance prevalence in audience</a:t>
            </a:r>
          </a:p>
        </p:txBody>
      </p:sp>
      <p:sp>
        <p:nvSpPr>
          <p:cNvPr id="22" name="Oval 21"/>
          <p:cNvSpPr/>
          <p:nvPr/>
        </p:nvSpPr>
        <p:spPr>
          <a:xfrm>
            <a:off x="6446520" y="2761488"/>
            <a:ext cx="109728" cy="10972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2" y="2670048"/>
            <a:ext cx="4983480" cy="365760"/>
          </a:xfrm>
          <a:prstGeom prst="rect">
            <a:avLst/>
          </a:prstGeom>
          <a:noFill/>
        </p:spPr>
        <p:txBody>
          <a:bodyPr wrap="square">
            <a:spAutoFit/>
          </a:bodyPr>
          <a:lstStyle/>
          <a:p>
            <a:pPr algn="l"/>
            <a:r>
              <a:rPr sz="1100" b="0" i="0">
                <a:solidFill>
                  <a:srgbClr val="1E1E2E"/>
                </a:solidFill>
                <a:latin typeface="Calibri"/>
              </a:rPr>
              <a:t>Lowest-effort experiment — import from Google Ads in one click</a:t>
            </a:r>
          </a:p>
        </p:txBody>
      </p:sp>
      <p:sp>
        <p:nvSpPr>
          <p:cNvPr id="24" name="Oval 23"/>
          <p:cNvSpPr/>
          <p:nvPr/>
        </p:nvSpPr>
        <p:spPr>
          <a:xfrm>
            <a:off x="6446520" y="3182112"/>
            <a:ext cx="109728" cy="10972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3090672"/>
            <a:ext cx="4983480" cy="365760"/>
          </a:xfrm>
          <a:prstGeom prst="rect">
            <a:avLst/>
          </a:prstGeom>
          <a:noFill/>
        </p:spPr>
        <p:txBody>
          <a:bodyPr wrap="square">
            <a:spAutoFit/>
          </a:bodyPr>
          <a:lstStyle/>
          <a:p>
            <a:pPr algn="l"/>
            <a:r>
              <a:rPr sz="1100" b="0" i="0">
                <a:solidFill>
                  <a:srgbClr val="1E1E2E"/>
                </a:solidFill>
                <a:latin typeface="Calibri"/>
              </a:rPr>
              <a:t>Bing users are less price-sensitive, less likely to be on Medicaid</a:t>
            </a:r>
          </a:p>
        </p:txBody>
      </p:sp>
      <p:sp>
        <p:nvSpPr>
          <p:cNvPr id="26" name="Rectangle 25"/>
          <p:cNvSpPr/>
          <p:nvPr/>
        </p:nvSpPr>
        <p:spPr>
          <a:xfrm>
            <a:off x="502920" y="3749039"/>
            <a:ext cx="11201400" cy="29260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85615"/>
            <a:ext cx="10972800" cy="237744"/>
          </a:xfrm>
          <a:prstGeom prst="rect">
            <a:avLst/>
          </a:prstGeom>
          <a:noFill/>
        </p:spPr>
        <p:txBody>
          <a:bodyPr wrap="square">
            <a:spAutoFit/>
          </a:bodyPr>
          <a:lstStyle/>
          <a:p>
            <a:pPr algn="l"/>
            <a:r>
              <a:rPr sz="1100" b="1" i="0">
                <a:solidFill>
                  <a:srgbClr val="FFFFFF"/>
                </a:solidFill>
                <a:latin typeface="Calibri"/>
              </a:rPr>
              <a:t>PROJECTED ENGAGEMENT AT $175/MONTH</a:t>
            </a:r>
          </a:p>
        </p:txBody>
      </p:sp>
      <p:graphicFrame>
        <p:nvGraphicFramePr>
          <p:cNvPr id="28" name="Table 27"/>
          <p:cNvGraphicFramePr>
            <a:graphicFrameLocks noGrp="1"/>
          </p:cNvGraphicFramePr>
          <p:nvPr/>
        </p:nvGraphicFramePr>
        <p:xfrm>
          <a:off x="502920" y="4069080"/>
          <a:ext cx="11201400" cy="2487168"/>
        </p:xfrm>
        <a:graphic>
          <a:graphicData uri="http://schemas.openxmlformats.org/drawingml/2006/table">
            <a:tbl>
              <a:tblPr firstRow="1" bandRow="1">
                <a:tableStyleId>{5C22544A-7EE6-4342-B048-85BDC9FD1C3A}</a:tableStyleId>
              </a:tblPr>
              <a:tblGrid>
                <a:gridCol w="2286000"/>
                <a:gridCol w="3310128"/>
                <a:gridCol w="2395728"/>
                <a:gridCol w="3209544"/>
              </a:tblGrid>
              <a:tr h="621792">
                <a:tc>
                  <a:txBody>
                    <a:bodyPr/>
                    <a:lstStyle/>
                    <a:p>
                      <a:pPr algn="l"/>
                      <a:r>
                        <a:rPr sz="1000" b="1">
                          <a:solidFill>
                            <a:srgbClr val="FFFFFF"/>
                          </a:solidFill>
                          <a:latin typeface="Calibri"/>
                        </a:rPr>
                        <a:t>Channel</a:t>
                      </a:r>
                    </a:p>
                  </a:txBody>
                  <a:tcPr>
                    <a:solidFill>
                      <a:srgbClr val="6366F1"/>
                    </a:solidFill>
                  </a:tcPr>
                </a:tc>
                <a:tc>
                  <a:txBody>
                    <a:bodyPr/>
                    <a:lstStyle/>
                    <a:p>
                      <a:pPr algn="l"/>
                      <a:r>
                        <a:rPr sz="1000" b="1">
                          <a:solidFill>
                            <a:srgbClr val="FFFFFF"/>
                          </a:solidFill>
                          <a:latin typeface="Calibri"/>
                        </a:rPr>
                        <a:t>Cost Basis</a:t>
                      </a:r>
                    </a:p>
                  </a:txBody>
                  <a:tcPr>
                    <a:solidFill>
                      <a:srgbClr val="6366F1"/>
                    </a:solidFill>
                  </a:tcPr>
                </a:tc>
                <a:tc>
                  <a:txBody>
                    <a:bodyPr/>
                    <a:lstStyle/>
                    <a:p>
                      <a:pPr algn="l"/>
                      <a:r>
                        <a:rPr sz="1000" b="1">
                          <a:solidFill>
                            <a:srgbClr val="FFFFFF"/>
                          </a:solidFill>
                          <a:latin typeface="Calibri"/>
                        </a:rPr>
                        <a:t>Est. Clicks</a:t>
                      </a:r>
                    </a:p>
                  </a:txBody>
                  <a:tcPr>
                    <a:solidFill>
                      <a:srgbClr val="6366F1"/>
                    </a:solidFill>
                  </a:tcPr>
                </a:tc>
                <a:tc>
                  <a:txBody>
                    <a:bodyPr/>
                    <a:lstStyle/>
                    <a:p>
                      <a:pPr algn="l"/>
                      <a:r>
                        <a:rPr sz="1000" b="1">
                          <a:solidFill>
                            <a:srgbClr val="FFFFFF"/>
                          </a:solidFill>
                          <a:latin typeface="Calibri"/>
                        </a:rPr>
                        <a:t>Est. Impressions</a:t>
                      </a:r>
                    </a:p>
                  </a:txBody>
                  <a:tcPr>
                    <a:solidFill>
                      <a:srgbClr val="6366F1"/>
                    </a:solidFill>
                  </a:tcPr>
                </a:tc>
              </a:tr>
              <a:tr h="621792">
                <a:tc>
                  <a:txBody>
                    <a:bodyPr/>
                    <a:lstStyle/>
                    <a:p>
                      <a:pPr algn="l"/>
                      <a:r>
                        <a:rPr sz="1000" b="1">
                          <a:solidFill>
                            <a:srgbClr val="1E1E2E"/>
                          </a:solidFill>
                          <a:latin typeface="Calibri"/>
                        </a:rPr>
                        <a:t>Search (Bing)</a:t>
                      </a:r>
                    </a:p>
                  </a:txBody>
                  <a:tcPr>
                    <a:solidFill>
                      <a:srgbClr val="EEF2FF"/>
                    </a:solidFill>
                  </a:tcPr>
                </a:tc>
                <a:tc>
                  <a:txBody>
                    <a:bodyPr/>
                    <a:lstStyle/>
                    <a:p>
                      <a:pPr algn="l"/>
                      <a:r>
                        <a:rPr sz="1000" b="0">
                          <a:solidFill>
                            <a:srgbClr val="1E1E2E"/>
                          </a:solidFill>
                          <a:latin typeface="Calibri"/>
                        </a:rPr>
                        <a:t>$3–5 CPC (40% lower than Google)</a:t>
                      </a:r>
                    </a:p>
                  </a:txBody>
                  <a:tcPr>
                    <a:solidFill>
                      <a:srgbClr val="EEF2FF"/>
                    </a:solidFill>
                  </a:tcPr>
                </a:tc>
                <a:tc>
                  <a:txBody>
                    <a:bodyPr/>
                    <a:lstStyle/>
                    <a:p>
                      <a:pPr algn="l"/>
                      <a:r>
                        <a:rPr sz="1000" b="0">
                          <a:solidFill>
                            <a:srgbClr val="1E1E2E"/>
                          </a:solidFill>
                          <a:latin typeface="Calibri"/>
                        </a:rPr>
                        <a:t>35–58 clicks / month</a:t>
                      </a:r>
                    </a:p>
                  </a:txBody>
                  <a:tcPr>
                    <a:solidFill>
                      <a:srgbClr val="EEF2FF"/>
                    </a:solidFill>
                  </a:tcPr>
                </a:tc>
                <a:tc>
                  <a:txBody>
                    <a:bodyPr/>
                    <a:lstStyle/>
                    <a:p>
                      <a:pPr algn="l"/>
                      <a:r>
                        <a:rPr sz="1000" b="0">
                          <a:solidFill>
                            <a:srgbClr val="1E1E2E"/>
                          </a:solidFill>
                          <a:latin typeface="Calibri"/>
                        </a:rPr>
                        <a:t>700–1,400 impressions</a:t>
                      </a:r>
                    </a:p>
                  </a:txBody>
                  <a:tcPr>
                    <a:solidFill>
                      <a:srgbClr val="EEF2FF"/>
                    </a:solidFill>
                  </a:tcPr>
                </a:tc>
              </a:tr>
              <a:tr h="621792">
                <a:tc>
                  <a:txBody>
                    <a:bodyPr/>
                    <a:lstStyle/>
                    <a:p>
                      <a:pPr algn="l"/>
                      <a:r>
                        <a:rPr sz="1000" b="1">
                          <a:solidFill>
                            <a:srgbClr val="1E1E2E"/>
                          </a:solidFill>
                          <a:latin typeface="Calibri"/>
                        </a:rPr>
                        <a:t>Demographic skew</a:t>
                      </a:r>
                    </a:p>
                  </a:txBody>
                  <a:tcPr>
                    <a:solidFill>
                      <a:srgbClr val="FFFFFF"/>
                    </a:solidFill>
                  </a:tcPr>
                </a:tc>
                <a:tc>
                  <a:txBody>
                    <a:bodyPr/>
                    <a:lstStyle/>
                    <a:p>
                      <a:pPr algn="l"/>
                      <a:r>
                        <a:rPr sz="1000" b="0">
                          <a:solidFill>
                            <a:srgbClr val="1E1E2E"/>
                          </a:solidFill>
                          <a:latin typeface="Calibri"/>
                        </a:rPr>
                        <a:t>45+ suburban Michigan</a:t>
                      </a:r>
                    </a:p>
                  </a:txBody>
                  <a:tcPr>
                    <a:solidFill>
                      <a:srgbClr val="FFFFFF"/>
                    </a:solidFill>
                  </a:tcPr>
                </a:tc>
                <a:tc>
                  <a:txBody>
                    <a:bodyPr/>
                    <a:lstStyle/>
                    <a:p>
                      <a:pPr algn="l"/>
                      <a:r>
                        <a:rPr sz="1000" b="0">
                          <a:solidFill>
                            <a:srgbClr val="1E1E2E"/>
                          </a:solidFill>
                          <a:latin typeface="Calibri"/>
                        </a:rPr>
                        <a:t>Commercially insured</a:t>
                      </a:r>
                    </a:p>
                  </a:txBody>
                  <a:tcPr>
                    <a:solidFill>
                      <a:srgbClr val="FFFFFF"/>
                    </a:solidFill>
                  </a:tcPr>
                </a:tc>
                <a:tc>
                  <a:txBody>
                    <a:bodyPr/>
                    <a:lstStyle/>
                    <a:p>
                      <a:pPr algn="l"/>
                      <a:r>
                        <a:rPr sz="1000" b="0">
                          <a:solidFill>
                            <a:srgbClr val="1E1E2E"/>
                          </a:solidFill>
                          <a:latin typeface="Calibri"/>
                        </a:rPr>
                        <a:t>Lower Medicaid overlap than Google</a:t>
                      </a:r>
                    </a:p>
                  </a:txBody>
                  <a:tcPr>
                    <a:solidFill>
                      <a:srgbClr val="FFFFFF"/>
                    </a:solidFill>
                  </a:tcPr>
                </a:tc>
              </a:tr>
              <a:tr h="621792">
                <a:tc>
                  <a:txBody>
                    <a:bodyPr/>
                    <a:lstStyle/>
                    <a:p>
                      <a:pPr algn="l"/>
                      <a:r>
                        <a:rPr sz="1000" b="1">
                          <a:solidFill>
                            <a:srgbClr val="FFFFFF"/>
                          </a:solidFill>
                          <a:latin typeface="Calibri"/>
                        </a:rPr>
                        <a:t>TOTAL</a:t>
                      </a:r>
                    </a:p>
                  </a:txBody>
                  <a:tcPr>
                    <a:solidFill>
                      <a:srgbClr val="1E1E2E"/>
                    </a:solidFill>
                  </a:tcPr>
                </a:tc>
                <a:tc>
                  <a:txBody>
                    <a:bodyPr/>
                    <a:lstStyle/>
                    <a:p>
                      <a:pPr algn="l"/>
                      <a:r>
                        <a:rPr sz="1000" b="1">
                          <a:solidFill>
                            <a:srgbClr val="FFFFFF"/>
                          </a:solidFill>
                          <a:latin typeface="Calibri"/>
                        </a:rPr>
                        <a:t>$4 avg CPC</a:t>
                      </a:r>
                    </a:p>
                  </a:txBody>
                  <a:tcPr>
                    <a:solidFill>
                      <a:srgbClr val="1E1E2E"/>
                    </a:solidFill>
                  </a:tcPr>
                </a:tc>
                <a:tc>
                  <a:txBody>
                    <a:bodyPr/>
                    <a:lstStyle/>
                    <a:p>
                      <a:pPr algn="l"/>
                      <a:r>
                        <a:rPr sz="1000" b="1">
                          <a:solidFill>
                            <a:srgbClr val="FFFFFF"/>
                          </a:solidFill>
                          <a:latin typeface="Calibri"/>
                        </a:rPr>
                        <a:t>35–58 clicks</a:t>
                      </a:r>
                    </a:p>
                  </a:txBody>
                  <a:tcPr>
                    <a:solidFill>
                      <a:srgbClr val="1E1E2E"/>
                    </a:solidFill>
                  </a:tcPr>
                </a:tc>
                <a:tc>
                  <a:txBody>
                    <a:bodyPr/>
                    <a:lstStyle/>
                    <a:p>
                      <a:pPr algn="l"/>
                      <a:r>
                        <a:rPr sz="1000" b="1">
                          <a:solidFill>
                            <a:srgbClr val="FFFFFF"/>
                          </a:solidFill>
                          <a:latin typeface="Calibri"/>
                        </a:rPr>
                        <a:t>700–1,400 impressions</a:t>
                      </a:r>
                    </a:p>
                  </a:txBody>
                  <a:tcPr>
                    <a:solidFill>
                      <a:srgbClr val="1E1E2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3-Month Experiment Timeline</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When each experiment launches, runs, and produces readable data</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9</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3749039" y="960120"/>
            <a:ext cx="2578608" cy="38404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79" y="996696"/>
            <a:ext cx="2468879" cy="292608"/>
          </a:xfrm>
          <a:prstGeom prst="rect">
            <a:avLst/>
          </a:prstGeom>
          <a:noFill/>
        </p:spPr>
        <p:txBody>
          <a:bodyPr wrap="square">
            <a:spAutoFit/>
          </a:bodyPr>
          <a:lstStyle/>
          <a:p>
            <a:pPr algn="ctr"/>
            <a:r>
              <a:rPr sz="1200" b="1" i="0">
                <a:solidFill>
                  <a:srgbClr val="FFFFFF"/>
                </a:solidFill>
                <a:latin typeface="Calibri"/>
              </a:rPr>
              <a:t>JUNE 2026</a:t>
            </a:r>
          </a:p>
        </p:txBody>
      </p:sp>
      <p:sp>
        <p:nvSpPr>
          <p:cNvPr id="10" name="Rectangle 9"/>
          <p:cNvSpPr/>
          <p:nvPr/>
        </p:nvSpPr>
        <p:spPr>
          <a:xfrm>
            <a:off x="6400800" y="960120"/>
            <a:ext cx="2578608" cy="38404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996696"/>
            <a:ext cx="2468879" cy="292608"/>
          </a:xfrm>
          <a:prstGeom prst="rect">
            <a:avLst/>
          </a:prstGeom>
          <a:noFill/>
        </p:spPr>
        <p:txBody>
          <a:bodyPr wrap="square">
            <a:spAutoFit/>
          </a:bodyPr>
          <a:lstStyle/>
          <a:p>
            <a:pPr algn="ctr"/>
            <a:r>
              <a:rPr sz="1200" b="1" i="0">
                <a:solidFill>
                  <a:srgbClr val="FFFFFF"/>
                </a:solidFill>
                <a:latin typeface="Calibri"/>
              </a:rPr>
              <a:t>JULY 2026</a:t>
            </a:r>
          </a:p>
        </p:txBody>
      </p:sp>
      <p:sp>
        <p:nvSpPr>
          <p:cNvPr id="12" name="Rectangle 11"/>
          <p:cNvSpPr/>
          <p:nvPr/>
        </p:nvSpPr>
        <p:spPr>
          <a:xfrm>
            <a:off x="9052559" y="960120"/>
            <a:ext cx="2578608" cy="3840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3999" y="996696"/>
            <a:ext cx="2468879" cy="292608"/>
          </a:xfrm>
          <a:prstGeom prst="rect">
            <a:avLst/>
          </a:prstGeom>
          <a:noFill/>
        </p:spPr>
        <p:txBody>
          <a:bodyPr wrap="square">
            <a:spAutoFit/>
          </a:bodyPr>
          <a:lstStyle/>
          <a:p>
            <a:pPr algn="ctr"/>
            <a:r>
              <a:rPr sz="1200" b="1" i="0">
                <a:solidFill>
                  <a:srgbClr val="FFFFFF"/>
                </a:solidFill>
                <a:latin typeface="Calibri"/>
              </a:rPr>
              <a:t>AUGUST 2026</a:t>
            </a:r>
          </a:p>
        </p:txBody>
      </p:sp>
      <p:sp>
        <p:nvSpPr>
          <p:cNvPr id="14" name="Rectangle 13"/>
          <p:cNvSpPr/>
          <p:nvPr/>
        </p:nvSpPr>
        <p:spPr>
          <a:xfrm>
            <a:off x="274320" y="1444752"/>
            <a:ext cx="3401568" cy="512064"/>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444752"/>
            <a:ext cx="91440" cy="51206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1536192"/>
            <a:ext cx="3108960" cy="329184"/>
          </a:xfrm>
          <a:prstGeom prst="rect">
            <a:avLst/>
          </a:prstGeom>
          <a:noFill/>
        </p:spPr>
        <p:txBody>
          <a:bodyPr wrap="square">
            <a:spAutoFit/>
          </a:bodyPr>
          <a:lstStyle/>
          <a:p>
            <a:pPr algn="l"/>
            <a:r>
              <a:rPr sz="1100" b="1" i="0">
                <a:solidFill>
                  <a:srgbClr val="1E1E2E"/>
                </a:solidFill>
                <a:latin typeface="Calibri"/>
              </a:rPr>
              <a:t>Exp 1 — Performance Max</a:t>
            </a:r>
          </a:p>
        </p:txBody>
      </p:sp>
      <p:sp>
        <p:nvSpPr>
          <p:cNvPr id="17" name="Rectangle 16"/>
          <p:cNvSpPr/>
          <p:nvPr/>
        </p:nvSpPr>
        <p:spPr>
          <a:xfrm>
            <a:off x="3822191" y="1536192"/>
            <a:ext cx="2450591" cy="32918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191" y="1554480"/>
            <a:ext cx="2450591" cy="274320"/>
          </a:xfrm>
          <a:prstGeom prst="rect">
            <a:avLst/>
          </a:prstGeom>
          <a:noFill/>
        </p:spPr>
        <p:txBody>
          <a:bodyPr wrap="square">
            <a:spAutoFit/>
          </a:bodyPr>
          <a:lstStyle/>
          <a:p>
            <a:pPr algn="ctr"/>
            <a:r>
              <a:rPr sz="900" b="1" i="0">
                <a:solidFill>
                  <a:srgbClr val="FFFFFF"/>
                </a:solidFill>
                <a:latin typeface="Calibri"/>
              </a:rPr>
              <a:t>LEARNING</a:t>
            </a:r>
          </a:p>
        </p:txBody>
      </p:sp>
      <p:sp>
        <p:nvSpPr>
          <p:cNvPr id="19" name="Rectangle 18"/>
          <p:cNvSpPr/>
          <p:nvPr/>
        </p:nvSpPr>
        <p:spPr>
          <a:xfrm>
            <a:off x="6473952" y="1536192"/>
            <a:ext cx="2450591" cy="32918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1554480"/>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21" name="Rectangle 20"/>
          <p:cNvSpPr/>
          <p:nvPr/>
        </p:nvSpPr>
        <p:spPr>
          <a:xfrm>
            <a:off x="9125711" y="1536192"/>
            <a:ext cx="2450591" cy="32918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1" y="1554480"/>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23" name="TextBox 22"/>
          <p:cNvSpPr txBox="1"/>
          <p:nvPr/>
        </p:nvSpPr>
        <p:spPr>
          <a:xfrm>
            <a:off x="475488" y="2011680"/>
            <a:ext cx="11475720" cy="256032"/>
          </a:xfrm>
          <a:prstGeom prst="rect">
            <a:avLst/>
          </a:prstGeom>
          <a:noFill/>
        </p:spPr>
        <p:txBody>
          <a:bodyPr wrap="square">
            <a:spAutoFit/>
          </a:bodyPr>
          <a:lstStyle/>
          <a:p>
            <a:pPr algn="l"/>
            <a:r>
              <a:rPr sz="900" b="0" i="1">
                <a:solidFill>
                  <a:srgbClr val="6B7280"/>
                </a:solidFill>
                <a:latin typeface="Calibri"/>
              </a:rPr>
              <a:t>Learning mode Jun–Jul. First read: Aug.</a:t>
            </a:r>
          </a:p>
        </p:txBody>
      </p:sp>
      <p:sp>
        <p:nvSpPr>
          <p:cNvPr id="24" name="Rectangle 23"/>
          <p:cNvSpPr/>
          <p:nvPr/>
        </p:nvSpPr>
        <p:spPr>
          <a:xfrm>
            <a:off x="274320" y="2377440"/>
            <a:ext cx="3401568"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2377440"/>
            <a:ext cx="91440" cy="51206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 y="2468880"/>
            <a:ext cx="3108960" cy="329184"/>
          </a:xfrm>
          <a:prstGeom prst="rect">
            <a:avLst/>
          </a:prstGeom>
          <a:noFill/>
        </p:spPr>
        <p:txBody>
          <a:bodyPr wrap="square">
            <a:spAutoFit/>
          </a:bodyPr>
          <a:lstStyle/>
          <a:p>
            <a:pPr algn="l"/>
            <a:r>
              <a:rPr sz="1100" b="1" i="0">
                <a:solidFill>
                  <a:srgbClr val="1E1E2E"/>
                </a:solidFill>
                <a:latin typeface="Calibri"/>
              </a:rPr>
              <a:t>Exp 2 — Local Service Ads</a:t>
            </a:r>
          </a:p>
        </p:txBody>
      </p:sp>
      <p:sp>
        <p:nvSpPr>
          <p:cNvPr id="27" name="Rectangle 26"/>
          <p:cNvSpPr/>
          <p:nvPr/>
        </p:nvSpPr>
        <p:spPr>
          <a:xfrm>
            <a:off x="3822191" y="2468880"/>
            <a:ext cx="2450591" cy="32918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22191" y="2487168"/>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29" name="Rectangle 28"/>
          <p:cNvSpPr/>
          <p:nvPr/>
        </p:nvSpPr>
        <p:spPr>
          <a:xfrm>
            <a:off x="6473952" y="2468880"/>
            <a:ext cx="2450591" cy="32918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2487168"/>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31" name="Rectangle 30"/>
          <p:cNvSpPr/>
          <p:nvPr/>
        </p:nvSpPr>
        <p:spPr>
          <a:xfrm>
            <a:off x="9125711" y="2468880"/>
            <a:ext cx="2450591" cy="329184"/>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25711" y="2487168"/>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33" name="TextBox 32"/>
          <p:cNvSpPr txBox="1"/>
          <p:nvPr/>
        </p:nvSpPr>
        <p:spPr>
          <a:xfrm>
            <a:off x="475488" y="2944368"/>
            <a:ext cx="11475720" cy="256032"/>
          </a:xfrm>
          <a:prstGeom prst="rect">
            <a:avLst/>
          </a:prstGeom>
          <a:noFill/>
        </p:spPr>
        <p:txBody>
          <a:bodyPr wrap="square">
            <a:spAutoFit/>
          </a:bodyPr>
          <a:lstStyle/>
          <a:p>
            <a:pPr algn="l"/>
            <a:r>
              <a:rPr sz="900" b="0" i="1">
                <a:solidFill>
                  <a:srgbClr val="6B7280"/>
                </a:solidFill>
                <a:latin typeface="Calibri"/>
              </a:rPr>
              <a:t>Start verification in June. Go live: June or when 15+ reviews reached.</a:t>
            </a:r>
          </a:p>
        </p:txBody>
      </p:sp>
      <p:sp>
        <p:nvSpPr>
          <p:cNvPr id="34" name="Rectangle 33"/>
          <p:cNvSpPr/>
          <p:nvPr/>
        </p:nvSpPr>
        <p:spPr>
          <a:xfrm>
            <a:off x="274320" y="3310128"/>
            <a:ext cx="3401568" cy="512064"/>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3310128"/>
            <a:ext cx="91440" cy="5120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3401568"/>
            <a:ext cx="3108960" cy="329184"/>
          </a:xfrm>
          <a:prstGeom prst="rect">
            <a:avLst/>
          </a:prstGeom>
          <a:noFill/>
        </p:spPr>
        <p:txBody>
          <a:bodyPr wrap="square">
            <a:spAutoFit/>
          </a:bodyPr>
          <a:lstStyle/>
          <a:p>
            <a:pPr algn="l"/>
            <a:r>
              <a:rPr sz="1100" b="1" i="0">
                <a:solidFill>
                  <a:srgbClr val="1E1E2E"/>
                </a:solidFill>
                <a:latin typeface="Calibri"/>
              </a:rPr>
              <a:t>Exp 3 — Competitor Conquest</a:t>
            </a:r>
          </a:p>
        </p:txBody>
      </p:sp>
      <p:sp>
        <p:nvSpPr>
          <p:cNvPr id="37" name="Rectangle 36"/>
          <p:cNvSpPr/>
          <p:nvPr/>
        </p:nvSpPr>
        <p:spPr>
          <a:xfrm>
            <a:off x="3822191" y="3401568"/>
            <a:ext cx="2450591" cy="32918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73952" y="3401568"/>
            <a:ext cx="2450591" cy="32918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3419856"/>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40" name="Rectangle 39"/>
          <p:cNvSpPr/>
          <p:nvPr/>
        </p:nvSpPr>
        <p:spPr>
          <a:xfrm>
            <a:off x="9125711" y="3401568"/>
            <a:ext cx="2450591" cy="32918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25711" y="3419856"/>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42" name="TextBox 41"/>
          <p:cNvSpPr txBox="1"/>
          <p:nvPr/>
        </p:nvSpPr>
        <p:spPr>
          <a:xfrm>
            <a:off x="475488" y="3877056"/>
            <a:ext cx="11475720" cy="256032"/>
          </a:xfrm>
          <a:prstGeom prst="rect">
            <a:avLst/>
          </a:prstGeom>
          <a:noFill/>
        </p:spPr>
        <p:txBody>
          <a:bodyPr wrap="square">
            <a:spAutoFit/>
          </a:bodyPr>
          <a:lstStyle/>
          <a:p>
            <a:pPr algn="l"/>
            <a:r>
              <a:rPr sz="900" b="0" i="1">
                <a:solidFill>
                  <a:srgbClr val="6B7280"/>
                </a:solidFill>
                <a:latin typeface="Calibri"/>
              </a:rPr>
              <a:t>Launch after conquest keyword list is finalised.</a:t>
            </a:r>
          </a:p>
        </p:txBody>
      </p:sp>
      <p:sp>
        <p:nvSpPr>
          <p:cNvPr id="43" name="Rectangle 42"/>
          <p:cNvSpPr/>
          <p:nvPr/>
        </p:nvSpPr>
        <p:spPr>
          <a:xfrm>
            <a:off x="274320" y="4242816"/>
            <a:ext cx="3401568"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4242816"/>
            <a:ext cx="91440" cy="5120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5488" y="4334256"/>
            <a:ext cx="3108960" cy="329184"/>
          </a:xfrm>
          <a:prstGeom prst="rect">
            <a:avLst/>
          </a:prstGeom>
          <a:noFill/>
        </p:spPr>
        <p:txBody>
          <a:bodyPr wrap="square">
            <a:spAutoFit/>
          </a:bodyPr>
          <a:lstStyle/>
          <a:p>
            <a:pPr algn="l"/>
            <a:r>
              <a:rPr sz="1100" b="1" i="0">
                <a:solidFill>
                  <a:srgbClr val="1E1E2E"/>
                </a:solidFill>
                <a:latin typeface="Calibri"/>
              </a:rPr>
              <a:t>Exp 4 — Display Remarketing</a:t>
            </a:r>
          </a:p>
        </p:txBody>
      </p:sp>
      <p:sp>
        <p:nvSpPr>
          <p:cNvPr id="46" name="Rectangle 45"/>
          <p:cNvSpPr/>
          <p:nvPr/>
        </p:nvSpPr>
        <p:spPr>
          <a:xfrm>
            <a:off x="3822191" y="4334256"/>
            <a:ext cx="2450591" cy="32918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73952" y="4334256"/>
            <a:ext cx="2450591" cy="32918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73952" y="4352544"/>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49" name="Rectangle 48"/>
          <p:cNvSpPr/>
          <p:nvPr/>
        </p:nvSpPr>
        <p:spPr>
          <a:xfrm>
            <a:off x="9125711" y="4334256"/>
            <a:ext cx="2450591" cy="32918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25711" y="4352544"/>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51" name="TextBox 50"/>
          <p:cNvSpPr txBox="1"/>
          <p:nvPr/>
        </p:nvSpPr>
        <p:spPr>
          <a:xfrm>
            <a:off x="475488" y="4809744"/>
            <a:ext cx="11475720" cy="256032"/>
          </a:xfrm>
          <a:prstGeom prst="rect">
            <a:avLst/>
          </a:prstGeom>
          <a:noFill/>
        </p:spPr>
        <p:txBody>
          <a:bodyPr wrap="square">
            <a:spAutoFit/>
          </a:bodyPr>
          <a:lstStyle/>
          <a:p>
            <a:pPr algn="l"/>
            <a:r>
              <a:rPr sz="900" b="0" i="1">
                <a:solidFill>
                  <a:srgbClr val="6B7280"/>
                </a:solidFill>
                <a:latin typeface="Calibri"/>
              </a:rPr>
              <a:t>Requires ~300 users in pixel pool. Confirm site traffic first.</a:t>
            </a:r>
          </a:p>
        </p:txBody>
      </p:sp>
      <p:sp>
        <p:nvSpPr>
          <p:cNvPr id="52" name="Rectangle 51"/>
          <p:cNvSpPr/>
          <p:nvPr/>
        </p:nvSpPr>
        <p:spPr>
          <a:xfrm>
            <a:off x="274320" y="5175504"/>
            <a:ext cx="3401568" cy="512064"/>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5175504"/>
            <a:ext cx="91440" cy="5120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5488" y="5266944"/>
            <a:ext cx="3108960" cy="329184"/>
          </a:xfrm>
          <a:prstGeom prst="rect">
            <a:avLst/>
          </a:prstGeom>
          <a:noFill/>
        </p:spPr>
        <p:txBody>
          <a:bodyPr wrap="square">
            <a:spAutoFit/>
          </a:bodyPr>
          <a:lstStyle/>
          <a:p>
            <a:pPr algn="l"/>
            <a:r>
              <a:rPr sz="1100" b="1" i="0">
                <a:solidFill>
                  <a:srgbClr val="1E1E2E"/>
                </a:solidFill>
                <a:latin typeface="Calibri"/>
              </a:rPr>
              <a:t>Exp 5 — Bing / Microsoft Ads</a:t>
            </a:r>
          </a:p>
        </p:txBody>
      </p:sp>
      <p:sp>
        <p:nvSpPr>
          <p:cNvPr id="55" name="Rectangle 54"/>
          <p:cNvSpPr/>
          <p:nvPr/>
        </p:nvSpPr>
        <p:spPr>
          <a:xfrm>
            <a:off x="3822191" y="5266944"/>
            <a:ext cx="2450591" cy="32918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73952" y="5266944"/>
            <a:ext cx="2450591" cy="32918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125711" y="5266944"/>
            <a:ext cx="2450591" cy="32918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25711" y="5285232"/>
            <a:ext cx="2450591" cy="274320"/>
          </a:xfrm>
          <a:prstGeom prst="rect">
            <a:avLst/>
          </a:prstGeom>
          <a:noFill/>
        </p:spPr>
        <p:txBody>
          <a:bodyPr wrap="square">
            <a:spAutoFit/>
          </a:bodyPr>
          <a:lstStyle/>
          <a:p>
            <a:pPr algn="ctr"/>
            <a:r>
              <a:rPr sz="900" b="1" i="0">
                <a:solidFill>
                  <a:srgbClr val="FFFFFF"/>
                </a:solidFill>
                <a:latin typeface="Calibri"/>
              </a:rPr>
              <a:t>ACTIVE</a:t>
            </a:r>
          </a:p>
        </p:txBody>
      </p:sp>
      <p:sp>
        <p:nvSpPr>
          <p:cNvPr id="59" name="TextBox 58"/>
          <p:cNvSpPr txBox="1"/>
          <p:nvPr/>
        </p:nvSpPr>
        <p:spPr>
          <a:xfrm>
            <a:off x="475488" y="5742432"/>
            <a:ext cx="11475720" cy="256032"/>
          </a:xfrm>
          <a:prstGeom prst="rect">
            <a:avLst/>
          </a:prstGeom>
          <a:noFill/>
        </p:spPr>
        <p:txBody>
          <a:bodyPr wrap="square">
            <a:spAutoFit/>
          </a:bodyPr>
          <a:lstStyle/>
          <a:p>
            <a:pPr algn="l"/>
            <a:r>
              <a:rPr sz="900" b="0" i="1">
                <a:solidFill>
                  <a:srgbClr val="6B7280"/>
                </a:solidFill>
                <a:latin typeface="Calibri"/>
              </a:rPr>
              <a:t>Import from Google Ads. 30-min setup.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Budget Ask &amp; Projected Engagement Impact</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Incremental investment on top of current campaigns — Q3 total ask and expected engagement output</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10</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5303520" cy="3200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96696"/>
            <a:ext cx="5074920" cy="256032"/>
          </a:xfrm>
          <a:prstGeom prst="rect">
            <a:avLst/>
          </a:prstGeom>
          <a:noFill/>
        </p:spPr>
        <p:txBody>
          <a:bodyPr wrap="square">
            <a:spAutoFit/>
          </a:bodyPr>
          <a:lstStyle/>
          <a:p>
            <a:pPr algn="l"/>
            <a:r>
              <a:rPr sz="1000" b="1" i="0">
                <a:solidFill>
                  <a:srgbClr val="FFFFFF"/>
                </a:solidFill>
                <a:latin typeface="Calibri"/>
              </a:rPr>
              <a:t>CURRENT MONTHLY SPEND (EXISTING CAMPAIGNS)</a:t>
            </a:r>
          </a:p>
        </p:txBody>
      </p:sp>
      <p:sp>
        <p:nvSpPr>
          <p:cNvPr id="10" name="Rectangle 9"/>
          <p:cNvSpPr/>
          <p:nvPr/>
        </p:nvSpPr>
        <p:spPr>
          <a:xfrm>
            <a:off x="502920" y="1280160"/>
            <a:ext cx="53035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89888"/>
            <a:ext cx="4937760" cy="566928"/>
          </a:xfrm>
          <a:prstGeom prst="rect">
            <a:avLst/>
          </a:prstGeom>
          <a:noFill/>
        </p:spPr>
        <p:txBody>
          <a:bodyPr wrap="square">
            <a:spAutoFit/>
          </a:bodyPr>
          <a:lstStyle/>
          <a:p>
            <a:pPr algn="l"/>
            <a:r>
              <a:rPr sz="2800" b="1" i="0">
                <a:solidFill>
                  <a:srgbClr val="1E1E2E"/>
                </a:solidFill>
                <a:latin typeface="Arial Black"/>
              </a:rPr>
              <a:t>~$1,800–$2,000</a:t>
            </a:r>
          </a:p>
        </p:txBody>
      </p:sp>
      <p:sp>
        <p:nvSpPr>
          <p:cNvPr id="12" name="TextBox 11"/>
          <p:cNvSpPr txBox="1"/>
          <p:nvPr/>
        </p:nvSpPr>
        <p:spPr>
          <a:xfrm>
            <a:off x="658368" y="1938528"/>
            <a:ext cx="4937760" cy="320040"/>
          </a:xfrm>
          <a:prstGeom prst="rect">
            <a:avLst/>
          </a:prstGeom>
          <a:noFill/>
        </p:spPr>
        <p:txBody>
          <a:bodyPr wrap="square">
            <a:spAutoFit/>
          </a:bodyPr>
          <a:lstStyle/>
          <a:p>
            <a:pPr algn="l"/>
            <a:r>
              <a:rPr sz="1100" b="0" i="0">
                <a:solidFill>
                  <a:srgbClr val="6B7280"/>
                </a:solidFill>
                <a:latin typeface="Calibri"/>
              </a:rPr>
              <a:t>Generic Search + DSA + Regional Search</a:t>
            </a:r>
          </a:p>
        </p:txBody>
      </p:sp>
      <p:sp>
        <p:nvSpPr>
          <p:cNvPr id="13" name="Rectangle 12"/>
          <p:cNvSpPr/>
          <p:nvPr/>
        </p:nvSpPr>
        <p:spPr>
          <a:xfrm>
            <a:off x="6309360" y="960120"/>
            <a:ext cx="5440680" cy="320040"/>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996696"/>
            <a:ext cx="5230368" cy="256032"/>
          </a:xfrm>
          <a:prstGeom prst="rect">
            <a:avLst/>
          </a:prstGeom>
          <a:noFill/>
        </p:spPr>
        <p:txBody>
          <a:bodyPr wrap="square">
            <a:spAutoFit/>
          </a:bodyPr>
          <a:lstStyle/>
          <a:p>
            <a:pPr algn="l"/>
            <a:r>
              <a:rPr sz="1000" b="1" i="0">
                <a:solidFill>
                  <a:srgbClr val="FFFFFF"/>
                </a:solidFill>
                <a:latin typeface="Calibri"/>
              </a:rPr>
              <a:t>PROPOSED Q3 EXPERIMENT ADD-ON</a:t>
            </a:r>
          </a:p>
        </p:txBody>
      </p:sp>
      <p:sp>
        <p:nvSpPr>
          <p:cNvPr id="15" name="Rectangle 14"/>
          <p:cNvSpPr/>
          <p:nvPr/>
        </p:nvSpPr>
        <p:spPr>
          <a:xfrm>
            <a:off x="6309360" y="1280160"/>
            <a:ext cx="544068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1389888"/>
            <a:ext cx="5120640" cy="566928"/>
          </a:xfrm>
          <a:prstGeom prst="rect">
            <a:avLst/>
          </a:prstGeom>
          <a:noFill/>
        </p:spPr>
        <p:txBody>
          <a:bodyPr wrap="square">
            <a:spAutoFit/>
          </a:bodyPr>
          <a:lstStyle/>
          <a:p>
            <a:pPr algn="l"/>
            <a:r>
              <a:rPr sz="2600" b="1" i="0">
                <a:solidFill>
                  <a:srgbClr val="4B3BC8"/>
                </a:solidFill>
                <a:latin typeface="Arial Black"/>
              </a:rPr>
              <a:t>+$1,100–$1,450 / mo</a:t>
            </a:r>
          </a:p>
        </p:txBody>
      </p:sp>
      <p:sp>
        <p:nvSpPr>
          <p:cNvPr id="17" name="TextBox 16"/>
          <p:cNvSpPr txBox="1"/>
          <p:nvPr/>
        </p:nvSpPr>
        <p:spPr>
          <a:xfrm>
            <a:off x="6473952" y="1938528"/>
            <a:ext cx="5120640" cy="320040"/>
          </a:xfrm>
          <a:prstGeom prst="rect">
            <a:avLst/>
          </a:prstGeom>
          <a:noFill/>
        </p:spPr>
        <p:txBody>
          <a:bodyPr wrap="square">
            <a:spAutoFit/>
          </a:bodyPr>
          <a:lstStyle/>
          <a:p>
            <a:pPr algn="l"/>
            <a:r>
              <a:rPr sz="1000" b="0" i="0">
                <a:solidFill>
                  <a:srgbClr val="6B7280"/>
                </a:solidFill>
                <a:latin typeface="Calibri"/>
              </a:rPr>
              <a:t>June (PMax + LSAs)  |  +$350–$450 July  |  +$150–$200 Aug</a:t>
            </a:r>
          </a:p>
        </p:txBody>
      </p:sp>
      <p:sp>
        <p:nvSpPr>
          <p:cNvPr id="18" name="Rectangle 17"/>
          <p:cNvSpPr/>
          <p:nvPr/>
        </p:nvSpPr>
        <p:spPr>
          <a:xfrm>
            <a:off x="502920" y="2560320"/>
            <a:ext cx="11201400" cy="32004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596896"/>
            <a:ext cx="10972800" cy="256032"/>
          </a:xfrm>
          <a:prstGeom prst="rect">
            <a:avLst/>
          </a:prstGeom>
          <a:noFill/>
        </p:spPr>
        <p:txBody>
          <a:bodyPr wrap="square">
            <a:spAutoFit/>
          </a:bodyPr>
          <a:lstStyle/>
          <a:p>
            <a:pPr algn="l"/>
            <a:r>
              <a:rPr sz="1100" b="1" i="0">
                <a:solidFill>
                  <a:srgbClr val="FFFFFF"/>
                </a:solidFill>
                <a:latin typeface="Calibri"/>
              </a:rPr>
              <a:t>CUMULATIVE Q3 PROJECTED ENGAGEMENT (ALL 5 EXPERIMENTS)</a:t>
            </a:r>
          </a:p>
        </p:txBody>
      </p:sp>
      <p:sp>
        <p:nvSpPr>
          <p:cNvPr id="20" name="Rectangle 19"/>
          <p:cNvSpPr/>
          <p:nvPr/>
        </p:nvSpPr>
        <p:spPr>
          <a:xfrm>
            <a:off x="502920" y="2926080"/>
            <a:ext cx="2606040" cy="347472"/>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2944368"/>
            <a:ext cx="2395728" cy="292608"/>
          </a:xfrm>
          <a:prstGeom prst="rect">
            <a:avLst/>
          </a:prstGeom>
          <a:noFill/>
        </p:spPr>
        <p:txBody>
          <a:bodyPr wrap="square">
            <a:spAutoFit/>
          </a:bodyPr>
          <a:lstStyle/>
          <a:p>
            <a:pPr algn="l"/>
            <a:r>
              <a:rPr sz="900" b="1" i="0">
                <a:solidFill>
                  <a:srgbClr val="FFFFFF"/>
                </a:solidFill>
                <a:latin typeface="Calibri"/>
              </a:rPr>
              <a:t>INCREMENTAL IMPRESSIONS</a:t>
            </a:r>
          </a:p>
        </p:txBody>
      </p:sp>
      <p:sp>
        <p:nvSpPr>
          <p:cNvPr id="22" name="Rectangle 21"/>
          <p:cNvSpPr/>
          <p:nvPr/>
        </p:nvSpPr>
        <p:spPr>
          <a:xfrm>
            <a:off x="502920" y="3273552"/>
            <a:ext cx="26060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3337560"/>
            <a:ext cx="2395728" cy="694944"/>
          </a:xfrm>
          <a:prstGeom prst="rect">
            <a:avLst/>
          </a:prstGeom>
          <a:noFill/>
        </p:spPr>
        <p:txBody>
          <a:bodyPr wrap="square">
            <a:spAutoFit/>
          </a:bodyPr>
          <a:lstStyle/>
          <a:p>
            <a:pPr algn="l"/>
            <a:r>
              <a:rPr sz="2200" b="1" i="0">
                <a:solidFill>
                  <a:srgbClr val="4B3BC8"/>
                </a:solidFill>
                <a:latin typeface="Arial Black"/>
              </a:rPr>
              <a:t>130K–220K</a:t>
            </a:r>
          </a:p>
        </p:txBody>
      </p:sp>
      <p:sp>
        <p:nvSpPr>
          <p:cNvPr id="24" name="Rectangle 23"/>
          <p:cNvSpPr/>
          <p:nvPr/>
        </p:nvSpPr>
        <p:spPr>
          <a:xfrm>
            <a:off x="3319272" y="2926080"/>
            <a:ext cx="260604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9000" y="2944368"/>
            <a:ext cx="2395728" cy="292608"/>
          </a:xfrm>
          <a:prstGeom prst="rect">
            <a:avLst/>
          </a:prstGeom>
          <a:noFill/>
        </p:spPr>
        <p:txBody>
          <a:bodyPr wrap="square">
            <a:spAutoFit/>
          </a:bodyPr>
          <a:lstStyle/>
          <a:p>
            <a:pPr algn="l"/>
            <a:r>
              <a:rPr sz="900" b="1" i="0">
                <a:solidFill>
                  <a:srgbClr val="FFFFFF"/>
                </a:solidFill>
                <a:latin typeface="Calibri"/>
              </a:rPr>
              <a:t>INCREMENTAL CLICKS</a:t>
            </a:r>
          </a:p>
        </p:txBody>
      </p:sp>
      <p:sp>
        <p:nvSpPr>
          <p:cNvPr id="26" name="Rectangle 25"/>
          <p:cNvSpPr/>
          <p:nvPr/>
        </p:nvSpPr>
        <p:spPr>
          <a:xfrm>
            <a:off x="3319272" y="3273552"/>
            <a:ext cx="26060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337560"/>
            <a:ext cx="2395728" cy="694944"/>
          </a:xfrm>
          <a:prstGeom prst="rect">
            <a:avLst/>
          </a:prstGeom>
          <a:noFill/>
        </p:spPr>
        <p:txBody>
          <a:bodyPr wrap="square">
            <a:spAutoFit/>
          </a:bodyPr>
          <a:lstStyle/>
          <a:p>
            <a:pPr algn="l"/>
            <a:r>
              <a:rPr sz="2200" b="1" i="0">
                <a:solidFill>
                  <a:srgbClr val="3B82F6"/>
                </a:solidFill>
                <a:latin typeface="Arial Black"/>
              </a:rPr>
              <a:t>1,200–1,800</a:t>
            </a:r>
          </a:p>
        </p:txBody>
      </p:sp>
      <p:sp>
        <p:nvSpPr>
          <p:cNvPr id="28" name="Rectangle 27"/>
          <p:cNvSpPr/>
          <p:nvPr/>
        </p:nvSpPr>
        <p:spPr>
          <a:xfrm>
            <a:off x="6135624" y="2926080"/>
            <a:ext cx="2606040"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5352" y="2944368"/>
            <a:ext cx="2395728" cy="292608"/>
          </a:xfrm>
          <a:prstGeom prst="rect">
            <a:avLst/>
          </a:prstGeom>
          <a:noFill/>
        </p:spPr>
        <p:txBody>
          <a:bodyPr wrap="square">
            <a:spAutoFit/>
          </a:bodyPr>
          <a:lstStyle/>
          <a:p>
            <a:pPr algn="l"/>
            <a:r>
              <a:rPr sz="900" b="1" i="0">
                <a:solidFill>
                  <a:srgbClr val="FFFFFF"/>
                </a:solidFill>
                <a:latin typeface="Calibri"/>
              </a:rPr>
              <a:t>LSA LEADS (PAY-PER-LEAD)</a:t>
            </a:r>
          </a:p>
        </p:txBody>
      </p:sp>
      <p:sp>
        <p:nvSpPr>
          <p:cNvPr id="30" name="Rectangle 29"/>
          <p:cNvSpPr/>
          <p:nvPr/>
        </p:nvSpPr>
        <p:spPr>
          <a:xfrm>
            <a:off x="6135624" y="3273552"/>
            <a:ext cx="26060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5352" y="3337560"/>
            <a:ext cx="2395728" cy="694944"/>
          </a:xfrm>
          <a:prstGeom prst="rect">
            <a:avLst/>
          </a:prstGeom>
          <a:noFill/>
        </p:spPr>
        <p:txBody>
          <a:bodyPr wrap="square">
            <a:spAutoFit/>
          </a:bodyPr>
          <a:lstStyle/>
          <a:p>
            <a:pPr algn="l"/>
            <a:r>
              <a:rPr sz="2200" b="1" i="0">
                <a:solidFill>
                  <a:srgbClr val="6366F1"/>
                </a:solidFill>
                <a:latin typeface="Arial Black"/>
              </a:rPr>
              <a:t>36–70</a:t>
            </a:r>
          </a:p>
        </p:txBody>
      </p:sp>
      <p:sp>
        <p:nvSpPr>
          <p:cNvPr id="32" name="Rectangle 31"/>
          <p:cNvSpPr/>
          <p:nvPr/>
        </p:nvSpPr>
        <p:spPr>
          <a:xfrm>
            <a:off x="8951976" y="2926080"/>
            <a:ext cx="2606040"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61704" y="2944368"/>
            <a:ext cx="2395728" cy="292608"/>
          </a:xfrm>
          <a:prstGeom prst="rect">
            <a:avLst/>
          </a:prstGeom>
          <a:noFill/>
        </p:spPr>
        <p:txBody>
          <a:bodyPr wrap="square">
            <a:spAutoFit/>
          </a:bodyPr>
          <a:lstStyle/>
          <a:p>
            <a:pPr algn="l"/>
            <a:r>
              <a:rPr sz="900" b="1" i="0">
                <a:solidFill>
                  <a:srgbClr val="FFFFFF"/>
                </a:solidFill>
                <a:latin typeface="Calibri"/>
              </a:rPr>
              <a:t>TIME TO FIRST READ</a:t>
            </a:r>
          </a:p>
        </p:txBody>
      </p:sp>
      <p:sp>
        <p:nvSpPr>
          <p:cNvPr id="34" name="Rectangle 33"/>
          <p:cNvSpPr/>
          <p:nvPr/>
        </p:nvSpPr>
        <p:spPr>
          <a:xfrm>
            <a:off x="8951976" y="3273552"/>
            <a:ext cx="26060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61704" y="3337560"/>
            <a:ext cx="2395728" cy="694944"/>
          </a:xfrm>
          <a:prstGeom prst="rect">
            <a:avLst/>
          </a:prstGeom>
          <a:noFill/>
        </p:spPr>
        <p:txBody>
          <a:bodyPr wrap="square">
            <a:spAutoFit/>
          </a:bodyPr>
          <a:lstStyle/>
          <a:p>
            <a:pPr algn="l"/>
            <a:r>
              <a:rPr sz="2200" b="1" i="0">
                <a:solidFill>
                  <a:srgbClr val="10B981"/>
                </a:solidFill>
                <a:latin typeface="Arial Black"/>
              </a:rPr>
              <a:t>3 months</a:t>
            </a:r>
          </a:p>
        </p:txBody>
      </p:sp>
      <p:sp>
        <p:nvSpPr>
          <p:cNvPr id="36" name="Rectangle 35"/>
          <p:cNvSpPr/>
          <p:nvPr/>
        </p:nvSpPr>
        <p:spPr>
          <a:xfrm>
            <a:off x="502920" y="4206240"/>
            <a:ext cx="11201400" cy="29260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242816"/>
            <a:ext cx="10972800" cy="237744"/>
          </a:xfrm>
          <a:prstGeom prst="rect">
            <a:avLst/>
          </a:prstGeom>
          <a:noFill/>
        </p:spPr>
        <p:txBody>
          <a:bodyPr wrap="square">
            <a:spAutoFit/>
          </a:bodyPr>
          <a:lstStyle/>
          <a:p>
            <a:pPr algn="l"/>
            <a:r>
              <a:rPr sz="1100" b="1" i="0">
                <a:solidFill>
                  <a:srgbClr val="FFFFFF"/>
                </a:solidFill>
                <a:latin typeface="Calibri"/>
              </a:rPr>
              <a:t>MONTH-BY-MONTH BUDGET RAMP</a:t>
            </a:r>
          </a:p>
        </p:txBody>
      </p:sp>
      <p:graphicFrame>
        <p:nvGraphicFramePr>
          <p:cNvPr id="38" name="Table 37"/>
          <p:cNvGraphicFramePr>
            <a:graphicFrameLocks noGrp="1"/>
          </p:cNvGraphicFramePr>
          <p:nvPr/>
        </p:nvGraphicFramePr>
        <p:xfrm>
          <a:off x="502920" y="4526280"/>
          <a:ext cx="11201400" cy="2029968"/>
        </p:xfrm>
        <a:graphic>
          <a:graphicData uri="http://schemas.openxmlformats.org/drawingml/2006/table">
            <a:tbl>
              <a:tblPr firstRow="1" bandRow="1">
                <a:tableStyleId>{5C22544A-7EE6-4342-B048-85BDC9FD1C3A}</a:tableStyleId>
              </a:tblPr>
              <a:tblGrid>
                <a:gridCol w="1463040"/>
                <a:gridCol w="4937760"/>
                <a:gridCol w="1828800"/>
                <a:gridCol w="2971800"/>
              </a:tblGrid>
              <a:tr h="405993">
                <a:tc>
                  <a:txBody>
                    <a:bodyPr/>
                    <a:lstStyle/>
                    <a:p>
                      <a:pPr algn="l"/>
                      <a:r>
                        <a:rPr sz="1000" b="1">
                          <a:solidFill>
                            <a:srgbClr val="FFFFFF"/>
                          </a:solidFill>
                          <a:latin typeface="Calibri"/>
                        </a:rPr>
                        <a:t>Month</a:t>
                      </a:r>
                    </a:p>
                  </a:txBody>
                  <a:tcPr>
                    <a:solidFill>
                      <a:srgbClr val="4B3BC8"/>
                    </a:solidFill>
                  </a:tcPr>
                </a:tc>
                <a:tc>
                  <a:txBody>
                    <a:bodyPr/>
                    <a:lstStyle/>
                    <a:p>
                      <a:pPr algn="l"/>
                      <a:r>
                        <a:rPr sz="1000" b="1">
                          <a:solidFill>
                            <a:srgbClr val="FFFFFF"/>
                          </a:solidFill>
                          <a:latin typeface="Calibri"/>
                        </a:rPr>
                        <a:t>Experiments Running</a:t>
                      </a:r>
                    </a:p>
                  </a:txBody>
                  <a:tcPr>
                    <a:solidFill>
                      <a:srgbClr val="4B3BC8"/>
                    </a:solidFill>
                  </a:tcPr>
                </a:tc>
                <a:tc>
                  <a:txBody>
                    <a:bodyPr/>
                    <a:lstStyle/>
                    <a:p>
                      <a:pPr algn="l"/>
                      <a:r>
                        <a:rPr sz="1000" b="1">
                          <a:solidFill>
                            <a:srgbClr val="FFFFFF"/>
                          </a:solidFill>
                          <a:latin typeface="Calibri"/>
                        </a:rPr>
                        <a:t>Test Budget</a:t>
                      </a:r>
                    </a:p>
                  </a:txBody>
                  <a:tcPr>
                    <a:solidFill>
                      <a:srgbClr val="4B3BC8"/>
                    </a:solidFill>
                  </a:tcPr>
                </a:tc>
                <a:tc>
                  <a:txBody>
                    <a:bodyPr/>
                    <a:lstStyle/>
                    <a:p>
                      <a:pPr algn="l"/>
                      <a:r>
                        <a:rPr sz="1000" b="1">
                          <a:solidFill>
                            <a:srgbClr val="FFFFFF"/>
                          </a:solidFill>
                          <a:latin typeface="Calibri"/>
                        </a:rPr>
                        <a:t>Total Monthly Spend</a:t>
                      </a:r>
                    </a:p>
                  </a:txBody>
                  <a:tcPr>
                    <a:solidFill>
                      <a:srgbClr val="4B3BC8"/>
                    </a:solidFill>
                  </a:tcPr>
                </a:tc>
              </a:tr>
              <a:tr h="405993">
                <a:tc>
                  <a:txBody>
                    <a:bodyPr/>
                    <a:lstStyle/>
                    <a:p>
                      <a:pPr algn="l"/>
                      <a:r>
                        <a:rPr sz="1000" b="1">
                          <a:solidFill>
                            <a:srgbClr val="1E1E2E"/>
                          </a:solidFill>
                          <a:latin typeface="Calibri"/>
                        </a:rPr>
                        <a:t>June 2026</a:t>
                      </a:r>
                    </a:p>
                  </a:txBody>
                  <a:tcPr>
                    <a:solidFill>
                      <a:srgbClr val="EEF2FF"/>
                    </a:solidFill>
                  </a:tcPr>
                </a:tc>
                <a:tc>
                  <a:txBody>
                    <a:bodyPr/>
                    <a:lstStyle/>
                    <a:p>
                      <a:pPr algn="l"/>
                      <a:r>
                        <a:rPr sz="1000" b="0">
                          <a:solidFill>
                            <a:srgbClr val="1E1E2E"/>
                          </a:solidFill>
                          <a:latin typeface="Calibri"/>
                        </a:rPr>
                        <a:t>PMax ($550) + LSAs ($350)</a:t>
                      </a:r>
                    </a:p>
                  </a:txBody>
                  <a:tcPr>
                    <a:solidFill>
                      <a:srgbClr val="EEF2FF"/>
                    </a:solidFill>
                  </a:tcPr>
                </a:tc>
                <a:tc>
                  <a:txBody>
                    <a:bodyPr/>
                    <a:lstStyle/>
                    <a:p>
                      <a:pPr algn="l"/>
                      <a:r>
                        <a:rPr sz="1000" b="0">
                          <a:solidFill>
                            <a:srgbClr val="1E1E2E"/>
                          </a:solidFill>
                          <a:latin typeface="Calibri"/>
                        </a:rPr>
                        <a:t>$900–$1,000</a:t>
                      </a:r>
                    </a:p>
                  </a:txBody>
                  <a:tcPr>
                    <a:solidFill>
                      <a:srgbClr val="EEF2FF"/>
                    </a:solidFill>
                  </a:tcPr>
                </a:tc>
                <a:tc>
                  <a:txBody>
                    <a:bodyPr/>
                    <a:lstStyle/>
                    <a:p>
                      <a:pPr algn="l"/>
                      <a:r>
                        <a:rPr sz="1000" b="0">
                          <a:solidFill>
                            <a:srgbClr val="1E1E2E"/>
                          </a:solidFill>
                          <a:latin typeface="Calibri"/>
                        </a:rPr>
                        <a:t>$2,700–$3,000</a:t>
                      </a:r>
                    </a:p>
                  </a:txBody>
                  <a:tcPr>
                    <a:solidFill>
                      <a:srgbClr val="EEF2FF"/>
                    </a:solidFill>
                  </a:tcPr>
                </a:tc>
              </a:tr>
              <a:tr h="405993">
                <a:tc>
                  <a:txBody>
                    <a:bodyPr/>
                    <a:lstStyle/>
                    <a:p>
                      <a:pPr algn="l"/>
                      <a:r>
                        <a:rPr sz="1000" b="1">
                          <a:solidFill>
                            <a:srgbClr val="1E1E2E"/>
                          </a:solidFill>
                          <a:latin typeface="Calibri"/>
                        </a:rPr>
                        <a:t>July 2026</a:t>
                      </a:r>
                    </a:p>
                  </a:txBody>
                  <a:tcPr>
                    <a:solidFill>
                      <a:srgbClr val="FFFFFF"/>
                    </a:solidFill>
                  </a:tcPr>
                </a:tc>
                <a:tc>
                  <a:txBody>
                    <a:bodyPr/>
                    <a:lstStyle/>
                    <a:p>
                      <a:pPr algn="l"/>
                      <a:r>
                        <a:rPr sz="1000" b="0">
                          <a:solidFill>
                            <a:srgbClr val="1E1E2E"/>
                          </a:solidFill>
                          <a:latin typeface="Calibri"/>
                        </a:rPr>
                        <a:t>+ Competitor Conquest ($225) + Display Retargeting ($175)</a:t>
                      </a:r>
                    </a:p>
                  </a:txBody>
                  <a:tcPr>
                    <a:solidFill>
                      <a:srgbClr val="FFFFFF"/>
                    </a:solidFill>
                  </a:tcPr>
                </a:tc>
                <a:tc>
                  <a:txBody>
                    <a:bodyPr/>
                    <a:lstStyle/>
                    <a:p>
                      <a:pPr algn="l"/>
                      <a:r>
                        <a:rPr sz="1000" b="0">
                          <a:solidFill>
                            <a:srgbClr val="1E1E2E"/>
                          </a:solidFill>
                          <a:latin typeface="Calibri"/>
                        </a:rPr>
                        <a:t>$1,300–$1,450</a:t>
                      </a:r>
                    </a:p>
                  </a:txBody>
                  <a:tcPr>
                    <a:solidFill>
                      <a:srgbClr val="FFFFFF"/>
                    </a:solidFill>
                  </a:tcPr>
                </a:tc>
                <a:tc>
                  <a:txBody>
                    <a:bodyPr/>
                    <a:lstStyle/>
                    <a:p>
                      <a:pPr algn="l"/>
                      <a:r>
                        <a:rPr sz="1000" b="0">
                          <a:solidFill>
                            <a:srgbClr val="1E1E2E"/>
                          </a:solidFill>
                          <a:latin typeface="Calibri"/>
                        </a:rPr>
                        <a:t>$3,100–$3,450</a:t>
                      </a:r>
                    </a:p>
                  </a:txBody>
                  <a:tcPr>
                    <a:solidFill>
                      <a:srgbClr val="FFFFFF"/>
                    </a:solidFill>
                  </a:tcPr>
                </a:tc>
              </a:tr>
              <a:tr h="405993">
                <a:tc>
                  <a:txBody>
                    <a:bodyPr/>
                    <a:lstStyle/>
                    <a:p>
                      <a:pPr algn="l"/>
                      <a:r>
                        <a:rPr sz="1000" b="1">
                          <a:solidFill>
                            <a:srgbClr val="1E1E2E"/>
                          </a:solidFill>
                          <a:latin typeface="Calibri"/>
                        </a:rPr>
                        <a:t>August 2026</a:t>
                      </a:r>
                    </a:p>
                  </a:txBody>
                  <a:tcPr>
                    <a:solidFill>
                      <a:srgbClr val="EEF2FF"/>
                    </a:solidFill>
                  </a:tcPr>
                </a:tc>
                <a:tc>
                  <a:txBody>
                    <a:bodyPr/>
                    <a:lstStyle/>
                    <a:p>
                      <a:pPr algn="l"/>
                      <a:r>
                        <a:rPr sz="1000" b="0">
                          <a:solidFill>
                            <a:srgbClr val="1E1E2E"/>
                          </a:solidFill>
                          <a:latin typeface="Calibri"/>
                        </a:rPr>
                        <a:t>+ Bing / Microsoft Ads ($175)</a:t>
                      </a:r>
                    </a:p>
                  </a:txBody>
                  <a:tcPr>
                    <a:solidFill>
                      <a:srgbClr val="EEF2FF"/>
                    </a:solidFill>
                  </a:tcPr>
                </a:tc>
                <a:tc>
                  <a:txBody>
                    <a:bodyPr/>
                    <a:lstStyle/>
                    <a:p>
                      <a:pPr algn="l"/>
                      <a:r>
                        <a:rPr sz="1000" b="0">
                          <a:solidFill>
                            <a:srgbClr val="1E1E2E"/>
                          </a:solidFill>
                          <a:latin typeface="Calibri"/>
                        </a:rPr>
                        <a:t>$1,450–$1,650</a:t>
                      </a:r>
                    </a:p>
                  </a:txBody>
                  <a:tcPr>
                    <a:solidFill>
                      <a:srgbClr val="EEF2FF"/>
                    </a:solidFill>
                  </a:tcPr>
                </a:tc>
                <a:tc>
                  <a:txBody>
                    <a:bodyPr/>
                    <a:lstStyle/>
                    <a:p>
                      <a:pPr algn="l"/>
                      <a:r>
                        <a:rPr sz="1000" b="0">
                          <a:solidFill>
                            <a:srgbClr val="1E1E2E"/>
                          </a:solidFill>
                          <a:latin typeface="Calibri"/>
                        </a:rPr>
                        <a:t>$3,250–$3,650</a:t>
                      </a:r>
                    </a:p>
                  </a:txBody>
                  <a:tcPr>
                    <a:solidFill>
                      <a:srgbClr val="EEF2FF"/>
                    </a:solidFill>
                  </a:tcPr>
                </a:tc>
              </a:tr>
              <a:tr h="405996">
                <a:tc>
                  <a:txBody>
                    <a:bodyPr/>
                    <a:lstStyle/>
                    <a:p>
                      <a:pPr algn="l"/>
                      <a:r>
                        <a:rPr sz="1000" b="1">
                          <a:solidFill>
                            <a:srgbClr val="FFFFFF"/>
                          </a:solidFill>
                          <a:latin typeface="Calibri"/>
                        </a:rPr>
                        <a:t>Q3 TOTAL</a:t>
                      </a:r>
                    </a:p>
                  </a:txBody>
                  <a:tcPr>
                    <a:solidFill>
                      <a:srgbClr val="1E1E2E"/>
                    </a:solidFill>
                  </a:tcPr>
                </a:tc>
                <a:tc>
                  <a:txBody>
                    <a:bodyPr/>
                    <a:lstStyle/>
                    <a:p>
                      <a:pPr algn="l"/>
                      <a:r>
                        <a:rPr sz="1000" b="1">
                          <a:solidFill>
                            <a:srgbClr val="FFFFFF"/>
                          </a:solidFill>
                          <a:latin typeface="Calibri"/>
                        </a:rPr>
                        <a:t>5 experiments across 3 months</a:t>
                      </a:r>
                    </a:p>
                  </a:txBody>
                  <a:tcPr>
                    <a:solidFill>
                      <a:srgbClr val="1E1E2E"/>
                    </a:solidFill>
                  </a:tcPr>
                </a:tc>
                <a:tc>
                  <a:txBody>
                    <a:bodyPr/>
                    <a:lstStyle/>
                    <a:p>
                      <a:pPr algn="l"/>
                      <a:r>
                        <a:rPr sz="1000" b="1">
                          <a:solidFill>
                            <a:srgbClr val="FFFFFF"/>
                          </a:solidFill>
                          <a:latin typeface="Calibri"/>
                        </a:rPr>
                        <a:t>$4,650–$5,100 (test)</a:t>
                      </a:r>
                    </a:p>
                  </a:txBody>
                  <a:tcPr>
                    <a:solidFill>
                      <a:srgbClr val="1E1E2E"/>
                    </a:solidFill>
                  </a:tcPr>
                </a:tc>
                <a:tc>
                  <a:txBody>
                    <a:bodyPr/>
                    <a:lstStyle/>
                    <a:p>
                      <a:pPr algn="l"/>
                      <a:r>
                        <a:rPr sz="1000" b="1">
                          <a:solidFill>
                            <a:srgbClr val="FFFFFF"/>
                          </a:solidFill>
                          <a:latin typeface="Calibri"/>
                        </a:rPr>
                        <a:t>~$9,050–$10,100 (combined)</a:t>
                      </a:r>
                    </a:p>
                  </a:txBody>
                  <a:tcPr>
                    <a:solidFill>
                      <a:srgbClr val="1E1E2E"/>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
            <a:ext cx="9601200" cy="566928"/>
          </a:xfrm>
          <a:prstGeom prst="rect">
            <a:avLst/>
          </a:prstGeom>
          <a:noFill/>
        </p:spPr>
        <p:txBody>
          <a:bodyPr wrap="square">
            <a:spAutoFit/>
          </a:bodyPr>
          <a:lstStyle/>
          <a:p>
            <a:pPr algn="l"/>
            <a:r>
              <a:rPr sz="2200" b="1" i="0">
                <a:solidFill>
                  <a:srgbClr val="FFFFFF"/>
                </a:solidFill>
                <a:latin typeface="Arial Black"/>
              </a:rPr>
              <a:t>Next Steps</a:t>
            </a:r>
          </a:p>
        </p:txBody>
      </p:sp>
      <p:sp>
        <p:nvSpPr>
          <p:cNvPr id="4" name="TextBox 3"/>
          <p:cNvSpPr txBox="1"/>
          <p:nvPr/>
        </p:nvSpPr>
        <p:spPr>
          <a:xfrm>
            <a:off x="502920" y="548640"/>
            <a:ext cx="10972800" cy="256032"/>
          </a:xfrm>
          <a:prstGeom prst="rect">
            <a:avLst/>
          </a:prstGeom>
          <a:noFill/>
        </p:spPr>
        <p:txBody>
          <a:bodyPr wrap="square">
            <a:spAutoFit/>
          </a:bodyPr>
          <a:lstStyle/>
          <a:p>
            <a:pPr algn="l"/>
            <a:r>
              <a:rPr sz="1000" b="0" i="0">
                <a:solidFill>
                  <a:srgbClr val="C9CBF0"/>
                </a:solidFill>
                <a:latin typeface="Calibri"/>
              </a:rPr>
              <a:t>What needs to happen in the next two weeks to keep the Q3 roadmap on track</a:t>
            </a:r>
          </a:p>
        </p:txBody>
      </p:sp>
      <p:sp>
        <p:nvSpPr>
          <p:cNvPr id="5" name="Rectangle 4"/>
          <p:cNvSpPr/>
          <p:nvPr/>
        </p:nvSpPr>
        <p:spPr>
          <a:xfrm>
            <a:off x="11631168" y="6492240"/>
            <a:ext cx="457200" cy="310896"/>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31168" y="6492240"/>
            <a:ext cx="457200" cy="310896"/>
          </a:xfrm>
          <a:prstGeom prst="rect">
            <a:avLst/>
          </a:prstGeom>
          <a:noFill/>
        </p:spPr>
        <p:txBody>
          <a:bodyPr wrap="square">
            <a:spAutoFit/>
          </a:bodyPr>
          <a:lstStyle/>
          <a:p>
            <a:pPr algn="ctr"/>
            <a:r>
              <a:rPr sz="1100" b="1" i="0">
                <a:solidFill>
                  <a:srgbClr val="FFFFFF"/>
                </a:solidFill>
                <a:latin typeface="Calibri"/>
              </a:rPr>
              <a:t>11</a:t>
            </a:r>
          </a:p>
        </p:txBody>
      </p:sp>
      <p:sp>
        <p:nvSpPr>
          <p:cNvPr id="7" name="TextBox 6"/>
          <p:cNvSpPr txBox="1"/>
          <p:nvPr/>
        </p:nvSpPr>
        <p:spPr>
          <a:xfrm>
            <a:off x="274320" y="6620256"/>
            <a:ext cx="10058400" cy="201168"/>
          </a:xfrm>
          <a:prstGeom prst="rect">
            <a:avLst/>
          </a:prstGeom>
          <a:noFill/>
        </p:spPr>
        <p:txBody>
          <a:bodyPr wrap="square">
            <a:spAutoFit/>
          </a:bodyPr>
          <a:lstStyle/>
          <a:p>
            <a:pPr algn="l"/>
            <a:r>
              <a:rPr sz="900" b="0" i="0">
                <a:solidFill>
                  <a:srgbClr val="6B7280"/>
                </a:solidFill>
                <a:latin typeface="Calibri"/>
              </a:rPr>
              <a:t>Copyright © 2025 Damco Group. All Rights Reserved.</a:t>
            </a:r>
          </a:p>
        </p:txBody>
      </p:sp>
      <p:sp>
        <p:nvSpPr>
          <p:cNvPr id="8" name="Rectangle 7"/>
          <p:cNvSpPr/>
          <p:nvPr/>
        </p:nvSpPr>
        <p:spPr>
          <a:xfrm>
            <a:off x="502920" y="960120"/>
            <a:ext cx="594360" cy="1627632"/>
          </a:xfrm>
          <a:prstGeom prst="rect">
            <a:avLst/>
          </a:prstGeom>
          <a:solidFill>
            <a:srgbClr val="4B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99032"/>
            <a:ext cx="594360" cy="749808"/>
          </a:xfrm>
          <a:prstGeom prst="rect">
            <a:avLst/>
          </a:prstGeom>
          <a:noFill/>
        </p:spPr>
        <p:txBody>
          <a:bodyPr wrap="square">
            <a:spAutoFit/>
          </a:bodyPr>
          <a:lstStyle/>
          <a:p>
            <a:pPr algn="ctr"/>
            <a:r>
              <a:rPr sz="3200" b="1" i="0">
                <a:solidFill>
                  <a:srgbClr val="FFFFFF"/>
                </a:solidFill>
                <a:latin typeface="Arial Black"/>
              </a:rPr>
              <a:t>1</a:t>
            </a:r>
          </a:p>
        </p:txBody>
      </p:sp>
      <p:sp>
        <p:nvSpPr>
          <p:cNvPr id="10" name="Rectangle 9"/>
          <p:cNvSpPr/>
          <p:nvPr/>
        </p:nvSpPr>
        <p:spPr>
          <a:xfrm>
            <a:off x="1143000" y="960120"/>
            <a:ext cx="1056132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732520" y="1088136"/>
            <a:ext cx="1325880" cy="256032"/>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097280"/>
            <a:ext cx="1325880" cy="237744"/>
          </a:xfrm>
          <a:prstGeom prst="rect">
            <a:avLst/>
          </a:prstGeom>
          <a:noFill/>
        </p:spPr>
        <p:txBody>
          <a:bodyPr wrap="square">
            <a:spAutoFit/>
          </a:bodyPr>
          <a:lstStyle/>
          <a:p>
            <a:pPr algn="ctr"/>
            <a:r>
              <a:rPr sz="900" b="1" i="0">
                <a:solidFill>
                  <a:srgbClr val="4B3BC8"/>
                </a:solidFill>
                <a:latin typeface="Calibri"/>
              </a:rPr>
              <a:t>Owner: Damco + Client</a:t>
            </a:r>
          </a:p>
        </p:txBody>
      </p:sp>
      <p:sp>
        <p:nvSpPr>
          <p:cNvPr id="13" name="Rectangle 12"/>
          <p:cNvSpPr/>
          <p:nvPr/>
        </p:nvSpPr>
        <p:spPr>
          <a:xfrm>
            <a:off x="10131552" y="1088136"/>
            <a:ext cx="1463040" cy="256032"/>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31552" y="1097280"/>
            <a:ext cx="1463040" cy="237744"/>
          </a:xfrm>
          <a:prstGeom prst="rect">
            <a:avLst/>
          </a:prstGeom>
          <a:noFill/>
        </p:spPr>
        <p:txBody>
          <a:bodyPr wrap="square">
            <a:spAutoFit/>
          </a:bodyPr>
          <a:lstStyle/>
          <a:p>
            <a:pPr algn="ctr"/>
            <a:r>
              <a:rPr sz="900" b="1" i="0">
                <a:solidFill>
                  <a:srgbClr val="4B3BC8"/>
                </a:solidFill>
                <a:latin typeface="Calibri"/>
              </a:rPr>
              <a:t>This week</a:t>
            </a:r>
          </a:p>
        </p:txBody>
      </p:sp>
      <p:sp>
        <p:nvSpPr>
          <p:cNvPr id="15" name="TextBox 14"/>
          <p:cNvSpPr txBox="1"/>
          <p:nvPr/>
        </p:nvSpPr>
        <p:spPr>
          <a:xfrm>
            <a:off x="1298448" y="1088136"/>
            <a:ext cx="7315200" cy="365760"/>
          </a:xfrm>
          <a:prstGeom prst="rect">
            <a:avLst/>
          </a:prstGeom>
          <a:noFill/>
        </p:spPr>
        <p:txBody>
          <a:bodyPr wrap="square">
            <a:spAutoFit/>
          </a:bodyPr>
          <a:lstStyle/>
          <a:p>
            <a:pPr algn="l"/>
            <a:r>
              <a:rPr sz="1400" b="1" i="0">
                <a:solidFill>
                  <a:srgbClr val="4B3BC8"/>
                </a:solidFill>
                <a:latin typeface="Calibri"/>
              </a:rPr>
              <a:t>Approve Q3 Experiment Budget</a:t>
            </a:r>
          </a:p>
        </p:txBody>
      </p:sp>
      <p:sp>
        <p:nvSpPr>
          <p:cNvPr id="16" name="TextBox 15"/>
          <p:cNvSpPr txBox="1"/>
          <p:nvPr/>
        </p:nvSpPr>
        <p:spPr>
          <a:xfrm>
            <a:off x="1298448" y="1481328"/>
            <a:ext cx="10259568" cy="1005840"/>
          </a:xfrm>
          <a:prstGeom prst="rect">
            <a:avLst/>
          </a:prstGeom>
          <a:noFill/>
        </p:spPr>
        <p:txBody>
          <a:bodyPr wrap="square">
            <a:spAutoFit/>
          </a:bodyPr>
          <a:lstStyle/>
          <a:p>
            <a:pPr algn="l"/>
            <a:r>
              <a:rPr sz="1100" b="0" i="0">
                <a:solidFill>
                  <a:srgbClr val="1E1E2E"/>
                </a:solidFill>
                <a:latin typeface="Calibri"/>
              </a:rPr>
              <a:t>Confirm $1,100–$1,450/month incremental budget for June experiments (PMax + LSAs). This allows campaign setup to begin immediately. July and August add-ons can be approved monthly based on early results.</a:t>
            </a:r>
          </a:p>
        </p:txBody>
      </p:sp>
      <p:sp>
        <p:nvSpPr>
          <p:cNvPr id="17" name="Rectangle 16"/>
          <p:cNvSpPr/>
          <p:nvPr/>
        </p:nvSpPr>
        <p:spPr>
          <a:xfrm>
            <a:off x="502920" y="2770632"/>
            <a:ext cx="594360" cy="16276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209544"/>
            <a:ext cx="594360" cy="749808"/>
          </a:xfrm>
          <a:prstGeom prst="rect">
            <a:avLst/>
          </a:prstGeom>
          <a:noFill/>
        </p:spPr>
        <p:txBody>
          <a:bodyPr wrap="square">
            <a:spAutoFit/>
          </a:bodyPr>
          <a:lstStyle/>
          <a:p>
            <a:pPr algn="ctr"/>
            <a:r>
              <a:rPr sz="3200" b="1" i="0">
                <a:solidFill>
                  <a:srgbClr val="FFFFFF"/>
                </a:solidFill>
                <a:latin typeface="Arial Black"/>
              </a:rPr>
              <a:t>2</a:t>
            </a:r>
          </a:p>
        </p:txBody>
      </p:sp>
      <p:sp>
        <p:nvSpPr>
          <p:cNvPr id="19" name="Rectangle 18"/>
          <p:cNvSpPr/>
          <p:nvPr/>
        </p:nvSpPr>
        <p:spPr>
          <a:xfrm>
            <a:off x="1143000" y="2770632"/>
            <a:ext cx="1056132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32520" y="2898648"/>
            <a:ext cx="1325880" cy="256032"/>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32520" y="2907792"/>
            <a:ext cx="1325880" cy="237744"/>
          </a:xfrm>
          <a:prstGeom prst="rect">
            <a:avLst/>
          </a:prstGeom>
          <a:noFill/>
        </p:spPr>
        <p:txBody>
          <a:bodyPr wrap="square">
            <a:spAutoFit/>
          </a:bodyPr>
          <a:lstStyle/>
          <a:p>
            <a:pPr algn="ctr"/>
            <a:r>
              <a:rPr sz="900" b="1" i="0">
                <a:solidFill>
                  <a:srgbClr val="3B82F6"/>
                </a:solidFill>
                <a:latin typeface="Calibri"/>
              </a:rPr>
              <a:t>Owner: Damco</a:t>
            </a:r>
          </a:p>
        </p:txBody>
      </p:sp>
      <p:sp>
        <p:nvSpPr>
          <p:cNvPr id="22" name="Rectangle 21"/>
          <p:cNvSpPr/>
          <p:nvPr/>
        </p:nvSpPr>
        <p:spPr>
          <a:xfrm>
            <a:off x="10131552" y="2898648"/>
            <a:ext cx="1463040" cy="256032"/>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31552" y="2907792"/>
            <a:ext cx="1463040" cy="237744"/>
          </a:xfrm>
          <a:prstGeom prst="rect">
            <a:avLst/>
          </a:prstGeom>
          <a:noFill/>
        </p:spPr>
        <p:txBody>
          <a:bodyPr wrap="square">
            <a:spAutoFit/>
          </a:bodyPr>
          <a:lstStyle/>
          <a:p>
            <a:pPr algn="ctr"/>
            <a:r>
              <a:rPr sz="900" b="1" i="0">
                <a:solidFill>
                  <a:srgbClr val="3B82F6"/>
                </a:solidFill>
                <a:latin typeface="Calibri"/>
              </a:rPr>
              <a:t>This week</a:t>
            </a:r>
          </a:p>
        </p:txBody>
      </p:sp>
      <p:sp>
        <p:nvSpPr>
          <p:cNvPr id="24" name="TextBox 23"/>
          <p:cNvSpPr txBox="1"/>
          <p:nvPr/>
        </p:nvSpPr>
        <p:spPr>
          <a:xfrm>
            <a:off x="1298448" y="2898648"/>
            <a:ext cx="7315200" cy="365760"/>
          </a:xfrm>
          <a:prstGeom prst="rect">
            <a:avLst/>
          </a:prstGeom>
          <a:noFill/>
        </p:spPr>
        <p:txBody>
          <a:bodyPr wrap="square">
            <a:spAutoFit/>
          </a:bodyPr>
          <a:lstStyle/>
          <a:p>
            <a:pPr algn="l"/>
            <a:r>
              <a:rPr sz="1400" b="1" i="0">
                <a:solidFill>
                  <a:srgbClr val="3B82F6"/>
                </a:solidFill>
                <a:latin typeface="Calibri"/>
              </a:rPr>
              <a:t>Start LSA Account Verification</a:t>
            </a:r>
          </a:p>
        </p:txBody>
      </p:sp>
      <p:sp>
        <p:nvSpPr>
          <p:cNvPr id="25" name="TextBox 24"/>
          <p:cNvSpPr txBox="1"/>
          <p:nvPr/>
        </p:nvSpPr>
        <p:spPr>
          <a:xfrm>
            <a:off x="1298448" y="3291840"/>
            <a:ext cx="10259568" cy="1005840"/>
          </a:xfrm>
          <a:prstGeom prst="rect">
            <a:avLst/>
          </a:prstGeom>
          <a:noFill/>
        </p:spPr>
        <p:txBody>
          <a:bodyPr wrap="square">
            <a:spAutoFit/>
          </a:bodyPr>
          <a:lstStyle/>
          <a:p>
            <a:pPr algn="l"/>
            <a:r>
              <a:rPr sz="1100" b="0" i="0">
                <a:solidFill>
                  <a:srgbClr val="1E1E2E"/>
                </a:solidFill>
                <a:latin typeface="Calibri"/>
              </a:rPr>
              <a:t>Create LSA account and upload verification documents. Approval takes 2–4 weeks — starting now ensures the account is live before July.</a:t>
            </a:r>
          </a:p>
        </p:txBody>
      </p:sp>
      <p:sp>
        <p:nvSpPr>
          <p:cNvPr id="26" name="Rectangle 25"/>
          <p:cNvSpPr/>
          <p:nvPr/>
        </p:nvSpPr>
        <p:spPr>
          <a:xfrm>
            <a:off x="502920" y="4581144"/>
            <a:ext cx="594360" cy="162763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5020056"/>
            <a:ext cx="594360" cy="749808"/>
          </a:xfrm>
          <a:prstGeom prst="rect">
            <a:avLst/>
          </a:prstGeom>
          <a:noFill/>
        </p:spPr>
        <p:txBody>
          <a:bodyPr wrap="square">
            <a:spAutoFit/>
          </a:bodyPr>
          <a:lstStyle/>
          <a:p>
            <a:pPr algn="ctr"/>
            <a:r>
              <a:rPr sz="3200" b="1" i="0">
                <a:solidFill>
                  <a:srgbClr val="FFFFFF"/>
                </a:solidFill>
                <a:latin typeface="Arial Black"/>
              </a:rPr>
              <a:t>3</a:t>
            </a:r>
          </a:p>
        </p:txBody>
      </p:sp>
      <p:sp>
        <p:nvSpPr>
          <p:cNvPr id="28" name="Rectangle 27"/>
          <p:cNvSpPr/>
          <p:nvPr/>
        </p:nvSpPr>
        <p:spPr>
          <a:xfrm>
            <a:off x="1143000" y="4581144"/>
            <a:ext cx="1056132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732520" y="4709159"/>
            <a:ext cx="1325880" cy="256032"/>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32520" y="4718304"/>
            <a:ext cx="1325880" cy="237744"/>
          </a:xfrm>
          <a:prstGeom prst="rect">
            <a:avLst/>
          </a:prstGeom>
          <a:noFill/>
        </p:spPr>
        <p:txBody>
          <a:bodyPr wrap="square">
            <a:spAutoFit/>
          </a:bodyPr>
          <a:lstStyle/>
          <a:p>
            <a:pPr algn="ctr"/>
            <a:r>
              <a:rPr sz="900" b="1" i="0">
                <a:solidFill>
                  <a:srgbClr val="6366F1"/>
                </a:solidFill>
                <a:latin typeface="Calibri"/>
              </a:rPr>
              <a:t>Owner: Wellspring</a:t>
            </a:r>
          </a:p>
        </p:txBody>
      </p:sp>
      <p:sp>
        <p:nvSpPr>
          <p:cNvPr id="31" name="Rectangle 30"/>
          <p:cNvSpPr/>
          <p:nvPr/>
        </p:nvSpPr>
        <p:spPr>
          <a:xfrm>
            <a:off x="10131552" y="4709159"/>
            <a:ext cx="1463040" cy="256032"/>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31552" y="4718304"/>
            <a:ext cx="1463040" cy="237744"/>
          </a:xfrm>
          <a:prstGeom prst="rect">
            <a:avLst/>
          </a:prstGeom>
          <a:noFill/>
        </p:spPr>
        <p:txBody>
          <a:bodyPr wrap="square">
            <a:spAutoFit/>
          </a:bodyPr>
          <a:lstStyle/>
          <a:p>
            <a:pPr algn="ctr"/>
            <a:r>
              <a:rPr sz="900" b="1" i="0">
                <a:solidFill>
                  <a:srgbClr val="6366F1"/>
                </a:solidFill>
                <a:latin typeface="Calibri"/>
              </a:rPr>
              <a:t>This week</a:t>
            </a:r>
          </a:p>
        </p:txBody>
      </p:sp>
      <p:sp>
        <p:nvSpPr>
          <p:cNvPr id="33" name="TextBox 32"/>
          <p:cNvSpPr txBox="1"/>
          <p:nvPr/>
        </p:nvSpPr>
        <p:spPr>
          <a:xfrm>
            <a:off x="1298448" y="4709159"/>
            <a:ext cx="7315200" cy="365760"/>
          </a:xfrm>
          <a:prstGeom prst="rect">
            <a:avLst/>
          </a:prstGeom>
          <a:noFill/>
        </p:spPr>
        <p:txBody>
          <a:bodyPr wrap="square">
            <a:spAutoFit/>
          </a:bodyPr>
          <a:lstStyle/>
          <a:p>
            <a:pPr algn="l"/>
            <a:r>
              <a:rPr sz="1400" b="1" i="0">
                <a:solidFill>
                  <a:srgbClr val="6366F1"/>
                </a:solidFill>
                <a:latin typeface="Calibri"/>
              </a:rPr>
              <a:t>Launch Google Review Programme</a:t>
            </a:r>
          </a:p>
        </p:txBody>
      </p:sp>
      <p:sp>
        <p:nvSpPr>
          <p:cNvPr id="34" name="TextBox 33"/>
          <p:cNvSpPr txBox="1"/>
          <p:nvPr/>
        </p:nvSpPr>
        <p:spPr>
          <a:xfrm>
            <a:off x="1298448" y="5102352"/>
            <a:ext cx="10259568" cy="1005840"/>
          </a:xfrm>
          <a:prstGeom prst="rect">
            <a:avLst/>
          </a:prstGeom>
          <a:noFill/>
        </p:spPr>
        <p:txBody>
          <a:bodyPr wrap="square">
            <a:spAutoFit/>
          </a:bodyPr>
          <a:lstStyle/>
          <a:p>
            <a:pPr algn="l"/>
            <a:r>
              <a:rPr sz="1100" b="0" i="0">
                <a:solidFill>
                  <a:srgbClr val="1E1E2E"/>
                </a:solidFill>
                <a:latin typeface="Calibri"/>
              </a:rPr>
              <a:t>Activate post-appointment SMS/email review outreach. Target: 15+ reviews before LSA go-live. This is the single action that determines LSA rank quality — cannot be substituted by ad spend.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